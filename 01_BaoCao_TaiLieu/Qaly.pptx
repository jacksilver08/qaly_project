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Barlow Bold" panose="020B0604020202020204" charset="0"/>
      <p:regular r:id="rId23"/>
    </p:embeddedFont>
    <p:embeddedFont>
      <p:font typeface="Bryndan Write" panose="020B0604020202020204" charset="0"/>
      <p:regular r:id="rId24"/>
    </p:embeddedFont>
    <p:embeddedFont>
      <p:font typeface="Heading Now 31-38 Bold Italics" panose="020B0604020202020204" charset="0"/>
      <p:regular r:id="rId25"/>
    </p:embeddedFont>
    <p:embeddedFont>
      <p:font typeface="Montserrat" panose="020F0502020204030204" pitchFamily="2" charset="0"/>
      <p:regular r:id="rId26"/>
    </p:embeddedFont>
    <p:embeddedFont>
      <p:font typeface="Montserrat Bold" panose="020B0604020202020204" charset="0"/>
      <p:regular r:id="rId27"/>
    </p:embeddedFont>
    <p:embeddedFont>
      <p:font typeface="Proxima Nova Bold" panose="020B0604020202020204" charset="0"/>
      <p:regular r:id="rId28"/>
    </p:embeddedFont>
    <p:embeddedFont>
      <p:font typeface="Proxima Nova Bold Italics" panose="020B0604020202020204" charset="0"/>
      <p:regular r:id="rId29"/>
    </p:embeddedFont>
    <p:embeddedFont>
      <p:font typeface="Proxima Nova Heavy" panose="020B0604020202020204" charset="0"/>
      <p:regular r:id="rId30"/>
    </p:embeddedFont>
    <p:embeddedFont>
      <p:font typeface="Proxima Nova Heavy Italics" panose="020B0604020202020204" charset="0"/>
      <p:regular r:id="rId31"/>
    </p:embeddedFont>
    <p:embeddedFont>
      <p:font typeface="Sriracha" panose="020B0604020202020204" charset="-3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11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Trước khi có một hệ thống tập trung, thông tin của một dự án thường nằm ở nhiều nơi như bảng tính, email, ứng dụng nhắn tin và các tài liệu riêng lẻ. Điều này gây khó khăn trong việc xác định ai chịu trách nhiệm, nhiệm vụ nào đang bị trễ, kết quả nào đã được kiểm tra và ai đã thay đổi dữ liệu. Ngoài ra, việc họp, bình chọn hoặc trao đổi nhóm lại phải chuyển sang những nền tảng khác. Đây là vấn đề chính mà QALY hướng tới giải quyết.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Từ những vấn đề trên, nhóm đặt mục tiêu xây dựng một không gian làm việc tập trung. QALY không chỉ lưu thông tin mà còn áp dụng các quy tắc nghiệp vụ để quản lý trách nhiệm. Ví dụ, hệ thống có task attention để phát hiện công việc cần chú ý, nudge để nhắc người phụ trách, evidence review để kiểm soát chất lượng kết quả và audit log để truy vết thao tác. Bên cạnh đó, chat, meeting, poll và AI giúp giảm việc phải chuyển đổi giữa nhiều công cụ khác nhau.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QALY có nhiều nhóm người dùng với quyền khác nhau. Ở cấp hệ thống có Admin, ở cấp tổ chức có Manager, còn ở cấp dự án có Project Owner và các thành viên thực hiện nhiệm vụ. Ngoài ra còn có module Group với Owner, Admin và Member. Về phạm vi, hệ thống bao phủ từ quản lý tổ chức, dự án, task cho đến cộng tác nhóm, Wiki, import, notification, analytics, AI và integration.....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Nếu gom các chức năng chi tiết thành các module thì QALY có ba nhóm chính. Nhóm đầu tiên là quản lý cốt lõi gồm người dùng, tổ chức, project và task. Nhóm thứ hai tập trung vào cộng tác như comment, evidence, Wiki, group, chat, poll và meeting. Cuối cùng là nhóm hỗ trợ thông minh và tích hợp gồm notification, audit, analytics, AI, webhook và API key. Cách chia này giúp hệ thống có phạm vi rộng nhưng vẫn giữ được cấu trúc.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Điểm nhóm muốn nhấn mạnh là QALY không dừng ở việc tạo, sửa và xóa dữ liệu. Ví dụ rõ nhất là completion gate: một task không thể chuyển sang Done nếu evidence chưa được approved. Hệ thống cũng có task attention để phát hiện công việc cần chú ý và nudge để nhắc assignee. Khi nhiều người cùng chỉnh sửa một task, rowversion giúp phát hiện dữ liệu cũ và trả về Conflict thay vì ghi đè dữ liệu mới. Các thao tác quan trọng còn được ghi notification và audit log.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kiến trúc, QALY sử dụng Modular Monolith kết hợp Clean Architecture với các tầng Domain, Application, Infrastructure và Web. Ở phía giao diện, Razor Pages được dùng làm lớp host kết hợp Vue.js 3 và TypeScript cho các màn hình tương tác cao. Backend sử dụng ASP.NET Core 10, API Controller và SignalR. Dữ liệu chính nằm trong SQL Server thông qua Entity Framework Core, còn Redis đảm nhiệm distributed cache và authentication ticket. Cách tổ chức này giúp business logic không bị dồn trực tiếp vào controller và tạo nền tảng để mở rộng sau này.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Nếu nhìn theo một quy trình thực tế, người quản lý đầu tiên tạo project và thêm thành viên. Sau đó task được tạo và phân công cho người thực hiện. Thành viên cập nhật trạng thái thông qua Kanban, theo dõi thời gian và có thể đính kèm kết quả làm việc dưới dạng evidence. Khi evidence được review và approved, task mới đủ điều kiện hoàn tất. Trong quá trình đó, các thao tác quan trọng có thể tạo notification và audit log. Đây cũng là luồng mà nhóm chọn để minh họa trong Sequence Diagram vì nó đi qua nhiều tầng của hệ thống.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database, hai thực thể trung tâm là Project và TaskItem. Project đại diện cho không gian quản lý công việc, còn TaskItem là đầu việc trung tâm. User có thể liên kết với project thông qua ProjectMember và với task thông qua TaskAssignment. Một task lại liên kết với comment, attachment, time entry, attention signal và dependency. Song song với đó là nhánh WorkGroup cho chat, poll và meeting. Vì vậy database phản ánh khá rõ cấu trúc nghiệp vụ của toàn hệ thống.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Kết quả đạt được của QALY là một hệ thống có phạm vi tương đối rộng và vượt ra ngoài mô hình CRUD cơ bản. Điểm mạnh nằm ở các nghiệp vụ, phân quyền nhiều cấp, hệ thống test, khả năng triển khai bằng Docker và các chức năng realtime, AI, integration. Tuy nhiên nhóm cũng xác định rõ các hạn chế. một số cơ chế bảo mật chưa hoàn thiện và hệ thống chưa có môi trường production thật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Tóm lại, QALY là một hệ thống quản lý dự án và cộng tác nội bộ có phạm vi tương đối đầy đủ. Điểm nổi bật không chỉ nằm ở số lượng chức năng mà ở các quy tắc nghiệp vụ như evidence completion gate, task attention, nudge, optimistic concurrency và audit. Về kỹ thuật, nhóm đã xây dựng nền tảng với ASP.NET Core, Vue, SQL Server, Redis, SignalR và Docker cùng hệ thống kiểm thử tương đối đầy đủ. Dù vẫn còn các quality gate và yêu cầu production cần hoàn thiện, QALY đã vượt qua mức một ứng dụng CRUD cơ bản và có nền tảng để tiếp tục phát triển.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2.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2.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8.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9.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1.sv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7122490" y="1028700"/>
            <a:ext cx="11899502" cy="11899502"/>
            <a:chOff x="0" y="0"/>
            <a:chExt cx="15866002" cy="15866002"/>
          </a:xfrm>
        </p:grpSpPr>
        <p:sp>
          <p:nvSpPr>
            <p:cNvPr id="3" name="Freeform 3"/>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18620"/>
              </a:blip>
              <a:stretch>
                <a:fillRect/>
              </a:stretch>
            </a:blipFill>
          </p:spPr>
        </p:sp>
        <p:sp>
          <p:nvSpPr>
            <p:cNvPr id="4" name="Freeform 4"/>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26980"/>
              </a:blip>
              <a:stretch>
                <a:fillRect/>
              </a:stretch>
            </a:blipFill>
          </p:spPr>
        </p:sp>
        <p:sp>
          <p:nvSpPr>
            <p:cNvPr id="5" name="Freeform 5"/>
            <p:cNvSpPr/>
            <p:nvPr/>
          </p:nvSpPr>
          <p:spPr>
            <a:xfrm>
              <a:off x="3210178" y="3210178"/>
              <a:ext cx="9445647" cy="9445647"/>
            </a:xfrm>
            <a:custGeom>
              <a:avLst/>
              <a:gdLst/>
              <a:ahLst/>
              <a:cxnLst/>
              <a:rect l="l" t="t" r="r" b="b"/>
              <a:pathLst>
                <a:path w="9445647" h="9445647">
                  <a:moveTo>
                    <a:pt x="0" y="0"/>
                  </a:moveTo>
                  <a:lnTo>
                    <a:pt x="9445647" y="0"/>
                  </a:lnTo>
                  <a:lnTo>
                    <a:pt x="9445647" y="9445647"/>
                  </a:lnTo>
                  <a:lnTo>
                    <a:pt x="0" y="9445647"/>
                  </a:lnTo>
                  <a:lnTo>
                    <a:pt x="0" y="0"/>
                  </a:lnTo>
                  <a:close/>
                </a:path>
              </a:pathLst>
            </a:custGeom>
            <a:blipFill>
              <a:blip r:embed="rId2">
                <a:alphaModFix amt="38000"/>
              </a:blip>
              <a:stretch>
                <a:fillRect/>
              </a:stretch>
            </a:blipFill>
          </p:spPr>
        </p:sp>
      </p:grpSp>
      <p:grpSp>
        <p:nvGrpSpPr>
          <p:cNvPr id="6" name="Group 6"/>
          <p:cNvGrpSpPr/>
          <p:nvPr/>
        </p:nvGrpSpPr>
        <p:grpSpPr>
          <a:xfrm>
            <a:off x="-255765" y="9020416"/>
            <a:ext cx="9089132" cy="1475249"/>
            <a:chOff x="0" y="0"/>
            <a:chExt cx="2393845" cy="388543"/>
          </a:xfrm>
        </p:grpSpPr>
        <p:sp>
          <p:nvSpPr>
            <p:cNvPr id="7" name="Freeform 7"/>
            <p:cNvSpPr/>
            <p:nvPr/>
          </p:nvSpPr>
          <p:spPr>
            <a:xfrm>
              <a:off x="0" y="0"/>
              <a:ext cx="2393846" cy="388543"/>
            </a:xfrm>
            <a:custGeom>
              <a:avLst/>
              <a:gdLst/>
              <a:ahLst/>
              <a:cxnLst/>
              <a:rect l="l" t="t" r="r" b="b"/>
              <a:pathLst>
                <a:path w="2393846" h="388543">
                  <a:moveTo>
                    <a:pt x="0" y="0"/>
                  </a:moveTo>
                  <a:lnTo>
                    <a:pt x="2393846" y="0"/>
                  </a:lnTo>
                  <a:lnTo>
                    <a:pt x="2393846" y="388543"/>
                  </a:lnTo>
                  <a:lnTo>
                    <a:pt x="0" y="388543"/>
                  </a:lnTo>
                  <a:close/>
                </a:path>
              </a:pathLst>
            </a:custGeom>
            <a:gradFill rotWithShape="1">
              <a:gsLst>
                <a:gs pos="0">
                  <a:srgbClr val="0565EF">
                    <a:alpha val="100000"/>
                  </a:srgbClr>
                </a:gs>
                <a:gs pos="100000">
                  <a:srgbClr val="50B2FF">
                    <a:alpha val="100000"/>
                  </a:srgbClr>
                </a:gs>
              </a:gsLst>
              <a:lin ang="0"/>
            </a:gradFill>
          </p:spPr>
        </p:sp>
        <p:sp>
          <p:nvSpPr>
            <p:cNvPr id="8" name="TextBox 8"/>
            <p:cNvSpPr txBox="1"/>
            <p:nvPr/>
          </p:nvSpPr>
          <p:spPr>
            <a:xfrm>
              <a:off x="0" y="-38100"/>
              <a:ext cx="2393845" cy="42664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2381415">
            <a:off x="2757264" y="3974734"/>
            <a:ext cx="23004971" cy="8578442"/>
            <a:chOff x="0" y="0"/>
            <a:chExt cx="6058922" cy="2259343"/>
          </a:xfrm>
        </p:grpSpPr>
        <p:sp>
          <p:nvSpPr>
            <p:cNvPr id="10" name="Freeform 10"/>
            <p:cNvSpPr/>
            <p:nvPr/>
          </p:nvSpPr>
          <p:spPr>
            <a:xfrm>
              <a:off x="0" y="0"/>
              <a:ext cx="6058922" cy="2259343"/>
            </a:xfrm>
            <a:custGeom>
              <a:avLst/>
              <a:gdLst/>
              <a:ahLst/>
              <a:cxnLst/>
              <a:rect l="l" t="t" r="r" b="b"/>
              <a:pathLst>
                <a:path w="6058922" h="2259343">
                  <a:moveTo>
                    <a:pt x="0" y="0"/>
                  </a:moveTo>
                  <a:lnTo>
                    <a:pt x="6058922" y="0"/>
                  </a:lnTo>
                  <a:lnTo>
                    <a:pt x="6058922" y="2259343"/>
                  </a:lnTo>
                  <a:lnTo>
                    <a:pt x="0" y="2259343"/>
                  </a:lnTo>
                  <a:close/>
                </a:path>
              </a:pathLst>
            </a:custGeom>
            <a:gradFill rotWithShape="1">
              <a:gsLst>
                <a:gs pos="0">
                  <a:srgbClr val="F5FBFC">
                    <a:alpha val="100000"/>
                  </a:srgbClr>
                </a:gs>
                <a:gs pos="100000">
                  <a:srgbClr val="E6F4FF">
                    <a:alpha val="100000"/>
                  </a:srgbClr>
                </a:gs>
              </a:gsLst>
              <a:lin ang="0"/>
            </a:gradFill>
          </p:spPr>
        </p:sp>
        <p:sp>
          <p:nvSpPr>
            <p:cNvPr id="11" name="TextBox 11"/>
            <p:cNvSpPr txBox="1"/>
            <p:nvPr/>
          </p:nvSpPr>
          <p:spPr>
            <a:xfrm>
              <a:off x="0" y="0"/>
              <a:ext cx="6058922" cy="2259343"/>
            </a:xfrm>
            <a:prstGeom prst="rect">
              <a:avLst/>
            </a:prstGeom>
          </p:spPr>
          <p:txBody>
            <a:bodyPr lIns="50800" tIns="50800" rIns="50800" bIns="50800" rtlCol="0" anchor="ctr"/>
            <a:lstStyle/>
            <a:p>
              <a:pPr algn="ctr">
                <a:lnSpc>
                  <a:spcPts val="2340"/>
                </a:lnSpc>
              </a:pPr>
              <a:endParaRPr/>
            </a:p>
          </p:txBody>
        </p:sp>
      </p:grpSp>
      <p:sp>
        <p:nvSpPr>
          <p:cNvPr id="12" name="Freeform 12"/>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3"/>
            <a:stretch>
              <a:fillRect/>
            </a:stretch>
          </a:blipFill>
        </p:spPr>
      </p:sp>
      <p:sp>
        <p:nvSpPr>
          <p:cNvPr id="13" name="TextBox 13"/>
          <p:cNvSpPr txBox="1"/>
          <p:nvPr/>
        </p:nvSpPr>
        <p:spPr>
          <a:xfrm>
            <a:off x="1028700" y="3636744"/>
            <a:ext cx="10137924" cy="2687882"/>
          </a:xfrm>
          <a:prstGeom prst="rect">
            <a:avLst/>
          </a:prstGeom>
        </p:spPr>
        <p:txBody>
          <a:bodyPr lIns="0" tIns="0" rIns="0" bIns="0" rtlCol="0" anchor="t">
            <a:spAutoFit/>
          </a:bodyPr>
          <a:lstStyle/>
          <a:p>
            <a:pPr algn="l">
              <a:lnSpc>
                <a:spcPts val="21037"/>
              </a:lnSpc>
            </a:pPr>
            <a:r>
              <a:rPr lang="en-US" sz="17980"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QALY</a:t>
            </a:r>
          </a:p>
        </p:txBody>
      </p:sp>
      <p:sp>
        <p:nvSpPr>
          <p:cNvPr id="14" name="TextBox 14"/>
          <p:cNvSpPr txBox="1"/>
          <p:nvPr/>
        </p:nvSpPr>
        <p:spPr>
          <a:xfrm>
            <a:off x="906403" y="9315450"/>
            <a:ext cx="3506620" cy="742950"/>
          </a:xfrm>
          <a:prstGeom prst="rect">
            <a:avLst/>
          </a:prstGeom>
        </p:spPr>
        <p:txBody>
          <a:bodyPr lIns="0" tIns="0" rIns="0" bIns="0" rtlCol="0" anchor="t">
            <a:spAutoFit/>
          </a:bodyPr>
          <a:lstStyle/>
          <a:p>
            <a:pPr algn="ctr">
              <a:lnSpc>
                <a:spcPts val="5849"/>
              </a:lnSpc>
            </a:pPr>
            <a:r>
              <a:rPr lang="en-US" sz="4999" b="1">
                <a:solidFill>
                  <a:srgbClr val="FFFFFF"/>
                </a:solidFill>
                <a:latin typeface="Proxima Nova Heavy"/>
                <a:ea typeface="Proxima Nova Heavy"/>
                <a:cs typeface="Proxima Nova Heavy"/>
                <a:sym typeface="Proxima Nova Heavy"/>
              </a:rPr>
              <a:t>JETSITE</a:t>
            </a:r>
          </a:p>
        </p:txBody>
      </p:sp>
      <p:sp>
        <p:nvSpPr>
          <p:cNvPr id="15" name="TextBox 15"/>
          <p:cNvSpPr txBox="1"/>
          <p:nvPr/>
        </p:nvSpPr>
        <p:spPr>
          <a:xfrm>
            <a:off x="2782010" y="6324626"/>
            <a:ext cx="5729112" cy="540258"/>
          </a:xfrm>
          <a:prstGeom prst="rect">
            <a:avLst/>
          </a:prstGeom>
        </p:spPr>
        <p:txBody>
          <a:bodyPr lIns="0" tIns="0" rIns="0" bIns="0" rtlCol="0" anchor="t">
            <a:spAutoFit/>
          </a:bodyPr>
          <a:lstStyle/>
          <a:p>
            <a:pPr algn="r">
              <a:lnSpc>
                <a:spcPts val="2106"/>
              </a:lnSpc>
            </a:pPr>
            <a:r>
              <a:rPr lang="en-US" sz="1800" b="1" i="1">
                <a:solidFill>
                  <a:srgbClr val="96CAF6"/>
                </a:solidFill>
                <a:latin typeface="Proxima Nova Heavy Italics"/>
                <a:ea typeface="Proxima Nova Heavy Italics"/>
                <a:cs typeface="Proxima Nova Heavy Italics"/>
                <a:sym typeface="Proxima Nova Heavy Italics"/>
              </a:rPr>
              <a:t>HỆ THỐNG QUẢN LÝ DỰ ÁN PHẦN MỀM </a:t>
            </a:r>
          </a:p>
          <a:p>
            <a:pPr algn="r">
              <a:lnSpc>
                <a:spcPts val="2106"/>
              </a:lnSpc>
            </a:pPr>
            <a:r>
              <a:rPr lang="en-US" sz="1800" b="1" i="1">
                <a:solidFill>
                  <a:srgbClr val="96CAF6"/>
                </a:solidFill>
                <a:latin typeface="Proxima Nova Heavy Italics"/>
                <a:ea typeface="Proxima Nova Heavy Italics"/>
                <a:cs typeface="Proxima Nova Heavy Italics"/>
                <a:sym typeface="Proxima Nova Heavy Italics"/>
              </a:rPr>
              <a:t>CHO DOANH NGHIỆP OUTSOURCE VỪA VÀ NHỎ</a:t>
            </a:r>
          </a:p>
        </p:txBody>
      </p:sp>
      <p:grpSp>
        <p:nvGrpSpPr>
          <p:cNvPr id="16" name="Group 16"/>
          <p:cNvGrpSpPr/>
          <p:nvPr/>
        </p:nvGrpSpPr>
        <p:grpSpPr>
          <a:xfrm>
            <a:off x="1010828" y="8292530"/>
            <a:ext cx="5163241" cy="490713"/>
            <a:chOff x="0" y="0"/>
            <a:chExt cx="6884322" cy="654284"/>
          </a:xfrm>
        </p:grpSpPr>
        <p:sp>
          <p:nvSpPr>
            <p:cNvPr id="17" name="TextBox 17"/>
            <p:cNvSpPr txBox="1"/>
            <p:nvPr/>
          </p:nvSpPr>
          <p:spPr>
            <a:xfrm>
              <a:off x="0" y="174282"/>
              <a:ext cx="6884322" cy="403860"/>
            </a:xfrm>
            <a:prstGeom prst="rect">
              <a:avLst/>
            </a:prstGeom>
          </p:spPr>
          <p:txBody>
            <a:bodyPr lIns="0" tIns="0" rIns="0" bIns="0" rtlCol="0" anchor="t">
              <a:spAutoFit/>
            </a:bodyPr>
            <a:lstStyle/>
            <a:p>
              <a:pPr algn="l">
                <a:lnSpc>
                  <a:spcPts val="2340"/>
                </a:lnSpc>
              </a:pPr>
              <a:r>
                <a:rPr lang="en-US" sz="2000" b="1">
                  <a:solidFill>
                    <a:srgbClr val="4E5454"/>
                  </a:solidFill>
                  <a:latin typeface="Proxima Nova Bold"/>
                  <a:ea typeface="Proxima Nova Bold"/>
                  <a:cs typeface="Proxima Nova Bold"/>
                  <a:sym typeface="Proxima Nova Bold"/>
                </a:rPr>
                <a:t>GVHD:</a:t>
              </a:r>
            </a:p>
          </p:txBody>
        </p:sp>
        <p:sp>
          <p:nvSpPr>
            <p:cNvPr id="18" name="TextBox 18"/>
            <p:cNvSpPr txBox="1"/>
            <p:nvPr/>
          </p:nvSpPr>
          <p:spPr>
            <a:xfrm>
              <a:off x="1130344" y="9525"/>
              <a:ext cx="5262313" cy="644759"/>
            </a:xfrm>
            <a:prstGeom prst="rect">
              <a:avLst/>
            </a:prstGeom>
          </p:spPr>
          <p:txBody>
            <a:bodyPr lIns="0" tIns="0" rIns="0" bIns="0" rtlCol="0" anchor="t">
              <a:spAutoFit/>
            </a:bodyPr>
            <a:lstStyle/>
            <a:p>
              <a:pPr algn="l">
                <a:lnSpc>
                  <a:spcPts val="3790"/>
                </a:lnSpc>
              </a:pPr>
              <a:r>
                <a:rPr lang="en-US" sz="3240" b="1">
                  <a:solidFill>
                    <a:srgbClr val="4E5454"/>
                  </a:solidFill>
                  <a:latin typeface="Proxima Nova Bold"/>
                  <a:ea typeface="Proxima Nova Bold"/>
                  <a:cs typeface="Proxima Nova Bold"/>
                  <a:sym typeface="Proxima Nova Bold"/>
                </a:rPr>
                <a:t> Phan Hoàng Khải</a:t>
              </a:r>
            </a:p>
          </p:txBody>
        </p:sp>
      </p:grpSp>
      <p:sp>
        <p:nvSpPr>
          <p:cNvPr id="19" name="Freeform 19"/>
          <p:cNvSpPr/>
          <p:nvPr/>
        </p:nvSpPr>
        <p:spPr>
          <a:xfrm flipH="1">
            <a:off x="7936578" y="-702613"/>
            <a:ext cx="10351422" cy="17443006"/>
          </a:xfrm>
          <a:custGeom>
            <a:avLst/>
            <a:gdLst/>
            <a:ahLst/>
            <a:cxnLst/>
            <a:rect l="l" t="t" r="r" b="b"/>
            <a:pathLst>
              <a:path w="10351422" h="17443006">
                <a:moveTo>
                  <a:pt x="10351422" y="0"/>
                </a:moveTo>
                <a:lnTo>
                  <a:pt x="0" y="0"/>
                </a:lnTo>
                <a:lnTo>
                  <a:pt x="0" y="17443006"/>
                </a:lnTo>
                <a:lnTo>
                  <a:pt x="10351422" y="17443006"/>
                </a:lnTo>
                <a:lnTo>
                  <a:pt x="10351422" y="0"/>
                </a:lnTo>
                <a:close/>
              </a:path>
            </a:pathLst>
          </a:custGeom>
          <a:blipFill>
            <a:blip r:embed="rId4"/>
            <a:stretch>
              <a:fillRect r="-64511"/>
            </a:stretch>
          </a:blipFill>
        </p:spPr>
      </p:sp>
      <p:sp>
        <p:nvSpPr>
          <p:cNvPr id="20" name="TextBox 20"/>
          <p:cNvSpPr txBox="1"/>
          <p:nvPr/>
        </p:nvSpPr>
        <p:spPr>
          <a:xfrm>
            <a:off x="-6696403" y="1047750"/>
            <a:ext cx="7455446" cy="1192530"/>
          </a:xfrm>
          <a:prstGeom prst="rect">
            <a:avLst/>
          </a:prstGeom>
        </p:spPr>
        <p:txBody>
          <a:bodyPr lIns="0" tIns="0" rIns="0" bIns="0" rtlCol="0" anchor="t">
            <a:spAutoFit/>
          </a:bodyPr>
          <a:lstStyle/>
          <a:p>
            <a:pPr algn="l">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21" name="TextBox 21"/>
          <p:cNvSpPr txBox="1"/>
          <p:nvPr/>
        </p:nvSpPr>
        <p:spPr>
          <a:xfrm>
            <a:off x="17259300" y="1047750"/>
            <a:ext cx="4526575" cy="1192530"/>
          </a:xfrm>
          <a:prstGeom prst="rect">
            <a:avLst/>
          </a:prstGeom>
        </p:spPr>
        <p:txBody>
          <a:bodyPr lIns="0" tIns="0" rIns="0" bIns="0" rtlCol="0" anchor="t">
            <a:spAutoFit/>
          </a:bodyPr>
          <a:lstStyle/>
          <a:p>
            <a:pPr algn="ctr">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flipH="1">
            <a:off x="5739087" y="785236"/>
            <a:ext cx="6809826" cy="11475122"/>
          </a:xfrm>
          <a:custGeom>
            <a:avLst/>
            <a:gdLst/>
            <a:ahLst/>
            <a:cxnLst/>
            <a:rect l="l" t="t" r="r" b="b"/>
            <a:pathLst>
              <a:path w="6809826" h="11475122">
                <a:moveTo>
                  <a:pt x="6809826" y="0"/>
                </a:moveTo>
                <a:lnTo>
                  <a:pt x="0" y="0"/>
                </a:lnTo>
                <a:lnTo>
                  <a:pt x="0" y="11475122"/>
                </a:lnTo>
                <a:lnTo>
                  <a:pt x="6809826" y="11475122"/>
                </a:lnTo>
                <a:lnTo>
                  <a:pt x="6809826" y="0"/>
                </a:lnTo>
                <a:close/>
              </a:path>
            </a:pathLst>
          </a:custGeom>
          <a:blipFill>
            <a:blip r:embed="rId3"/>
            <a:stretch>
              <a:fillRect r="-64511"/>
            </a:stretch>
          </a:blipFill>
        </p:spPr>
      </p:sp>
      <p:sp>
        <p:nvSpPr>
          <p:cNvPr id="9" name="TextBox 9"/>
          <p:cNvSpPr txBox="1"/>
          <p:nvPr/>
        </p:nvSpPr>
        <p:spPr>
          <a:xfrm>
            <a:off x="1475390" y="1047750"/>
            <a:ext cx="7455446" cy="1192530"/>
          </a:xfrm>
          <a:prstGeom prst="rect">
            <a:avLst/>
          </a:prstGeom>
        </p:spPr>
        <p:txBody>
          <a:bodyPr lIns="0" tIns="0" rIns="0" bIns="0" rtlCol="0" anchor="t">
            <a:spAutoFit/>
          </a:bodyPr>
          <a:lstStyle/>
          <a:p>
            <a:pPr algn="l">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0" name="TextBox 10"/>
          <p:cNvSpPr txBox="1"/>
          <p:nvPr/>
        </p:nvSpPr>
        <p:spPr>
          <a:xfrm>
            <a:off x="11524035" y="1047750"/>
            <a:ext cx="4526575" cy="1192530"/>
          </a:xfrm>
          <a:prstGeom prst="rect">
            <a:avLst/>
          </a:prstGeom>
        </p:spPr>
        <p:txBody>
          <a:bodyPr lIns="0" tIns="0" rIns="0" bIns="0" rtlCol="0" anchor="t">
            <a:spAutoFit/>
          </a:bodyPr>
          <a:lstStyle/>
          <a:p>
            <a:pPr algn="ctr">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11" name="Freeform 11"/>
          <p:cNvSpPr/>
          <p:nvPr/>
        </p:nvSpPr>
        <p:spPr>
          <a:xfrm>
            <a:off x="5739087" y="10125757"/>
            <a:ext cx="6847938" cy="8910980"/>
          </a:xfrm>
          <a:custGeom>
            <a:avLst/>
            <a:gdLst/>
            <a:ahLst/>
            <a:cxnLst/>
            <a:rect l="l" t="t" r="r" b="b"/>
            <a:pathLst>
              <a:path w="6847938" h="8910980">
                <a:moveTo>
                  <a:pt x="0" y="0"/>
                </a:moveTo>
                <a:lnTo>
                  <a:pt x="6847939" y="0"/>
                </a:lnTo>
                <a:lnTo>
                  <a:pt x="6847939" y="8910980"/>
                </a:lnTo>
                <a:lnTo>
                  <a:pt x="0" y="8910980"/>
                </a:lnTo>
                <a:lnTo>
                  <a:pt x="0" y="0"/>
                </a:lnTo>
                <a:close/>
              </a:path>
            </a:pathLst>
          </a:custGeom>
          <a:blipFill>
            <a:blip r:embed="rId4"/>
            <a:stretch>
              <a:fillRect t="-36518"/>
            </a:stretch>
          </a:blipFill>
        </p:spPr>
      </p:sp>
      <p:sp>
        <p:nvSpPr>
          <p:cNvPr id="12" name="TextBox 12"/>
          <p:cNvSpPr txBox="1"/>
          <p:nvPr/>
        </p:nvSpPr>
        <p:spPr>
          <a:xfrm>
            <a:off x="16935234"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3" name="TextBox 13"/>
          <p:cNvSpPr txBox="1"/>
          <p:nvPr/>
        </p:nvSpPr>
        <p:spPr>
          <a:xfrm>
            <a:off x="-399778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4" name="Freeform 14"/>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5"/>
            <a:stretch>
              <a:fillRect/>
            </a:stretch>
          </a:blipFill>
        </p:spPr>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a:off x="5494263" y="1376020"/>
            <a:ext cx="7299474" cy="9498547"/>
          </a:xfrm>
          <a:custGeom>
            <a:avLst/>
            <a:gdLst/>
            <a:ahLst/>
            <a:cxnLst/>
            <a:rect l="l" t="t" r="r" b="b"/>
            <a:pathLst>
              <a:path w="7299474" h="9498547">
                <a:moveTo>
                  <a:pt x="0" y="0"/>
                </a:moveTo>
                <a:lnTo>
                  <a:pt x="7299474" y="0"/>
                </a:lnTo>
                <a:lnTo>
                  <a:pt x="7299474" y="9498547"/>
                </a:lnTo>
                <a:lnTo>
                  <a:pt x="0" y="9498547"/>
                </a:lnTo>
                <a:lnTo>
                  <a:pt x="0" y="0"/>
                </a:lnTo>
                <a:close/>
              </a:path>
            </a:pathLst>
          </a:custGeom>
          <a:blipFill>
            <a:blip r:embed="rId3"/>
            <a:stretch>
              <a:fillRect t="-36518"/>
            </a:stretch>
          </a:blipFill>
        </p:spPr>
      </p:sp>
      <p:sp>
        <p:nvSpPr>
          <p:cNvPr id="9" name="TextBox 9"/>
          <p:cNvSpPr txBox="1"/>
          <p:nvPr/>
        </p:nvSpPr>
        <p:spPr>
          <a:xfrm>
            <a:off x="12940522"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0" name="TextBox 10"/>
          <p:cNvSpPr txBox="1"/>
          <p:nvPr/>
        </p:nvSpPr>
        <p:spPr>
          <a:xfrm>
            <a:off x="647234"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1" name="TextBox 11"/>
          <p:cNvSpPr txBox="1"/>
          <p:nvPr/>
        </p:nvSpPr>
        <p:spPr>
          <a:xfrm>
            <a:off x="12050946" y="700430"/>
            <a:ext cx="4274460" cy="675590"/>
          </a:xfrm>
          <a:prstGeom prst="rect">
            <a:avLst/>
          </a:prstGeom>
        </p:spPr>
        <p:txBody>
          <a:bodyPr lIns="0" tIns="0" rIns="0" bIns="0" rtlCol="0" anchor="t">
            <a:spAutoFit/>
          </a:bodyPr>
          <a:lstStyle/>
          <a:p>
            <a:pPr algn="l">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2" name="TextBox 12"/>
          <p:cNvSpPr txBox="1"/>
          <p:nvPr/>
        </p:nvSpPr>
        <p:spPr>
          <a:xfrm>
            <a:off x="15251153" y="700430"/>
            <a:ext cx="2595239" cy="675590"/>
          </a:xfrm>
          <a:prstGeom prst="rect">
            <a:avLst/>
          </a:prstGeom>
        </p:spPr>
        <p:txBody>
          <a:bodyPr lIns="0" tIns="0" rIns="0" bIns="0" rtlCol="0" anchor="t">
            <a:spAutoFit/>
          </a:bodyPr>
          <a:lstStyle/>
          <a:p>
            <a:pPr algn="ctr">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13" name="Freeform 13"/>
          <p:cNvSpPr/>
          <p:nvPr/>
        </p:nvSpPr>
        <p:spPr>
          <a:xfrm rot="7689918">
            <a:off x="16030819" y="10382551"/>
            <a:ext cx="3037814" cy="3459520"/>
          </a:xfrm>
          <a:custGeom>
            <a:avLst/>
            <a:gdLst/>
            <a:ahLst/>
            <a:cxnLst/>
            <a:rect l="l" t="t" r="r" b="b"/>
            <a:pathLst>
              <a:path w="3037814" h="3459520">
                <a:moveTo>
                  <a:pt x="0" y="0"/>
                </a:moveTo>
                <a:lnTo>
                  <a:pt x="3037814" y="0"/>
                </a:lnTo>
                <a:lnTo>
                  <a:pt x="3037814" y="3459520"/>
                </a:lnTo>
                <a:lnTo>
                  <a:pt x="0" y="3459520"/>
                </a:lnTo>
                <a:lnTo>
                  <a:pt x="0" y="0"/>
                </a:lnTo>
                <a:close/>
              </a:path>
            </a:pathLst>
          </a:custGeom>
          <a:blipFill>
            <a:blip r:embed="rId4"/>
            <a:stretch>
              <a:fillRect t="-17080"/>
            </a:stretch>
          </a:blipFill>
          <a:ln cap="sq">
            <a:noFill/>
            <a:prstDash val="solid"/>
            <a:miter/>
          </a:ln>
        </p:spPr>
      </p:sp>
      <p:sp>
        <p:nvSpPr>
          <p:cNvPr id="14" name="TextBox 14"/>
          <p:cNvSpPr txBox="1"/>
          <p:nvPr/>
        </p:nvSpPr>
        <p:spPr>
          <a:xfrm>
            <a:off x="17537668" y="3991513"/>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5" name="TextBox 15"/>
          <p:cNvSpPr txBox="1"/>
          <p:nvPr/>
        </p:nvSpPr>
        <p:spPr>
          <a:xfrm>
            <a:off x="-4031123"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6" name="Freeform 16"/>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5"/>
            <a:stretch>
              <a:fillRect/>
            </a:stretch>
          </a:blipFill>
        </p:spPr>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rot="-8037303">
            <a:off x="252734" y="10552760"/>
            <a:ext cx="2588062" cy="3367753"/>
          </a:xfrm>
          <a:custGeom>
            <a:avLst/>
            <a:gdLst/>
            <a:ahLst/>
            <a:cxnLst/>
            <a:rect l="l" t="t" r="r" b="b"/>
            <a:pathLst>
              <a:path w="2588062" h="3367753">
                <a:moveTo>
                  <a:pt x="0" y="0"/>
                </a:moveTo>
                <a:lnTo>
                  <a:pt x="2588061" y="0"/>
                </a:lnTo>
                <a:lnTo>
                  <a:pt x="2588061" y="3367754"/>
                </a:lnTo>
                <a:lnTo>
                  <a:pt x="0" y="3367754"/>
                </a:lnTo>
                <a:lnTo>
                  <a:pt x="0" y="0"/>
                </a:lnTo>
                <a:close/>
              </a:path>
            </a:pathLst>
          </a:custGeom>
          <a:blipFill>
            <a:blip r:embed="rId3"/>
            <a:stretch>
              <a:fillRect t="-36518"/>
            </a:stretch>
          </a:blipFill>
        </p:spPr>
      </p:sp>
      <p:sp>
        <p:nvSpPr>
          <p:cNvPr id="9" name="Freeform 9"/>
          <p:cNvSpPr/>
          <p:nvPr/>
        </p:nvSpPr>
        <p:spPr>
          <a:xfrm>
            <a:off x="4588345" y="552369"/>
            <a:ext cx="9111310" cy="10376133"/>
          </a:xfrm>
          <a:custGeom>
            <a:avLst/>
            <a:gdLst/>
            <a:ahLst/>
            <a:cxnLst/>
            <a:rect l="l" t="t" r="r" b="b"/>
            <a:pathLst>
              <a:path w="9111310" h="10376133">
                <a:moveTo>
                  <a:pt x="0" y="0"/>
                </a:moveTo>
                <a:lnTo>
                  <a:pt x="9111310" y="0"/>
                </a:lnTo>
                <a:lnTo>
                  <a:pt x="9111310" y="10376133"/>
                </a:lnTo>
                <a:lnTo>
                  <a:pt x="0" y="10376133"/>
                </a:lnTo>
                <a:lnTo>
                  <a:pt x="0" y="0"/>
                </a:lnTo>
                <a:close/>
              </a:path>
            </a:pathLst>
          </a:custGeom>
          <a:blipFill>
            <a:blip r:embed="rId4"/>
            <a:stretch>
              <a:fillRect t="-17080"/>
            </a:stretch>
          </a:blipFill>
          <a:ln cap="sq">
            <a:noFill/>
            <a:prstDash val="solid"/>
            <a:miter/>
          </a:ln>
        </p:spPr>
      </p:sp>
      <p:sp>
        <p:nvSpPr>
          <p:cNvPr id="10" name="TextBox 10"/>
          <p:cNvSpPr txBox="1"/>
          <p:nvPr/>
        </p:nvSpPr>
        <p:spPr>
          <a:xfrm>
            <a:off x="17846392"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1" name="TextBox 11"/>
          <p:cNvSpPr txBox="1"/>
          <p:nvPr/>
        </p:nvSpPr>
        <p:spPr>
          <a:xfrm>
            <a:off x="-405352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2" name="TextBox 12"/>
          <p:cNvSpPr txBox="1"/>
          <p:nvPr/>
        </p:nvSpPr>
        <p:spPr>
          <a:xfrm>
            <a:off x="12050946" y="700430"/>
            <a:ext cx="4274460" cy="675590"/>
          </a:xfrm>
          <a:prstGeom prst="rect">
            <a:avLst/>
          </a:prstGeom>
        </p:spPr>
        <p:txBody>
          <a:bodyPr lIns="0" tIns="0" rIns="0" bIns="0" rtlCol="0" anchor="t">
            <a:spAutoFit/>
          </a:bodyPr>
          <a:lstStyle/>
          <a:p>
            <a:pPr algn="l">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3" name="TextBox 13"/>
          <p:cNvSpPr txBox="1"/>
          <p:nvPr/>
        </p:nvSpPr>
        <p:spPr>
          <a:xfrm>
            <a:off x="15251153" y="700430"/>
            <a:ext cx="2595239" cy="675590"/>
          </a:xfrm>
          <a:prstGeom prst="rect">
            <a:avLst/>
          </a:prstGeom>
        </p:spPr>
        <p:txBody>
          <a:bodyPr lIns="0" tIns="0" rIns="0" bIns="0" rtlCol="0" anchor="t">
            <a:spAutoFit/>
          </a:bodyPr>
          <a:lstStyle/>
          <a:p>
            <a:pPr algn="ctr">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14" name="TextBox 14"/>
          <p:cNvSpPr txBox="1"/>
          <p:nvPr/>
        </p:nvSpPr>
        <p:spPr>
          <a:xfrm>
            <a:off x="12638039"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5" name="TextBox 15"/>
          <p:cNvSpPr txBox="1"/>
          <p:nvPr/>
        </p:nvSpPr>
        <p:spPr>
          <a:xfrm>
            <a:off x="102870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6" name="TextBox 16"/>
          <p:cNvSpPr txBox="1"/>
          <p:nvPr/>
        </p:nvSpPr>
        <p:spPr>
          <a:xfrm>
            <a:off x="17524475" y="3991513"/>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CHÍ</a:t>
            </a:r>
          </a:p>
          <a:p>
            <a:pPr algn="r">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17" name="TextBox 17"/>
          <p:cNvSpPr txBox="1"/>
          <p:nvPr/>
        </p:nvSpPr>
        <p:spPr>
          <a:xfrm>
            <a:off x="-3724799"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CHÍ</a:t>
            </a:r>
          </a:p>
          <a:p>
            <a:pPr algn="l">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18" name="Freeform 18"/>
          <p:cNvSpPr/>
          <p:nvPr/>
        </p:nvSpPr>
        <p:spPr>
          <a:xfrm rot="8100000">
            <a:off x="17015988" y="10450534"/>
            <a:ext cx="2897641" cy="4125417"/>
          </a:xfrm>
          <a:custGeom>
            <a:avLst/>
            <a:gdLst/>
            <a:ahLst/>
            <a:cxnLst/>
            <a:rect l="l" t="t" r="r" b="b"/>
            <a:pathLst>
              <a:path w="2897641" h="4125417">
                <a:moveTo>
                  <a:pt x="0" y="0"/>
                </a:moveTo>
                <a:lnTo>
                  <a:pt x="2897641" y="0"/>
                </a:lnTo>
                <a:lnTo>
                  <a:pt x="2897641" y="4125417"/>
                </a:lnTo>
                <a:lnTo>
                  <a:pt x="0" y="4125417"/>
                </a:lnTo>
                <a:lnTo>
                  <a:pt x="0" y="0"/>
                </a:lnTo>
                <a:close/>
              </a:path>
            </a:pathLst>
          </a:custGeom>
          <a:blipFill>
            <a:blip r:embed="rId5"/>
            <a:stretch>
              <a:fillRect t="-24776"/>
            </a:stretch>
          </a:blipFill>
          <a:ln cap="sq">
            <a:noFill/>
            <a:prstDash val="solid"/>
            <a:miter/>
          </a:ln>
        </p:spPr>
      </p:sp>
      <p:sp>
        <p:nvSpPr>
          <p:cNvPr id="19" name="Freeform 19"/>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6"/>
            <a:stretch>
              <a:fillRect/>
            </a:stretch>
          </a:blipFill>
        </p:spPr>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rot="-8037303">
            <a:off x="252734" y="10552760"/>
            <a:ext cx="2588062" cy="3367753"/>
          </a:xfrm>
          <a:custGeom>
            <a:avLst/>
            <a:gdLst/>
            <a:ahLst/>
            <a:cxnLst/>
            <a:rect l="l" t="t" r="r" b="b"/>
            <a:pathLst>
              <a:path w="2588062" h="3367753">
                <a:moveTo>
                  <a:pt x="0" y="0"/>
                </a:moveTo>
                <a:lnTo>
                  <a:pt x="2588061" y="0"/>
                </a:lnTo>
                <a:lnTo>
                  <a:pt x="2588061" y="3367754"/>
                </a:lnTo>
                <a:lnTo>
                  <a:pt x="0" y="3367754"/>
                </a:lnTo>
                <a:lnTo>
                  <a:pt x="0" y="0"/>
                </a:lnTo>
                <a:close/>
              </a:path>
            </a:pathLst>
          </a:custGeom>
          <a:blipFill>
            <a:blip r:embed="rId3"/>
            <a:stretch>
              <a:fillRect t="-36518"/>
            </a:stretch>
          </a:blipFill>
        </p:spPr>
      </p:sp>
      <p:sp>
        <p:nvSpPr>
          <p:cNvPr id="9" name="Freeform 9"/>
          <p:cNvSpPr/>
          <p:nvPr/>
        </p:nvSpPr>
        <p:spPr>
          <a:xfrm rot="-8100000">
            <a:off x="65991" y="10554550"/>
            <a:ext cx="3848023" cy="4382201"/>
          </a:xfrm>
          <a:custGeom>
            <a:avLst/>
            <a:gdLst/>
            <a:ahLst/>
            <a:cxnLst/>
            <a:rect l="l" t="t" r="r" b="b"/>
            <a:pathLst>
              <a:path w="3848023" h="4382201">
                <a:moveTo>
                  <a:pt x="0" y="0"/>
                </a:moveTo>
                <a:lnTo>
                  <a:pt x="3848023" y="0"/>
                </a:lnTo>
                <a:lnTo>
                  <a:pt x="3848023" y="4382201"/>
                </a:lnTo>
                <a:lnTo>
                  <a:pt x="0" y="4382201"/>
                </a:lnTo>
                <a:lnTo>
                  <a:pt x="0" y="0"/>
                </a:lnTo>
                <a:close/>
              </a:path>
            </a:pathLst>
          </a:custGeom>
          <a:blipFill>
            <a:blip r:embed="rId4"/>
            <a:stretch>
              <a:fillRect t="-17080"/>
            </a:stretch>
          </a:blipFill>
          <a:ln cap="sq">
            <a:noFill/>
            <a:prstDash val="solid"/>
            <a:miter/>
          </a:ln>
        </p:spPr>
      </p:sp>
      <p:sp>
        <p:nvSpPr>
          <p:cNvPr id="10" name="Freeform 10"/>
          <p:cNvSpPr/>
          <p:nvPr/>
        </p:nvSpPr>
        <p:spPr>
          <a:xfrm>
            <a:off x="5501538" y="1036596"/>
            <a:ext cx="7063668" cy="10056655"/>
          </a:xfrm>
          <a:custGeom>
            <a:avLst/>
            <a:gdLst/>
            <a:ahLst/>
            <a:cxnLst/>
            <a:rect l="l" t="t" r="r" b="b"/>
            <a:pathLst>
              <a:path w="7063668" h="10056655">
                <a:moveTo>
                  <a:pt x="0" y="0"/>
                </a:moveTo>
                <a:lnTo>
                  <a:pt x="7063668" y="0"/>
                </a:lnTo>
                <a:lnTo>
                  <a:pt x="7063668" y="10056655"/>
                </a:lnTo>
                <a:lnTo>
                  <a:pt x="0" y="10056655"/>
                </a:lnTo>
                <a:lnTo>
                  <a:pt x="0" y="0"/>
                </a:lnTo>
                <a:close/>
              </a:path>
            </a:pathLst>
          </a:custGeom>
          <a:blipFill>
            <a:blip r:embed="rId5"/>
            <a:stretch>
              <a:fillRect t="-24776"/>
            </a:stretch>
          </a:blipFill>
          <a:ln cap="sq">
            <a:noFill/>
            <a:prstDash val="solid"/>
            <a:miter/>
          </a:ln>
        </p:spPr>
      </p:sp>
      <p:sp>
        <p:nvSpPr>
          <p:cNvPr id="11" name="TextBox 11"/>
          <p:cNvSpPr txBox="1"/>
          <p:nvPr/>
        </p:nvSpPr>
        <p:spPr>
          <a:xfrm>
            <a:off x="17846392"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2" name="TextBox 12"/>
          <p:cNvSpPr txBox="1"/>
          <p:nvPr/>
        </p:nvSpPr>
        <p:spPr>
          <a:xfrm>
            <a:off x="-405352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3" name="TextBox 13"/>
          <p:cNvSpPr txBox="1"/>
          <p:nvPr/>
        </p:nvSpPr>
        <p:spPr>
          <a:xfrm>
            <a:off x="12050946" y="700430"/>
            <a:ext cx="4274460" cy="675590"/>
          </a:xfrm>
          <a:prstGeom prst="rect">
            <a:avLst/>
          </a:prstGeom>
        </p:spPr>
        <p:txBody>
          <a:bodyPr lIns="0" tIns="0" rIns="0" bIns="0" rtlCol="0" anchor="t">
            <a:spAutoFit/>
          </a:bodyPr>
          <a:lstStyle/>
          <a:p>
            <a:pPr algn="l">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4" name="TextBox 14"/>
          <p:cNvSpPr txBox="1"/>
          <p:nvPr/>
        </p:nvSpPr>
        <p:spPr>
          <a:xfrm>
            <a:off x="15251153" y="700430"/>
            <a:ext cx="2595239" cy="675590"/>
          </a:xfrm>
          <a:prstGeom prst="rect">
            <a:avLst/>
          </a:prstGeom>
        </p:spPr>
        <p:txBody>
          <a:bodyPr lIns="0" tIns="0" rIns="0" bIns="0" rtlCol="0" anchor="t">
            <a:spAutoFit/>
          </a:bodyPr>
          <a:lstStyle/>
          <a:p>
            <a:pPr algn="ctr">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15" name="TextBox 15"/>
          <p:cNvSpPr txBox="1"/>
          <p:nvPr/>
        </p:nvSpPr>
        <p:spPr>
          <a:xfrm>
            <a:off x="17499004"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6" name="TextBox 16"/>
          <p:cNvSpPr txBox="1"/>
          <p:nvPr/>
        </p:nvSpPr>
        <p:spPr>
          <a:xfrm>
            <a:off x="-3592561"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7" name="TextBox 17"/>
          <p:cNvSpPr txBox="1"/>
          <p:nvPr/>
        </p:nvSpPr>
        <p:spPr>
          <a:xfrm>
            <a:off x="12638039"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CHÍ</a:t>
            </a:r>
          </a:p>
          <a:p>
            <a:pPr algn="r">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18" name="TextBox 18"/>
          <p:cNvSpPr txBox="1"/>
          <p:nvPr/>
        </p:nvSpPr>
        <p:spPr>
          <a:xfrm>
            <a:off x="102870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CHÍ</a:t>
            </a:r>
          </a:p>
          <a:p>
            <a:pPr algn="l">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19" name="TextBox 19"/>
          <p:cNvSpPr txBox="1"/>
          <p:nvPr/>
        </p:nvSpPr>
        <p:spPr>
          <a:xfrm>
            <a:off x="17716500" y="3960349"/>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ĐOÀN</a:t>
            </a:r>
          </a:p>
          <a:p>
            <a:pPr algn="r">
              <a:lnSpc>
                <a:spcPts val="9239"/>
              </a:lnSpc>
            </a:pPr>
            <a:r>
              <a:rPr lang="en-US" sz="7896" b="1">
                <a:solidFill>
                  <a:srgbClr val="0565EF"/>
                </a:solidFill>
                <a:latin typeface="Proxima Nova Heavy"/>
                <a:ea typeface="Proxima Nova Heavy"/>
                <a:cs typeface="Proxima Nova Heavy"/>
                <a:sym typeface="Proxima Nova Heavy"/>
              </a:rPr>
              <a:t>TRUng</a:t>
            </a:r>
          </a:p>
        </p:txBody>
      </p:sp>
      <p:sp>
        <p:nvSpPr>
          <p:cNvPr id="20" name="TextBox 20"/>
          <p:cNvSpPr txBox="1"/>
          <p:nvPr/>
        </p:nvSpPr>
        <p:spPr>
          <a:xfrm>
            <a:off x="-3782682" y="3960349"/>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ĐOÀN</a:t>
            </a:r>
          </a:p>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TRUNG</a:t>
            </a:r>
          </a:p>
        </p:txBody>
      </p:sp>
      <p:sp>
        <p:nvSpPr>
          <p:cNvPr id="21" name="Freeform 21"/>
          <p:cNvSpPr/>
          <p:nvPr/>
        </p:nvSpPr>
        <p:spPr>
          <a:xfrm rot="8402657">
            <a:off x="16215945" y="10486915"/>
            <a:ext cx="3241451" cy="4673242"/>
          </a:xfrm>
          <a:custGeom>
            <a:avLst/>
            <a:gdLst/>
            <a:ahLst/>
            <a:cxnLst/>
            <a:rect l="l" t="t" r="r" b="b"/>
            <a:pathLst>
              <a:path w="3241451" h="4673242">
                <a:moveTo>
                  <a:pt x="0" y="0"/>
                </a:moveTo>
                <a:lnTo>
                  <a:pt x="3241451" y="0"/>
                </a:lnTo>
                <a:lnTo>
                  <a:pt x="3241451" y="4673242"/>
                </a:lnTo>
                <a:lnTo>
                  <a:pt x="0" y="4673242"/>
                </a:lnTo>
                <a:lnTo>
                  <a:pt x="0" y="0"/>
                </a:lnTo>
                <a:close/>
              </a:path>
            </a:pathLst>
          </a:custGeom>
          <a:blipFill>
            <a:blip r:embed="rId6"/>
            <a:stretch>
              <a:fillRect t="-23218"/>
            </a:stretch>
          </a:blipFill>
          <a:ln cap="sq">
            <a:noFill/>
            <a:prstDash val="solid"/>
            <a:miter/>
          </a:ln>
        </p:spPr>
      </p:sp>
      <p:sp>
        <p:nvSpPr>
          <p:cNvPr id="22" name="Freeform 22"/>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7"/>
            <a:stretch>
              <a:fillRect/>
            </a:stretch>
          </a:blipFill>
        </p:spPr>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rot="-8037303">
            <a:off x="252734" y="10552760"/>
            <a:ext cx="2588062" cy="3367753"/>
          </a:xfrm>
          <a:custGeom>
            <a:avLst/>
            <a:gdLst/>
            <a:ahLst/>
            <a:cxnLst/>
            <a:rect l="l" t="t" r="r" b="b"/>
            <a:pathLst>
              <a:path w="2588062" h="3367753">
                <a:moveTo>
                  <a:pt x="0" y="0"/>
                </a:moveTo>
                <a:lnTo>
                  <a:pt x="2588061" y="0"/>
                </a:lnTo>
                <a:lnTo>
                  <a:pt x="2588061" y="3367754"/>
                </a:lnTo>
                <a:lnTo>
                  <a:pt x="0" y="3367754"/>
                </a:lnTo>
                <a:lnTo>
                  <a:pt x="0" y="0"/>
                </a:lnTo>
                <a:close/>
              </a:path>
            </a:pathLst>
          </a:custGeom>
          <a:blipFill>
            <a:blip r:embed="rId3"/>
            <a:stretch>
              <a:fillRect t="-36518"/>
            </a:stretch>
          </a:blipFill>
        </p:spPr>
      </p:sp>
      <p:sp>
        <p:nvSpPr>
          <p:cNvPr id="9" name="Freeform 9"/>
          <p:cNvSpPr/>
          <p:nvPr/>
        </p:nvSpPr>
        <p:spPr>
          <a:xfrm rot="-8100000">
            <a:off x="65991" y="10554550"/>
            <a:ext cx="3848023" cy="4382201"/>
          </a:xfrm>
          <a:custGeom>
            <a:avLst/>
            <a:gdLst/>
            <a:ahLst/>
            <a:cxnLst/>
            <a:rect l="l" t="t" r="r" b="b"/>
            <a:pathLst>
              <a:path w="3848023" h="4382201">
                <a:moveTo>
                  <a:pt x="0" y="0"/>
                </a:moveTo>
                <a:lnTo>
                  <a:pt x="3848023" y="0"/>
                </a:lnTo>
                <a:lnTo>
                  <a:pt x="3848023" y="4382201"/>
                </a:lnTo>
                <a:lnTo>
                  <a:pt x="0" y="4382201"/>
                </a:lnTo>
                <a:lnTo>
                  <a:pt x="0" y="0"/>
                </a:lnTo>
                <a:close/>
              </a:path>
            </a:pathLst>
          </a:custGeom>
          <a:blipFill>
            <a:blip r:embed="rId4"/>
            <a:stretch>
              <a:fillRect t="-17080"/>
            </a:stretch>
          </a:blipFill>
          <a:ln cap="sq">
            <a:noFill/>
            <a:prstDash val="solid"/>
            <a:miter/>
          </a:ln>
        </p:spPr>
      </p:sp>
      <p:sp>
        <p:nvSpPr>
          <p:cNvPr id="10" name="Freeform 10"/>
          <p:cNvSpPr/>
          <p:nvPr/>
        </p:nvSpPr>
        <p:spPr>
          <a:xfrm rot="-8582062">
            <a:off x="-458181" y="10439137"/>
            <a:ext cx="2973762" cy="4233791"/>
          </a:xfrm>
          <a:custGeom>
            <a:avLst/>
            <a:gdLst/>
            <a:ahLst/>
            <a:cxnLst/>
            <a:rect l="l" t="t" r="r" b="b"/>
            <a:pathLst>
              <a:path w="2973762" h="4233791">
                <a:moveTo>
                  <a:pt x="0" y="0"/>
                </a:moveTo>
                <a:lnTo>
                  <a:pt x="2973762" y="0"/>
                </a:lnTo>
                <a:lnTo>
                  <a:pt x="2973762" y="4233791"/>
                </a:lnTo>
                <a:lnTo>
                  <a:pt x="0" y="4233791"/>
                </a:lnTo>
                <a:lnTo>
                  <a:pt x="0" y="0"/>
                </a:lnTo>
                <a:close/>
              </a:path>
            </a:pathLst>
          </a:custGeom>
          <a:blipFill>
            <a:blip r:embed="rId5"/>
            <a:stretch>
              <a:fillRect t="-24776"/>
            </a:stretch>
          </a:blipFill>
          <a:ln cap="sq">
            <a:noFill/>
            <a:prstDash val="solid"/>
            <a:miter/>
          </a:ln>
        </p:spPr>
      </p:sp>
      <p:sp>
        <p:nvSpPr>
          <p:cNvPr id="11" name="Freeform 11"/>
          <p:cNvSpPr/>
          <p:nvPr/>
        </p:nvSpPr>
        <p:spPr>
          <a:xfrm>
            <a:off x="5524954" y="681380"/>
            <a:ext cx="7046410" cy="10158900"/>
          </a:xfrm>
          <a:custGeom>
            <a:avLst/>
            <a:gdLst/>
            <a:ahLst/>
            <a:cxnLst/>
            <a:rect l="l" t="t" r="r" b="b"/>
            <a:pathLst>
              <a:path w="7046410" h="10158900">
                <a:moveTo>
                  <a:pt x="0" y="0"/>
                </a:moveTo>
                <a:lnTo>
                  <a:pt x="7046410" y="0"/>
                </a:lnTo>
                <a:lnTo>
                  <a:pt x="7046410" y="10158900"/>
                </a:lnTo>
                <a:lnTo>
                  <a:pt x="0" y="10158900"/>
                </a:lnTo>
                <a:lnTo>
                  <a:pt x="0" y="0"/>
                </a:lnTo>
                <a:close/>
              </a:path>
            </a:pathLst>
          </a:custGeom>
          <a:blipFill>
            <a:blip r:embed="rId6"/>
            <a:stretch>
              <a:fillRect t="-23218"/>
            </a:stretch>
          </a:blipFill>
          <a:ln cap="sq">
            <a:noFill/>
            <a:prstDash val="solid"/>
            <a:miter/>
          </a:ln>
        </p:spPr>
      </p:sp>
      <p:sp>
        <p:nvSpPr>
          <p:cNvPr id="12" name="TextBox 12"/>
          <p:cNvSpPr txBox="1"/>
          <p:nvPr/>
        </p:nvSpPr>
        <p:spPr>
          <a:xfrm>
            <a:off x="17846392"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3" name="TextBox 13"/>
          <p:cNvSpPr txBox="1"/>
          <p:nvPr/>
        </p:nvSpPr>
        <p:spPr>
          <a:xfrm>
            <a:off x="-405352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4" name="TextBox 14"/>
          <p:cNvSpPr txBox="1"/>
          <p:nvPr/>
        </p:nvSpPr>
        <p:spPr>
          <a:xfrm>
            <a:off x="12050946" y="700430"/>
            <a:ext cx="4274460" cy="675590"/>
          </a:xfrm>
          <a:prstGeom prst="rect">
            <a:avLst/>
          </a:prstGeom>
        </p:spPr>
        <p:txBody>
          <a:bodyPr lIns="0" tIns="0" rIns="0" bIns="0" rtlCol="0" anchor="t">
            <a:spAutoFit/>
          </a:bodyPr>
          <a:lstStyle/>
          <a:p>
            <a:pPr algn="l">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5" name="TextBox 15"/>
          <p:cNvSpPr txBox="1"/>
          <p:nvPr/>
        </p:nvSpPr>
        <p:spPr>
          <a:xfrm>
            <a:off x="15251153" y="700430"/>
            <a:ext cx="2595239" cy="675590"/>
          </a:xfrm>
          <a:prstGeom prst="rect">
            <a:avLst/>
          </a:prstGeom>
        </p:spPr>
        <p:txBody>
          <a:bodyPr lIns="0" tIns="0" rIns="0" bIns="0" rtlCol="0" anchor="t">
            <a:spAutoFit/>
          </a:bodyPr>
          <a:lstStyle/>
          <a:p>
            <a:pPr algn="ctr">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16" name="TextBox 16"/>
          <p:cNvSpPr txBox="1"/>
          <p:nvPr/>
        </p:nvSpPr>
        <p:spPr>
          <a:xfrm>
            <a:off x="17499004"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7" name="TextBox 17"/>
          <p:cNvSpPr txBox="1"/>
          <p:nvPr/>
        </p:nvSpPr>
        <p:spPr>
          <a:xfrm>
            <a:off x="-3592561"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8" name="TextBox 18"/>
          <p:cNvSpPr txBox="1"/>
          <p:nvPr/>
        </p:nvSpPr>
        <p:spPr>
          <a:xfrm>
            <a:off x="17503576" y="3991513"/>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CHÍ</a:t>
            </a:r>
          </a:p>
          <a:p>
            <a:pPr algn="r">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19" name="TextBox 19"/>
          <p:cNvSpPr txBox="1"/>
          <p:nvPr/>
        </p:nvSpPr>
        <p:spPr>
          <a:xfrm>
            <a:off x="-3836837"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CHÍ</a:t>
            </a:r>
          </a:p>
          <a:p>
            <a:pPr algn="l">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20" name="TextBox 20"/>
          <p:cNvSpPr txBox="1"/>
          <p:nvPr/>
        </p:nvSpPr>
        <p:spPr>
          <a:xfrm>
            <a:off x="12638039"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ĐOÀN</a:t>
            </a:r>
          </a:p>
          <a:p>
            <a:pPr algn="r">
              <a:lnSpc>
                <a:spcPts val="9239"/>
              </a:lnSpc>
            </a:pPr>
            <a:r>
              <a:rPr lang="en-US" sz="7896" b="1">
                <a:solidFill>
                  <a:srgbClr val="0565EF"/>
                </a:solidFill>
                <a:latin typeface="Proxima Nova Heavy"/>
                <a:ea typeface="Proxima Nova Heavy"/>
                <a:cs typeface="Proxima Nova Heavy"/>
                <a:sym typeface="Proxima Nova Heavy"/>
              </a:rPr>
              <a:t>TRUng</a:t>
            </a:r>
          </a:p>
        </p:txBody>
      </p:sp>
      <p:sp>
        <p:nvSpPr>
          <p:cNvPr id="21" name="TextBox 21"/>
          <p:cNvSpPr txBox="1"/>
          <p:nvPr/>
        </p:nvSpPr>
        <p:spPr>
          <a:xfrm>
            <a:off x="1028700" y="3975931"/>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ĐOÀN</a:t>
            </a:r>
          </a:p>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TRUNG</a:t>
            </a:r>
          </a:p>
        </p:txBody>
      </p:sp>
      <p:sp>
        <p:nvSpPr>
          <p:cNvPr id="22" name="TextBox 22"/>
          <p:cNvSpPr txBox="1"/>
          <p:nvPr/>
        </p:nvSpPr>
        <p:spPr>
          <a:xfrm>
            <a:off x="17506950"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QUAng minh</a:t>
            </a:r>
          </a:p>
        </p:txBody>
      </p:sp>
      <p:sp>
        <p:nvSpPr>
          <p:cNvPr id="23" name="TextBox 23"/>
          <p:cNvSpPr txBox="1"/>
          <p:nvPr/>
        </p:nvSpPr>
        <p:spPr>
          <a:xfrm>
            <a:off x="-3943534" y="3975931"/>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QUANG MINH</a:t>
            </a:r>
          </a:p>
        </p:txBody>
      </p:sp>
      <p:sp>
        <p:nvSpPr>
          <p:cNvPr id="24" name="Freeform 24"/>
          <p:cNvSpPr/>
          <p:nvPr/>
        </p:nvSpPr>
        <p:spPr>
          <a:xfrm rot="8100000">
            <a:off x="16348659" y="10635799"/>
            <a:ext cx="3351774" cy="4492565"/>
          </a:xfrm>
          <a:custGeom>
            <a:avLst/>
            <a:gdLst/>
            <a:ahLst/>
            <a:cxnLst/>
            <a:rect l="l" t="t" r="r" b="b"/>
            <a:pathLst>
              <a:path w="3351774" h="4492565">
                <a:moveTo>
                  <a:pt x="0" y="0"/>
                </a:moveTo>
                <a:lnTo>
                  <a:pt x="3351774" y="0"/>
                </a:lnTo>
                <a:lnTo>
                  <a:pt x="3351774" y="4492565"/>
                </a:lnTo>
                <a:lnTo>
                  <a:pt x="0" y="4492565"/>
                </a:lnTo>
                <a:lnTo>
                  <a:pt x="0" y="0"/>
                </a:lnTo>
                <a:close/>
              </a:path>
            </a:pathLst>
          </a:custGeom>
          <a:blipFill>
            <a:blip r:embed="rId7"/>
            <a:stretch>
              <a:fillRect t="-32536"/>
            </a:stretch>
          </a:blipFill>
          <a:ln cap="sq">
            <a:noFill/>
            <a:prstDash val="solid"/>
            <a:miter/>
          </a:ln>
        </p:spPr>
      </p:sp>
      <p:sp>
        <p:nvSpPr>
          <p:cNvPr id="25" name="Freeform 25"/>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8"/>
            <a:stretch>
              <a:fillRect/>
            </a:stretch>
          </a:blipFill>
        </p:spPr>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rot="-8037303">
            <a:off x="252734" y="10552760"/>
            <a:ext cx="2588062" cy="3367753"/>
          </a:xfrm>
          <a:custGeom>
            <a:avLst/>
            <a:gdLst/>
            <a:ahLst/>
            <a:cxnLst/>
            <a:rect l="l" t="t" r="r" b="b"/>
            <a:pathLst>
              <a:path w="2588062" h="3367753">
                <a:moveTo>
                  <a:pt x="0" y="0"/>
                </a:moveTo>
                <a:lnTo>
                  <a:pt x="2588061" y="0"/>
                </a:lnTo>
                <a:lnTo>
                  <a:pt x="2588061" y="3367754"/>
                </a:lnTo>
                <a:lnTo>
                  <a:pt x="0" y="3367754"/>
                </a:lnTo>
                <a:lnTo>
                  <a:pt x="0" y="0"/>
                </a:lnTo>
                <a:close/>
              </a:path>
            </a:pathLst>
          </a:custGeom>
          <a:blipFill>
            <a:blip r:embed="rId3"/>
            <a:stretch>
              <a:fillRect t="-36518"/>
            </a:stretch>
          </a:blipFill>
        </p:spPr>
      </p:sp>
      <p:sp>
        <p:nvSpPr>
          <p:cNvPr id="9" name="Freeform 9"/>
          <p:cNvSpPr/>
          <p:nvPr/>
        </p:nvSpPr>
        <p:spPr>
          <a:xfrm rot="-8100000">
            <a:off x="65991" y="10554550"/>
            <a:ext cx="3848023" cy="4382201"/>
          </a:xfrm>
          <a:custGeom>
            <a:avLst/>
            <a:gdLst/>
            <a:ahLst/>
            <a:cxnLst/>
            <a:rect l="l" t="t" r="r" b="b"/>
            <a:pathLst>
              <a:path w="3848023" h="4382201">
                <a:moveTo>
                  <a:pt x="0" y="0"/>
                </a:moveTo>
                <a:lnTo>
                  <a:pt x="3848023" y="0"/>
                </a:lnTo>
                <a:lnTo>
                  <a:pt x="3848023" y="4382201"/>
                </a:lnTo>
                <a:lnTo>
                  <a:pt x="0" y="4382201"/>
                </a:lnTo>
                <a:lnTo>
                  <a:pt x="0" y="0"/>
                </a:lnTo>
                <a:close/>
              </a:path>
            </a:pathLst>
          </a:custGeom>
          <a:blipFill>
            <a:blip r:embed="rId4"/>
            <a:stretch>
              <a:fillRect t="-17080"/>
            </a:stretch>
          </a:blipFill>
          <a:ln cap="sq">
            <a:noFill/>
            <a:prstDash val="solid"/>
            <a:miter/>
          </a:ln>
        </p:spPr>
      </p:sp>
      <p:sp>
        <p:nvSpPr>
          <p:cNvPr id="10" name="Freeform 10"/>
          <p:cNvSpPr/>
          <p:nvPr/>
        </p:nvSpPr>
        <p:spPr>
          <a:xfrm rot="-8582062">
            <a:off x="-458181" y="10439137"/>
            <a:ext cx="2973762" cy="4233791"/>
          </a:xfrm>
          <a:custGeom>
            <a:avLst/>
            <a:gdLst/>
            <a:ahLst/>
            <a:cxnLst/>
            <a:rect l="l" t="t" r="r" b="b"/>
            <a:pathLst>
              <a:path w="2973762" h="4233791">
                <a:moveTo>
                  <a:pt x="0" y="0"/>
                </a:moveTo>
                <a:lnTo>
                  <a:pt x="2973762" y="0"/>
                </a:lnTo>
                <a:lnTo>
                  <a:pt x="2973762" y="4233791"/>
                </a:lnTo>
                <a:lnTo>
                  <a:pt x="0" y="4233791"/>
                </a:lnTo>
                <a:lnTo>
                  <a:pt x="0" y="0"/>
                </a:lnTo>
                <a:close/>
              </a:path>
            </a:pathLst>
          </a:custGeom>
          <a:blipFill>
            <a:blip r:embed="rId5"/>
            <a:stretch>
              <a:fillRect t="-24776"/>
            </a:stretch>
          </a:blipFill>
          <a:ln cap="sq">
            <a:noFill/>
            <a:prstDash val="solid"/>
            <a:miter/>
          </a:ln>
        </p:spPr>
      </p:sp>
      <p:sp>
        <p:nvSpPr>
          <p:cNvPr id="11" name="Freeform 11"/>
          <p:cNvSpPr/>
          <p:nvPr/>
        </p:nvSpPr>
        <p:spPr>
          <a:xfrm rot="-8277659">
            <a:off x="-911654" y="10423351"/>
            <a:ext cx="3032298" cy="4371704"/>
          </a:xfrm>
          <a:custGeom>
            <a:avLst/>
            <a:gdLst/>
            <a:ahLst/>
            <a:cxnLst/>
            <a:rect l="l" t="t" r="r" b="b"/>
            <a:pathLst>
              <a:path w="3032298" h="4371704">
                <a:moveTo>
                  <a:pt x="0" y="0"/>
                </a:moveTo>
                <a:lnTo>
                  <a:pt x="3032299" y="0"/>
                </a:lnTo>
                <a:lnTo>
                  <a:pt x="3032299" y="4371703"/>
                </a:lnTo>
                <a:lnTo>
                  <a:pt x="0" y="4371703"/>
                </a:lnTo>
                <a:lnTo>
                  <a:pt x="0" y="0"/>
                </a:lnTo>
                <a:close/>
              </a:path>
            </a:pathLst>
          </a:custGeom>
          <a:blipFill>
            <a:blip r:embed="rId6"/>
            <a:stretch>
              <a:fillRect t="-23218"/>
            </a:stretch>
          </a:blipFill>
          <a:ln cap="sq">
            <a:noFill/>
            <a:prstDash val="solid"/>
            <a:miter/>
          </a:ln>
        </p:spPr>
      </p:sp>
      <p:sp>
        <p:nvSpPr>
          <p:cNvPr id="12" name="Freeform 12"/>
          <p:cNvSpPr/>
          <p:nvPr/>
        </p:nvSpPr>
        <p:spPr>
          <a:xfrm>
            <a:off x="5521300" y="1100976"/>
            <a:ext cx="7454950" cy="9992275"/>
          </a:xfrm>
          <a:custGeom>
            <a:avLst/>
            <a:gdLst/>
            <a:ahLst/>
            <a:cxnLst/>
            <a:rect l="l" t="t" r="r" b="b"/>
            <a:pathLst>
              <a:path w="7454950" h="9992275">
                <a:moveTo>
                  <a:pt x="0" y="0"/>
                </a:moveTo>
                <a:lnTo>
                  <a:pt x="7454950" y="0"/>
                </a:lnTo>
                <a:lnTo>
                  <a:pt x="7454950" y="9992275"/>
                </a:lnTo>
                <a:lnTo>
                  <a:pt x="0" y="9992275"/>
                </a:lnTo>
                <a:lnTo>
                  <a:pt x="0" y="0"/>
                </a:lnTo>
                <a:close/>
              </a:path>
            </a:pathLst>
          </a:custGeom>
          <a:blipFill>
            <a:blip r:embed="rId7"/>
            <a:stretch>
              <a:fillRect t="-32536"/>
            </a:stretch>
          </a:blipFill>
          <a:ln cap="sq">
            <a:noFill/>
            <a:prstDash val="solid"/>
            <a:miter/>
          </a:ln>
        </p:spPr>
      </p:sp>
      <p:sp>
        <p:nvSpPr>
          <p:cNvPr id="13" name="TextBox 13"/>
          <p:cNvSpPr txBox="1"/>
          <p:nvPr/>
        </p:nvSpPr>
        <p:spPr>
          <a:xfrm>
            <a:off x="17846392"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4" name="TextBox 14"/>
          <p:cNvSpPr txBox="1"/>
          <p:nvPr/>
        </p:nvSpPr>
        <p:spPr>
          <a:xfrm>
            <a:off x="-405352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5" name="TextBox 15"/>
          <p:cNvSpPr txBox="1"/>
          <p:nvPr/>
        </p:nvSpPr>
        <p:spPr>
          <a:xfrm>
            <a:off x="12050946" y="700430"/>
            <a:ext cx="4274460" cy="675590"/>
          </a:xfrm>
          <a:prstGeom prst="rect">
            <a:avLst/>
          </a:prstGeom>
        </p:spPr>
        <p:txBody>
          <a:bodyPr lIns="0" tIns="0" rIns="0" bIns="0" rtlCol="0" anchor="t">
            <a:spAutoFit/>
          </a:bodyPr>
          <a:lstStyle/>
          <a:p>
            <a:pPr algn="l">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6" name="TextBox 16"/>
          <p:cNvSpPr txBox="1"/>
          <p:nvPr/>
        </p:nvSpPr>
        <p:spPr>
          <a:xfrm>
            <a:off x="15251153" y="700430"/>
            <a:ext cx="2595239" cy="675590"/>
          </a:xfrm>
          <a:prstGeom prst="rect">
            <a:avLst/>
          </a:prstGeom>
        </p:spPr>
        <p:txBody>
          <a:bodyPr lIns="0" tIns="0" rIns="0" bIns="0" rtlCol="0" anchor="t">
            <a:spAutoFit/>
          </a:bodyPr>
          <a:lstStyle/>
          <a:p>
            <a:pPr algn="ctr">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17" name="TextBox 17"/>
          <p:cNvSpPr txBox="1"/>
          <p:nvPr/>
        </p:nvSpPr>
        <p:spPr>
          <a:xfrm>
            <a:off x="17499004"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8" name="TextBox 18"/>
          <p:cNvSpPr txBox="1"/>
          <p:nvPr/>
        </p:nvSpPr>
        <p:spPr>
          <a:xfrm>
            <a:off x="-3592561"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9" name="TextBox 19"/>
          <p:cNvSpPr txBox="1"/>
          <p:nvPr/>
        </p:nvSpPr>
        <p:spPr>
          <a:xfrm>
            <a:off x="17503576" y="3991513"/>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CHÍ</a:t>
            </a:r>
          </a:p>
          <a:p>
            <a:pPr algn="r">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20" name="TextBox 20"/>
          <p:cNvSpPr txBox="1"/>
          <p:nvPr/>
        </p:nvSpPr>
        <p:spPr>
          <a:xfrm>
            <a:off x="-3836837"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CHÍ</a:t>
            </a:r>
          </a:p>
          <a:p>
            <a:pPr algn="l">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21" name="TextBox 21"/>
          <p:cNvSpPr txBox="1"/>
          <p:nvPr/>
        </p:nvSpPr>
        <p:spPr>
          <a:xfrm>
            <a:off x="17950159" y="4007095"/>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ĐOÀN</a:t>
            </a:r>
          </a:p>
          <a:p>
            <a:pPr algn="r">
              <a:lnSpc>
                <a:spcPts val="9239"/>
              </a:lnSpc>
            </a:pPr>
            <a:r>
              <a:rPr lang="en-US" sz="7896" b="1">
                <a:solidFill>
                  <a:srgbClr val="0565EF"/>
                </a:solidFill>
                <a:latin typeface="Proxima Nova Heavy"/>
                <a:ea typeface="Proxima Nova Heavy"/>
                <a:cs typeface="Proxima Nova Heavy"/>
                <a:sym typeface="Proxima Nova Heavy"/>
              </a:rPr>
              <a:t>TRUng</a:t>
            </a:r>
          </a:p>
        </p:txBody>
      </p:sp>
      <p:sp>
        <p:nvSpPr>
          <p:cNvPr id="22" name="TextBox 22"/>
          <p:cNvSpPr txBox="1"/>
          <p:nvPr/>
        </p:nvSpPr>
        <p:spPr>
          <a:xfrm>
            <a:off x="-4053520" y="3991513"/>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ĐOÀN</a:t>
            </a:r>
          </a:p>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TRUNG</a:t>
            </a:r>
          </a:p>
        </p:txBody>
      </p:sp>
      <p:sp>
        <p:nvSpPr>
          <p:cNvPr id="23" name="TextBox 23"/>
          <p:cNvSpPr txBox="1"/>
          <p:nvPr/>
        </p:nvSpPr>
        <p:spPr>
          <a:xfrm>
            <a:off x="12638039"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QUAng minh</a:t>
            </a:r>
          </a:p>
        </p:txBody>
      </p:sp>
      <p:sp>
        <p:nvSpPr>
          <p:cNvPr id="24" name="TextBox 24"/>
          <p:cNvSpPr txBox="1"/>
          <p:nvPr/>
        </p:nvSpPr>
        <p:spPr>
          <a:xfrm>
            <a:off x="1028700" y="3975931"/>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QUANG MINH</a:t>
            </a:r>
          </a:p>
        </p:txBody>
      </p:sp>
      <p:sp>
        <p:nvSpPr>
          <p:cNvPr id="25" name="TextBox 25"/>
          <p:cNvSpPr txBox="1"/>
          <p:nvPr/>
        </p:nvSpPr>
        <p:spPr>
          <a:xfrm>
            <a:off x="17506950" y="3991513"/>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DUY HOÀng</a:t>
            </a:r>
          </a:p>
        </p:txBody>
      </p:sp>
      <p:sp>
        <p:nvSpPr>
          <p:cNvPr id="26" name="TextBox 26"/>
          <p:cNvSpPr txBox="1"/>
          <p:nvPr/>
        </p:nvSpPr>
        <p:spPr>
          <a:xfrm>
            <a:off x="-4016766" y="4007095"/>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a:solidFill>
                  <a:srgbClr val="0565EF"/>
                </a:solidFill>
                <a:latin typeface="Proxima Nova Heavy"/>
                <a:ea typeface="Proxima Nova Heavy"/>
                <a:cs typeface="Proxima Nova Heavy"/>
                <a:sym typeface="Proxima Nova Heavy"/>
              </a:rPr>
              <a:t>DUY HOÀNG</a:t>
            </a:r>
          </a:p>
        </p:txBody>
      </p:sp>
      <p:sp>
        <p:nvSpPr>
          <p:cNvPr id="27" name="Freeform 27"/>
          <p:cNvSpPr/>
          <p:nvPr/>
        </p:nvSpPr>
        <p:spPr>
          <a:xfrm rot="8516418">
            <a:off x="16132614" y="10406470"/>
            <a:ext cx="3427556" cy="4570074"/>
          </a:xfrm>
          <a:custGeom>
            <a:avLst/>
            <a:gdLst/>
            <a:ahLst/>
            <a:cxnLst/>
            <a:rect l="l" t="t" r="r" b="b"/>
            <a:pathLst>
              <a:path w="3427556" h="4570074">
                <a:moveTo>
                  <a:pt x="0" y="0"/>
                </a:moveTo>
                <a:lnTo>
                  <a:pt x="3427556" y="0"/>
                </a:lnTo>
                <a:lnTo>
                  <a:pt x="3427556" y="4570074"/>
                </a:lnTo>
                <a:lnTo>
                  <a:pt x="0" y="4570074"/>
                </a:lnTo>
                <a:lnTo>
                  <a:pt x="0" y="0"/>
                </a:lnTo>
                <a:close/>
              </a:path>
            </a:pathLst>
          </a:custGeom>
          <a:blipFill>
            <a:blip r:embed="rId8"/>
            <a:stretch>
              <a:fillRect/>
            </a:stretch>
          </a:blipFill>
          <a:ln cap="sq">
            <a:noFill/>
            <a:prstDash val="solid"/>
            <a:miter/>
          </a:ln>
        </p:spPr>
      </p:sp>
      <p:sp>
        <p:nvSpPr>
          <p:cNvPr id="28" name="Freeform 28"/>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9"/>
            <a:stretch>
              <a:fillRect/>
            </a:stretch>
          </a:blipFill>
        </p:spPr>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rot="-8037303">
            <a:off x="252734" y="10552760"/>
            <a:ext cx="2588062" cy="3367753"/>
          </a:xfrm>
          <a:custGeom>
            <a:avLst/>
            <a:gdLst/>
            <a:ahLst/>
            <a:cxnLst/>
            <a:rect l="l" t="t" r="r" b="b"/>
            <a:pathLst>
              <a:path w="2588062" h="3367753">
                <a:moveTo>
                  <a:pt x="0" y="0"/>
                </a:moveTo>
                <a:lnTo>
                  <a:pt x="2588061" y="0"/>
                </a:lnTo>
                <a:lnTo>
                  <a:pt x="2588061" y="3367754"/>
                </a:lnTo>
                <a:lnTo>
                  <a:pt x="0" y="3367754"/>
                </a:lnTo>
                <a:lnTo>
                  <a:pt x="0" y="0"/>
                </a:lnTo>
                <a:close/>
              </a:path>
            </a:pathLst>
          </a:custGeom>
          <a:blipFill>
            <a:blip r:embed="rId3"/>
            <a:stretch>
              <a:fillRect t="-36518"/>
            </a:stretch>
          </a:blipFill>
        </p:spPr>
      </p:sp>
      <p:sp>
        <p:nvSpPr>
          <p:cNvPr id="9" name="Freeform 9"/>
          <p:cNvSpPr/>
          <p:nvPr/>
        </p:nvSpPr>
        <p:spPr>
          <a:xfrm rot="-8100000">
            <a:off x="65991" y="10554550"/>
            <a:ext cx="3848023" cy="4382201"/>
          </a:xfrm>
          <a:custGeom>
            <a:avLst/>
            <a:gdLst/>
            <a:ahLst/>
            <a:cxnLst/>
            <a:rect l="l" t="t" r="r" b="b"/>
            <a:pathLst>
              <a:path w="3848023" h="4382201">
                <a:moveTo>
                  <a:pt x="0" y="0"/>
                </a:moveTo>
                <a:lnTo>
                  <a:pt x="3848023" y="0"/>
                </a:lnTo>
                <a:lnTo>
                  <a:pt x="3848023" y="4382201"/>
                </a:lnTo>
                <a:lnTo>
                  <a:pt x="0" y="4382201"/>
                </a:lnTo>
                <a:lnTo>
                  <a:pt x="0" y="0"/>
                </a:lnTo>
                <a:close/>
              </a:path>
            </a:pathLst>
          </a:custGeom>
          <a:blipFill>
            <a:blip r:embed="rId4"/>
            <a:stretch>
              <a:fillRect t="-17080"/>
            </a:stretch>
          </a:blipFill>
          <a:ln cap="sq">
            <a:noFill/>
            <a:prstDash val="solid"/>
            <a:miter/>
          </a:ln>
        </p:spPr>
      </p:sp>
      <p:sp>
        <p:nvSpPr>
          <p:cNvPr id="10" name="Freeform 10"/>
          <p:cNvSpPr/>
          <p:nvPr/>
        </p:nvSpPr>
        <p:spPr>
          <a:xfrm rot="-8582062">
            <a:off x="-458181" y="10439137"/>
            <a:ext cx="2973762" cy="4233791"/>
          </a:xfrm>
          <a:custGeom>
            <a:avLst/>
            <a:gdLst/>
            <a:ahLst/>
            <a:cxnLst/>
            <a:rect l="l" t="t" r="r" b="b"/>
            <a:pathLst>
              <a:path w="2973762" h="4233791">
                <a:moveTo>
                  <a:pt x="0" y="0"/>
                </a:moveTo>
                <a:lnTo>
                  <a:pt x="2973762" y="0"/>
                </a:lnTo>
                <a:lnTo>
                  <a:pt x="2973762" y="4233791"/>
                </a:lnTo>
                <a:lnTo>
                  <a:pt x="0" y="4233791"/>
                </a:lnTo>
                <a:lnTo>
                  <a:pt x="0" y="0"/>
                </a:lnTo>
                <a:close/>
              </a:path>
            </a:pathLst>
          </a:custGeom>
          <a:blipFill>
            <a:blip r:embed="rId5"/>
            <a:stretch>
              <a:fillRect t="-24776"/>
            </a:stretch>
          </a:blipFill>
          <a:ln cap="sq">
            <a:noFill/>
            <a:prstDash val="solid"/>
            <a:miter/>
          </a:ln>
        </p:spPr>
      </p:sp>
      <p:sp>
        <p:nvSpPr>
          <p:cNvPr id="11" name="Freeform 11"/>
          <p:cNvSpPr/>
          <p:nvPr/>
        </p:nvSpPr>
        <p:spPr>
          <a:xfrm rot="-8277659">
            <a:off x="-911654" y="10423351"/>
            <a:ext cx="3032298" cy="4371704"/>
          </a:xfrm>
          <a:custGeom>
            <a:avLst/>
            <a:gdLst/>
            <a:ahLst/>
            <a:cxnLst/>
            <a:rect l="l" t="t" r="r" b="b"/>
            <a:pathLst>
              <a:path w="3032298" h="4371704">
                <a:moveTo>
                  <a:pt x="0" y="0"/>
                </a:moveTo>
                <a:lnTo>
                  <a:pt x="3032299" y="0"/>
                </a:lnTo>
                <a:lnTo>
                  <a:pt x="3032299" y="4371703"/>
                </a:lnTo>
                <a:lnTo>
                  <a:pt x="0" y="4371703"/>
                </a:lnTo>
                <a:lnTo>
                  <a:pt x="0" y="0"/>
                </a:lnTo>
                <a:close/>
              </a:path>
            </a:pathLst>
          </a:custGeom>
          <a:blipFill>
            <a:blip r:embed="rId6"/>
            <a:stretch>
              <a:fillRect t="-23218"/>
            </a:stretch>
          </a:blipFill>
          <a:ln cap="sq">
            <a:noFill/>
            <a:prstDash val="solid"/>
            <a:miter/>
          </a:ln>
        </p:spPr>
      </p:sp>
      <p:sp>
        <p:nvSpPr>
          <p:cNvPr id="12" name="Freeform 12"/>
          <p:cNvSpPr/>
          <p:nvPr/>
        </p:nvSpPr>
        <p:spPr>
          <a:xfrm rot="-8100000">
            <a:off x="-1502595" y="10514871"/>
            <a:ext cx="3461368" cy="4639460"/>
          </a:xfrm>
          <a:custGeom>
            <a:avLst/>
            <a:gdLst/>
            <a:ahLst/>
            <a:cxnLst/>
            <a:rect l="l" t="t" r="r" b="b"/>
            <a:pathLst>
              <a:path w="3461368" h="4639460">
                <a:moveTo>
                  <a:pt x="0" y="0"/>
                </a:moveTo>
                <a:lnTo>
                  <a:pt x="3461368" y="0"/>
                </a:lnTo>
                <a:lnTo>
                  <a:pt x="3461368" y="4639459"/>
                </a:lnTo>
                <a:lnTo>
                  <a:pt x="0" y="4639459"/>
                </a:lnTo>
                <a:lnTo>
                  <a:pt x="0" y="0"/>
                </a:lnTo>
                <a:close/>
              </a:path>
            </a:pathLst>
          </a:custGeom>
          <a:blipFill>
            <a:blip r:embed="rId7"/>
            <a:stretch>
              <a:fillRect t="-32536"/>
            </a:stretch>
          </a:blipFill>
          <a:ln cap="sq">
            <a:noFill/>
            <a:prstDash val="solid"/>
            <a:miter/>
          </a:ln>
        </p:spPr>
      </p:sp>
      <p:sp>
        <p:nvSpPr>
          <p:cNvPr id="13" name="Freeform 13"/>
          <p:cNvSpPr/>
          <p:nvPr/>
        </p:nvSpPr>
        <p:spPr>
          <a:xfrm>
            <a:off x="4719622" y="-189959"/>
            <a:ext cx="8601105" cy="11468140"/>
          </a:xfrm>
          <a:custGeom>
            <a:avLst/>
            <a:gdLst/>
            <a:ahLst/>
            <a:cxnLst/>
            <a:rect l="l" t="t" r="r" b="b"/>
            <a:pathLst>
              <a:path w="8601105" h="11468140">
                <a:moveTo>
                  <a:pt x="0" y="0"/>
                </a:moveTo>
                <a:lnTo>
                  <a:pt x="8601106" y="0"/>
                </a:lnTo>
                <a:lnTo>
                  <a:pt x="8601106" y="11468140"/>
                </a:lnTo>
                <a:lnTo>
                  <a:pt x="0" y="11468140"/>
                </a:lnTo>
                <a:lnTo>
                  <a:pt x="0" y="0"/>
                </a:lnTo>
                <a:close/>
              </a:path>
            </a:pathLst>
          </a:custGeom>
          <a:blipFill>
            <a:blip r:embed="rId8"/>
            <a:stretch>
              <a:fillRect/>
            </a:stretch>
          </a:blipFill>
          <a:ln cap="sq">
            <a:noFill/>
            <a:prstDash val="solid"/>
            <a:miter/>
          </a:ln>
        </p:spPr>
      </p:sp>
      <p:sp>
        <p:nvSpPr>
          <p:cNvPr id="14" name="TextBox 14"/>
          <p:cNvSpPr txBox="1"/>
          <p:nvPr/>
        </p:nvSpPr>
        <p:spPr>
          <a:xfrm>
            <a:off x="17846392"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5" name="TextBox 15"/>
          <p:cNvSpPr txBox="1"/>
          <p:nvPr/>
        </p:nvSpPr>
        <p:spPr>
          <a:xfrm>
            <a:off x="-405352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6" name="TextBox 16"/>
          <p:cNvSpPr txBox="1"/>
          <p:nvPr/>
        </p:nvSpPr>
        <p:spPr>
          <a:xfrm>
            <a:off x="12050946" y="700430"/>
            <a:ext cx="4274460" cy="675590"/>
          </a:xfrm>
          <a:prstGeom prst="rect">
            <a:avLst/>
          </a:prstGeom>
        </p:spPr>
        <p:txBody>
          <a:bodyPr lIns="0" tIns="0" rIns="0" bIns="0" rtlCol="0" anchor="t">
            <a:spAutoFit/>
          </a:bodyPr>
          <a:lstStyle/>
          <a:p>
            <a:pPr algn="l">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7" name="TextBox 17"/>
          <p:cNvSpPr txBox="1"/>
          <p:nvPr/>
        </p:nvSpPr>
        <p:spPr>
          <a:xfrm>
            <a:off x="15251153" y="700430"/>
            <a:ext cx="2595239" cy="675590"/>
          </a:xfrm>
          <a:prstGeom prst="rect">
            <a:avLst/>
          </a:prstGeom>
        </p:spPr>
        <p:txBody>
          <a:bodyPr lIns="0" tIns="0" rIns="0" bIns="0" rtlCol="0" anchor="t">
            <a:spAutoFit/>
          </a:bodyPr>
          <a:lstStyle/>
          <a:p>
            <a:pPr algn="ctr">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18" name="TextBox 18"/>
          <p:cNvSpPr txBox="1"/>
          <p:nvPr/>
        </p:nvSpPr>
        <p:spPr>
          <a:xfrm>
            <a:off x="17499004"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19" name="TextBox 19"/>
          <p:cNvSpPr txBox="1"/>
          <p:nvPr/>
        </p:nvSpPr>
        <p:spPr>
          <a:xfrm>
            <a:off x="-3592561"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20" name="TextBox 20"/>
          <p:cNvSpPr txBox="1"/>
          <p:nvPr/>
        </p:nvSpPr>
        <p:spPr>
          <a:xfrm>
            <a:off x="17503576" y="3991513"/>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CHÍ</a:t>
            </a:r>
          </a:p>
          <a:p>
            <a:pPr algn="r">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21" name="TextBox 21"/>
          <p:cNvSpPr txBox="1"/>
          <p:nvPr/>
        </p:nvSpPr>
        <p:spPr>
          <a:xfrm>
            <a:off x="-3836837"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CHÍ</a:t>
            </a:r>
          </a:p>
          <a:p>
            <a:pPr algn="l">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22" name="TextBox 22"/>
          <p:cNvSpPr txBox="1"/>
          <p:nvPr/>
        </p:nvSpPr>
        <p:spPr>
          <a:xfrm>
            <a:off x="17950159" y="4007095"/>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ĐOÀN</a:t>
            </a:r>
          </a:p>
          <a:p>
            <a:pPr algn="r">
              <a:lnSpc>
                <a:spcPts val="9239"/>
              </a:lnSpc>
            </a:pPr>
            <a:r>
              <a:rPr lang="en-US" sz="7896" b="1">
                <a:solidFill>
                  <a:srgbClr val="0565EF"/>
                </a:solidFill>
                <a:latin typeface="Proxima Nova Heavy"/>
                <a:ea typeface="Proxima Nova Heavy"/>
                <a:cs typeface="Proxima Nova Heavy"/>
                <a:sym typeface="Proxima Nova Heavy"/>
              </a:rPr>
              <a:t>TRUng</a:t>
            </a:r>
          </a:p>
        </p:txBody>
      </p:sp>
      <p:sp>
        <p:nvSpPr>
          <p:cNvPr id="23" name="TextBox 23"/>
          <p:cNvSpPr txBox="1"/>
          <p:nvPr/>
        </p:nvSpPr>
        <p:spPr>
          <a:xfrm>
            <a:off x="-4053520" y="3991513"/>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ĐOÀN</a:t>
            </a:r>
          </a:p>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TRUNG</a:t>
            </a:r>
          </a:p>
        </p:txBody>
      </p:sp>
      <p:sp>
        <p:nvSpPr>
          <p:cNvPr id="24" name="TextBox 24"/>
          <p:cNvSpPr txBox="1"/>
          <p:nvPr/>
        </p:nvSpPr>
        <p:spPr>
          <a:xfrm>
            <a:off x="17684551"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QUAng minh</a:t>
            </a:r>
          </a:p>
        </p:txBody>
      </p:sp>
      <p:sp>
        <p:nvSpPr>
          <p:cNvPr id="25" name="TextBox 25"/>
          <p:cNvSpPr txBox="1"/>
          <p:nvPr/>
        </p:nvSpPr>
        <p:spPr>
          <a:xfrm>
            <a:off x="-4016766" y="4116546"/>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QUANG MINH</a:t>
            </a:r>
          </a:p>
        </p:txBody>
      </p:sp>
      <p:sp>
        <p:nvSpPr>
          <p:cNvPr id="26" name="TextBox 26"/>
          <p:cNvSpPr txBox="1"/>
          <p:nvPr/>
        </p:nvSpPr>
        <p:spPr>
          <a:xfrm>
            <a:off x="12940628" y="3968140"/>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DUY HOÀng</a:t>
            </a:r>
          </a:p>
        </p:txBody>
      </p:sp>
      <p:sp>
        <p:nvSpPr>
          <p:cNvPr id="27" name="TextBox 27"/>
          <p:cNvSpPr txBox="1"/>
          <p:nvPr/>
        </p:nvSpPr>
        <p:spPr>
          <a:xfrm>
            <a:off x="907085" y="3960349"/>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a:solidFill>
                  <a:srgbClr val="0565EF"/>
                </a:solidFill>
                <a:latin typeface="Proxima Nova Heavy"/>
                <a:ea typeface="Proxima Nova Heavy"/>
                <a:cs typeface="Proxima Nova Heavy"/>
                <a:sym typeface="Proxima Nova Heavy"/>
              </a:rPr>
              <a:t>DUY HOÀNG</a:t>
            </a:r>
          </a:p>
        </p:txBody>
      </p:sp>
      <p:sp>
        <p:nvSpPr>
          <p:cNvPr id="28" name="Freeform 28"/>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9"/>
            <a:stretch>
              <a:fillRect/>
            </a:stretch>
          </a:blipFill>
        </p:spPr>
      </p:sp>
      <p:sp>
        <p:nvSpPr>
          <p:cNvPr id="29" name="TextBox 29"/>
          <p:cNvSpPr txBox="1"/>
          <p:nvPr/>
        </p:nvSpPr>
        <p:spPr>
          <a:xfrm>
            <a:off x="17499004" y="4007095"/>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GIA LOng</a:t>
            </a:r>
          </a:p>
        </p:txBody>
      </p:sp>
      <p:sp>
        <p:nvSpPr>
          <p:cNvPr id="30" name="TextBox 30"/>
          <p:cNvSpPr txBox="1"/>
          <p:nvPr/>
        </p:nvSpPr>
        <p:spPr>
          <a:xfrm>
            <a:off x="-3427576" y="3952559"/>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a:solidFill>
                  <a:srgbClr val="0565EF"/>
                </a:solidFill>
                <a:latin typeface="Proxima Nova Heavy"/>
                <a:ea typeface="Proxima Nova Heavy"/>
                <a:cs typeface="Proxima Nova Heavy"/>
                <a:sym typeface="Proxima Nova Heavy"/>
              </a:rPr>
              <a:t>GIA LONG</a:t>
            </a:r>
          </a:p>
        </p:txBody>
      </p:sp>
      <p:sp>
        <p:nvSpPr>
          <p:cNvPr id="31" name="Freeform 31"/>
          <p:cNvSpPr/>
          <p:nvPr/>
        </p:nvSpPr>
        <p:spPr>
          <a:xfrm rot="8570648">
            <a:off x="15577489" y="10477816"/>
            <a:ext cx="3852175" cy="5136233"/>
          </a:xfrm>
          <a:custGeom>
            <a:avLst/>
            <a:gdLst/>
            <a:ahLst/>
            <a:cxnLst/>
            <a:rect l="l" t="t" r="r" b="b"/>
            <a:pathLst>
              <a:path w="3852175" h="5136233">
                <a:moveTo>
                  <a:pt x="0" y="0"/>
                </a:moveTo>
                <a:lnTo>
                  <a:pt x="3852174" y="0"/>
                </a:lnTo>
                <a:lnTo>
                  <a:pt x="3852174" y="5136233"/>
                </a:lnTo>
                <a:lnTo>
                  <a:pt x="0" y="5136233"/>
                </a:lnTo>
                <a:lnTo>
                  <a:pt x="0" y="0"/>
                </a:lnTo>
                <a:close/>
              </a:path>
            </a:pathLst>
          </a:custGeom>
          <a:blipFill>
            <a:blip r:embed="rId10"/>
            <a:stretch>
              <a:fillRect/>
            </a:stretch>
          </a:blipFill>
          <a:ln cap="sq">
            <a:noFill/>
            <a:prstDash val="solid"/>
            <a:miter/>
          </a:ln>
        </p:spPr>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3194249" y="-806251"/>
            <a:ext cx="11899502" cy="11899502"/>
            <a:chOff x="0" y="0"/>
            <a:chExt cx="15866002" cy="15866002"/>
          </a:xfrm>
        </p:grpSpPr>
        <p:sp>
          <p:nvSpPr>
            <p:cNvPr id="3" name="Freeform 3"/>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40000"/>
              </a:blip>
              <a:stretch>
                <a:fillRect/>
              </a:stretch>
            </a:blipFill>
          </p:spPr>
        </p:sp>
        <p:sp>
          <p:nvSpPr>
            <p:cNvPr id="4" name="Freeform 4"/>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40000"/>
              </a:blip>
              <a:stretch>
                <a:fillRect/>
              </a:stretch>
            </a:blipFill>
          </p:spPr>
        </p:sp>
        <p:grpSp>
          <p:nvGrpSpPr>
            <p:cNvPr id="5" name="Group 5"/>
            <p:cNvGrpSpPr/>
            <p:nvPr/>
          </p:nvGrpSpPr>
          <p:grpSpPr>
            <a:xfrm>
              <a:off x="2356647" y="3638293"/>
              <a:ext cx="11152708" cy="111527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565EF">
                      <a:alpha val="100000"/>
                    </a:srgbClr>
                  </a:gs>
                  <a:gs pos="100000">
                    <a:srgbClr val="50B2FF">
                      <a:alpha val="100000"/>
                    </a:srgbClr>
                  </a:gs>
                </a:gsLst>
                <a:lin ang="0"/>
              </a:gradFill>
            </p:spPr>
          </p:sp>
          <p:sp>
            <p:nvSpPr>
              <p:cNvPr id="7" name="TextBox 7"/>
              <p:cNvSpPr txBox="1"/>
              <p:nvPr/>
            </p:nvSpPr>
            <p:spPr>
              <a:xfrm>
                <a:off x="76200" y="76200"/>
                <a:ext cx="660400" cy="660400"/>
              </a:xfrm>
              <a:prstGeom prst="rect">
                <a:avLst/>
              </a:prstGeom>
            </p:spPr>
            <p:txBody>
              <a:bodyPr lIns="45640" tIns="45640" rIns="45640" bIns="45640" rtlCol="0" anchor="ctr"/>
              <a:lstStyle/>
              <a:p>
                <a:pPr algn="ctr">
                  <a:lnSpc>
                    <a:spcPts val="2351"/>
                  </a:lnSpc>
                </a:pPr>
                <a:endParaRPr/>
              </a:p>
            </p:txBody>
          </p:sp>
        </p:grpSp>
      </p:grpSp>
      <p:sp>
        <p:nvSpPr>
          <p:cNvPr id="8" name="Freeform 8"/>
          <p:cNvSpPr/>
          <p:nvPr/>
        </p:nvSpPr>
        <p:spPr>
          <a:xfrm rot="-8037303">
            <a:off x="252734" y="10552760"/>
            <a:ext cx="2588062" cy="3367753"/>
          </a:xfrm>
          <a:custGeom>
            <a:avLst/>
            <a:gdLst/>
            <a:ahLst/>
            <a:cxnLst/>
            <a:rect l="l" t="t" r="r" b="b"/>
            <a:pathLst>
              <a:path w="2588062" h="3367753">
                <a:moveTo>
                  <a:pt x="0" y="0"/>
                </a:moveTo>
                <a:lnTo>
                  <a:pt x="2588061" y="0"/>
                </a:lnTo>
                <a:lnTo>
                  <a:pt x="2588061" y="3367754"/>
                </a:lnTo>
                <a:lnTo>
                  <a:pt x="0" y="3367754"/>
                </a:lnTo>
                <a:lnTo>
                  <a:pt x="0" y="0"/>
                </a:lnTo>
                <a:close/>
              </a:path>
            </a:pathLst>
          </a:custGeom>
          <a:blipFill>
            <a:blip r:embed="rId3"/>
            <a:stretch>
              <a:fillRect t="-36518"/>
            </a:stretch>
          </a:blipFill>
        </p:spPr>
      </p:sp>
      <p:sp>
        <p:nvSpPr>
          <p:cNvPr id="9" name="Freeform 9"/>
          <p:cNvSpPr/>
          <p:nvPr/>
        </p:nvSpPr>
        <p:spPr>
          <a:xfrm rot="-8100000">
            <a:off x="65991" y="10554550"/>
            <a:ext cx="3848023" cy="4382201"/>
          </a:xfrm>
          <a:custGeom>
            <a:avLst/>
            <a:gdLst/>
            <a:ahLst/>
            <a:cxnLst/>
            <a:rect l="l" t="t" r="r" b="b"/>
            <a:pathLst>
              <a:path w="3848023" h="4382201">
                <a:moveTo>
                  <a:pt x="0" y="0"/>
                </a:moveTo>
                <a:lnTo>
                  <a:pt x="3848023" y="0"/>
                </a:lnTo>
                <a:lnTo>
                  <a:pt x="3848023" y="4382201"/>
                </a:lnTo>
                <a:lnTo>
                  <a:pt x="0" y="4382201"/>
                </a:lnTo>
                <a:lnTo>
                  <a:pt x="0" y="0"/>
                </a:lnTo>
                <a:close/>
              </a:path>
            </a:pathLst>
          </a:custGeom>
          <a:blipFill>
            <a:blip r:embed="rId4"/>
            <a:stretch>
              <a:fillRect t="-17080"/>
            </a:stretch>
          </a:blipFill>
          <a:ln cap="sq">
            <a:noFill/>
            <a:prstDash val="solid"/>
            <a:miter/>
          </a:ln>
        </p:spPr>
      </p:sp>
      <p:sp>
        <p:nvSpPr>
          <p:cNvPr id="10" name="Freeform 10"/>
          <p:cNvSpPr/>
          <p:nvPr/>
        </p:nvSpPr>
        <p:spPr>
          <a:xfrm rot="-8582062">
            <a:off x="-458181" y="10439137"/>
            <a:ext cx="2973762" cy="4233791"/>
          </a:xfrm>
          <a:custGeom>
            <a:avLst/>
            <a:gdLst/>
            <a:ahLst/>
            <a:cxnLst/>
            <a:rect l="l" t="t" r="r" b="b"/>
            <a:pathLst>
              <a:path w="2973762" h="4233791">
                <a:moveTo>
                  <a:pt x="0" y="0"/>
                </a:moveTo>
                <a:lnTo>
                  <a:pt x="2973762" y="0"/>
                </a:lnTo>
                <a:lnTo>
                  <a:pt x="2973762" y="4233791"/>
                </a:lnTo>
                <a:lnTo>
                  <a:pt x="0" y="4233791"/>
                </a:lnTo>
                <a:lnTo>
                  <a:pt x="0" y="0"/>
                </a:lnTo>
                <a:close/>
              </a:path>
            </a:pathLst>
          </a:custGeom>
          <a:blipFill>
            <a:blip r:embed="rId5"/>
            <a:stretch>
              <a:fillRect t="-24776"/>
            </a:stretch>
          </a:blipFill>
          <a:ln cap="sq">
            <a:noFill/>
            <a:prstDash val="solid"/>
            <a:miter/>
          </a:ln>
        </p:spPr>
      </p:sp>
      <p:sp>
        <p:nvSpPr>
          <p:cNvPr id="11" name="Freeform 11"/>
          <p:cNvSpPr/>
          <p:nvPr/>
        </p:nvSpPr>
        <p:spPr>
          <a:xfrm rot="-8277659">
            <a:off x="-911654" y="10423351"/>
            <a:ext cx="3032298" cy="4371704"/>
          </a:xfrm>
          <a:custGeom>
            <a:avLst/>
            <a:gdLst/>
            <a:ahLst/>
            <a:cxnLst/>
            <a:rect l="l" t="t" r="r" b="b"/>
            <a:pathLst>
              <a:path w="3032298" h="4371704">
                <a:moveTo>
                  <a:pt x="0" y="0"/>
                </a:moveTo>
                <a:lnTo>
                  <a:pt x="3032299" y="0"/>
                </a:lnTo>
                <a:lnTo>
                  <a:pt x="3032299" y="4371703"/>
                </a:lnTo>
                <a:lnTo>
                  <a:pt x="0" y="4371703"/>
                </a:lnTo>
                <a:lnTo>
                  <a:pt x="0" y="0"/>
                </a:lnTo>
                <a:close/>
              </a:path>
            </a:pathLst>
          </a:custGeom>
          <a:blipFill>
            <a:blip r:embed="rId6"/>
            <a:stretch>
              <a:fillRect t="-23218"/>
            </a:stretch>
          </a:blipFill>
          <a:ln cap="sq">
            <a:noFill/>
            <a:prstDash val="solid"/>
            <a:miter/>
          </a:ln>
        </p:spPr>
      </p:sp>
      <p:sp>
        <p:nvSpPr>
          <p:cNvPr id="12" name="Freeform 12"/>
          <p:cNvSpPr/>
          <p:nvPr/>
        </p:nvSpPr>
        <p:spPr>
          <a:xfrm rot="-8100000">
            <a:off x="-1502595" y="10514871"/>
            <a:ext cx="3461368" cy="4639460"/>
          </a:xfrm>
          <a:custGeom>
            <a:avLst/>
            <a:gdLst/>
            <a:ahLst/>
            <a:cxnLst/>
            <a:rect l="l" t="t" r="r" b="b"/>
            <a:pathLst>
              <a:path w="3461368" h="4639460">
                <a:moveTo>
                  <a:pt x="0" y="0"/>
                </a:moveTo>
                <a:lnTo>
                  <a:pt x="3461368" y="0"/>
                </a:lnTo>
                <a:lnTo>
                  <a:pt x="3461368" y="4639459"/>
                </a:lnTo>
                <a:lnTo>
                  <a:pt x="0" y="4639459"/>
                </a:lnTo>
                <a:lnTo>
                  <a:pt x="0" y="0"/>
                </a:lnTo>
                <a:close/>
              </a:path>
            </a:pathLst>
          </a:custGeom>
          <a:blipFill>
            <a:blip r:embed="rId7"/>
            <a:stretch>
              <a:fillRect t="-32536"/>
            </a:stretch>
          </a:blipFill>
          <a:ln cap="sq">
            <a:noFill/>
            <a:prstDash val="solid"/>
            <a:miter/>
          </a:ln>
        </p:spPr>
      </p:sp>
      <p:sp>
        <p:nvSpPr>
          <p:cNvPr id="13" name="Freeform 13"/>
          <p:cNvSpPr/>
          <p:nvPr/>
        </p:nvSpPr>
        <p:spPr>
          <a:xfrm rot="-8571654">
            <a:off x="-1082327" y="10498927"/>
            <a:ext cx="3978824" cy="5305098"/>
          </a:xfrm>
          <a:custGeom>
            <a:avLst/>
            <a:gdLst/>
            <a:ahLst/>
            <a:cxnLst/>
            <a:rect l="l" t="t" r="r" b="b"/>
            <a:pathLst>
              <a:path w="3978824" h="5305098">
                <a:moveTo>
                  <a:pt x="0" y="0"/>
                </a:moveTo>
                <a:lnTo>
                  <a:pt x="3978824" y="0"/>
                </a:lnTo>
                <a:lnTo>
                  <a:pt x="3978824" y="5305099"/>
                </a:lnTo>
                <a:lnTo>
                  <a:pt x="0" y="5305099"/>
                </a:lnTo>
                <a:lnTo>
                  <a:pt x="0" y="0"/>
                </a:lnTo>
                <a:close/>
              </a:path>
            </a:pathLst>
          </a:custGeom>
          <a:blipFill>
            <a:blip r:embed="rId8"/>
            <a:stretch>
              <a:fillRect/>
            </a:stretch>
          </a:blipFill>
          <a:ln cap="sq">
            <a:noFill/>
            <a:prstDash val="solid"/>
            <a:miter/>
          </a:ln>
        </p:spPr>
      </p:sp>
      <p:sp>
        <p:nvSpPr>
          <p:cNvPr id="14" name="Freeform 14"/>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9"/>
            <a:stretch>
              <a:fillRect/>
            </a:stretch>
          </a:blipFill>
        </p:spPr>
      </p:sp>
      <p:sp>
        <p:nvSpPr>
          <p:cNvPr id="15" name="Freeform 15"/>
          <p:cNvSpPr/>
          <p:nvPr/>
        </p:nvSpPr>
        <p:spPr>
          <a:xfrm>
            <a:off x="5383266" y="567385"/>
            <a:ext cx="7521467" cy="10028623"/>
          </a:xfrm>
          <a:custGeom>
            <a:avLst/>
            <a:gdLst/>
            <a:ahLst/>
            <a:cxnLst/>
            <a:rect l="l" t="t" r="r" b="b"/>
            <a:pathLst>
              <a:path w="7521467" h="10028623">
                <a:moveTo>
                  <a:pt x="0" y="0"/>
                </a:moveTo>
                <a:lnTo>
                  <a:pt x="7521468" y="0"/>
                </a:lnTo>
                <a:lnTo>
                  <a:pt x="7521468" y="10028623"/>
                </a:lnTo>
                <a:lnTo>
                  <a:pt x="0" y="10028623"/>
                </a:lnTo>
                <a:lnTo>
                  <a:pt x="0" y="0"/>
                </a:lnTo>
                <a:close/>
              </a:path>
            </a:pathLst>
          </a:custGeom>
          <a:blipFill>
            <a:blip r:embed="rId10"/>
            <a:stretch>
              <a:fillRect/>
            </a:stretch>
          </a:blipFill>
          <a:ln cap="sq">
            <a:noFill/>
            <a:prstDash val="solid"/>
            <a:miter/>
          </a:ln>
        </p:spPr>
      </p:sp>
      <p:sp>
        <p:nvSpPr>
          <p:cNvPr id="16" name="TextBox 16"/>
          <p:cNvSpPr txBox="1"/>
          <p:nvPr/>
        </p:nvSpPr>
        <p:spPr>
          <a:xfrm>
            <a:off x="17846392" y="4565614"/>
            <a:ext cx="4621261" cy="1174821"/>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LEAD</a:t>
            </a:r>
          </a:p>
        </p:txBody>
      </p:sp>
      <p:sp>
        <p:nvSpPr>
          <p:cNvPr id="17" name="TextBox 17"/>
          <p:cNvSpPr txBox="1"/>
          <p:nvPr/>
        </p:nvSpPr>
        <p:spPr>
          <a:xfrm>
            <a:off x="-4053520"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QUANG TUẤN</a:t>
            </a:r>
          </a:p>
        </p:txBody>
      </p:sp>
      <p:sp>
        <p:nvSpPr>
          <p:cNvPr id="18" name="TextBox 18"/>
          <p:cNvSpPr txBox="1"/>
          <p:nvPr/>
        </p:nvSpPr>
        <p:spPr>
          <a:xfrm>
            <a:off x="12050946" y="700430"/>
            <a:ext cx="4274460" cy="675590"/>
          </a:xfrm>
          <a:prstGeom prst="rect">
            <a:avLst/>
          </a:prstGeom>
        </p:spPr>
        <p:txBody>
          <a:bodyPr lIns="0" tIns="0" rIns="0" bIns="0" rtlCol="0" anchor="t">
            <a:spAutoFit/>
          </a:bodyPr>
          <a:lstStyle/>
          <a:p>
            <a:pPr algn="l">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THÀNH VIÊN</a:t>
            </a:r>
          </a:p>
        </p:txBody>
      </p:sp>
      <p:sp>
        <p:nvSpPr>
          <p:cNvPr id="19" name="TextBox 19"/>
          <p:cNvSpPr txBox="1"/>
          <p:nvPr/>
        </p:nvSpPr>
        <p:spPr>
          <a:xfrm>
            <a:off x="15251153" y="700430"/>
            <a:ext cx="2595239" cy="675590"/>
          </a:xfrm>
          <a:prstGeom prst="rect">
            <a:avLst/>
          </a:prstGeom>
        </p:spPr>
        <p:txBody>
          <a:bodyPr lIns="0" tIns="0" rIns="0" bIns="0" rtlCol="0" anchor="t">
            <a:spAutoFit/>
          </a:bodyPr>
          <a:lstStyle/>
          <a:p>
            <a:pPr algn="ctr">
              <a:lnSpc>
                <a:spcPts val="5366"/>
              </a:lnSpc>
            </a:pPr>
            <a:r>
              <a:rPr lang="en-US" sz="4586"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QALY</a:t>
            </a:r>
          </a:p>
        </p:txBody>
      </p:sp>
      <p:sp>
        <p:nvSpPr>
          <p:cNvPr id="20" name="TextBox 20"/>
          <p:cNvSpPr txBox="1"/>
          <p:nvPr/>
        </p:nvSpPr>
        <p:spPr>
          <a:xfrm>
            <a:off x="17499004"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21" name="TextBox 21"/>
          <p:cNvSpPr txBox="1"/>
          <p:nvPr/>
        </p:nvSpPr>
        <p:spPr>
          <a:xfrm>
            <a:off x="-3592561"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QUỐC BẢO</a:t>
            </a:r>
          </a:p>
        </p:txBody>
      </p:sp>
      <p:sp>
        <p:nvSpPr>
          <p:cNvPr id="22" name="TextBox 22"/>
          <p:cNvSpPr txBox="1"/>
          <p:nvPr/>
        </p:nvSpPr>
        <p:spPr>
          <a:xfrm>
            <a:off x="17503576" y="3991513"/>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CHÍ</a:t>
            </a:r>
          </a:p>
          <a:p>
            <a:pPr algn="r">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23" name="TextBox 23"/>
          <p:cNvSpPr txBox="1"/>
          <p:nvPr/>
        </p:nvSpPr>
        <p:spPr>
          <a:xfrm>
            <a:off x="-3836837" y="3975931"/>
            <a:ext cx="4621261" cy="2354187"/>
          </a:xfrm>
          <a:prstGeom prst="rect">
            <a:avLst/>
          </a:prstGeom>
        </p:spPr>
        <p:txBody>
          <a:bodyPr lIns="0" tIns="0" rIns="0" bIns="0" rtlCol="0" anchor="t">
            <a:spAutoFit/>
          </a:bodyPr>
          <a:lstStyle/>
          <a:p>
            <a:pPr algn="l">
              <a:lnSpc>
                <a:spcPts val="9239"/>
              </a:lnSpc>
            </a:pPr>
            <a:r>
              <a:rPr lang="en-US" sz="7896" b="1">
                <a:solidFill>
                  <a:srgbClr val="0565EF"/>
                </a:solidFill>
                <a:latin typeface="Proxima Nova Heavy"/>
                <a:ea typeface="Proxima Nova Heavy"/>
                <a:cs typeface="Proxima Nova Heavy"/>
                <a:sym typeface="Proxima Nova Heavy"/>
              </a:rPr>
              <a:t>CHÍ</a:t>
            </a:r>
          </a:p>
          <a:p>
            <a:pPr algn="l">
              <a:lnSpc>
                <a:spcPts val="9239"/>
              </a:lnSpc>
            </a:pPr>
            <a:r>
              <a:rPr lang="en-US" sz="7896" b="1">
                <a:solidFill>
                  <a:srgbClr val="0565EF"/>
                </a:solidFill>
                <a:latin typeface="Proxima Nova Heavy"/>
                <a:ea typeface="Proxima Nova Heavy"/>
                <a:cs typeface="Proxima Nova Heavy"/>
                <a:sym typeface="Proxima Nova Heavy"/>
              </a:rPr>
              <a:t>KHANG</a:t>
            </a:r>
          </a:p>
        </p:txBody>
      </p:sp>
      <p:sp>
        <p:nvSpPr>
          <p:cNvPr id="24" name="TextBox 24"/>
          <p:cNvSpPr txBox="1"/>
          <p:nvPr/>
        </p:nvSpPr>
        <p:spPr>
          <a:xfrm>
            <a:off x="17950159" y="4007095"/>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ĐOÀN</a:t>
            </a:r>
          </a:p>
          <a:p>
            <a:pPr algn="r">
              <a:lnSpc>
                <a:spcPts val="9239"/>
              </a:lnSpc>
            </a:pPr>
            <a:r>
              <a:rPr lang="en-US" sz="7896" b="1">
                <a:solidFill>
                  <a:srgbClr val="0565EF"/>
                </a:solidFill>
                <a:latin typeface="Proxima Nova Heavy"/>
                <a:ea typeface="Proxima Nova Heavy"/>
                <a:cs typeface="Proxima Nova Heavy"/>
                <a:sym typeface="Proxima Nova Heavy"/>
              </a:rPr>
              <a:t>TRUng</a:t>
            </a:r>
          </a:p>
        </p:txBody>
      </p:sp>
      <p:sp>
        <p:nvSpPr>
          <p:cNvPr id="25" name="TextBox 25"/>
          <p:cNvSpPr txBox="1"/>
          <p:nvPr/>
        </p:nvSpPr>
        <p:spPr>
          <a:xfrm>
            <a:off x="-4053520" y="3991513"/>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ĐOÀN</a:t>
            </a:r>
          </a:p>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TRUNG</a:t>
            </a:r>
          </a:p>
        </p:txBody>
      </p:sp>
      <p:sp>
        <p:nvSpPr>
          <p:cNvPr id="26" name="TextBox 26"/>
          <p:cNvSpPr txBox="1"/>
          <p:nvPr/>
        </p:nvSpPr>
        <p:spPr>
          <a:xfrm>
            <a:off x="17684551" y="3975931"/>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QUAng minh</a:t>
            </a:r>
          </a:p>
        </p:txBody>
      </p:sp>
      <p:sp>
        <p:nvSpPr>
          <p:cNvPr id="27" name="TextBox 27"/>
          <p:cNvSpPr txBox="1"/>
          <p:nvPr/>
        </p:nvSpPr>
        <p:spPr>
          <a:xfrm>
            <a:off x="-4016766" y="4116546"/>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u="none" strike="noStrike">
                <a:solidFill>
                  <a:srgbClr val="0565EF"/>
                </a:solidFill>
                <a:latin typeface="Proxima Nova Heavy"/>
                <a:ea typeface="Proxima Nova Heavy"/>
                <a:cs typeface="Proxima Nova Heavy"/>
                <a:sym typeface="Proxima Nova Heavy"/>
              </a:rPr>
              <a:t>QUANG MINH</a:t>
            </a:r>
          </a:p>
        </p:txBody>
      </p:sp>
      <p:sp>
        <p:nvSpPr>
          <p:cNvPr id="28" name="TextBox 28"/>
          <p:cNvSpPr txBox="1"/>
          <p:nvPr/>
        </p:nvSpPr>
        <p:spPr>
          <a:xfrm>
            <a:off x="17503576" y="4007095"/>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DUY HOÀng</a:t>
            </a:r>
          </a:p>
        </p:txBody>
      </p:sp>
      <p:sp>
        <p:nvSpPr>
          <p:cNvPr id="29" name="TextBox 29"/>
          <p:cNvSpPr txBox="1"/>
          <p:nvPr/>
        </p:nvSpPr>
        <p:spPr>
          <a:xfrm>
            <a:off x="-4016766" y="3983722"/>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a:solidFill>
                  <a:srgbClr val="0565EF"/>
                </a:solidFill>
                <a:latin typeface="Proxima Nova Heavy"/>
                <a:ea typeface="Proxima Nova Heavy"/>
                <a:cs typeface="Proxima Nova Heavy"/>
                <a:sym typeface="Proxima Nova Heavy"/>
              </a:rPr>
              <a:t>DUY HOÀNG</a:t>
            </a:r>
          </a:p>
        </p:txBody>
      </p:sp>
      <p:sp>
        <p:nvSpPr>
          <p:cNvPr id="30" name="TextBox 30"/>
          <p:cNvSpPr txBox="1"/>
          <p:nvPr/>
        </p:nvSpPr>
        <p:spPr>
          <a:xfrm>
            <a:off x="12940628" y="3968140"/>
            <a:ext cx="4621261" cy="2338605"/>
          </a:xfrm>
          <a:prstGeom prst="rect">
            <a:avLst/>
          </a:prstGeom>
        </p:spPr>
        <p:txBody>
          <a:bodyPr lIns="0" tIns="0" rIns="0" bIns="0" rtlCol="0" anchor="t">
            <a:spAutoFit/>
          </a:bodyPr>
          <a:lstStyle/>
          <a:p>
            <a:pPr algn="r">
              <a:lnSpc>
                <a:spcPts val="9239"/>
              </a:lnSpc>
            </a:pPr>
            <a:r>
              <a:rPr lang="en-US" sz="7896" b="1">
                <a:solidFill>
                  <a:srgbClr val="0565EF"/>
                </a:solidFill>
                <a:latin typeface="Proxima Nova Heavy"/>
                <a:ea typeface="Proxima Nova Heavy"/>
                <a:cs typeface="Proxima Nova Heavy"/>
                <a:sym typeface="Proxima Nova Heavy"/>
              </a:rPr>
              <a:t>GIA LOng</a:t>
            </a:r>
          </a:p>
        </p:txBody>
      </p:sp>
      <p:sp>
        <p:nvSpPr>
          <p:cNvPr id="31" name="TextBox 31"/>
          <p:cNvSpPr txBox="1"/>
          <p:nvPr/>
        </p:nvSpPr>
        <p:spPr>
          <a:xfrm>
            <a:off x="907085" y="3960349"/>
            <a:ext cx="4621261" cy="2354187"/>
          </a:xfrm>
          <a:prstGeom prst="rect">
            <a:avLst/>
          </a:prstGeom>
        </p:spPr>
        <p:txBody>
          <a:bodyPr lIns="0" tIns="0" rIns="0" bIns="0" rtlCol="0" anchor="t">
            <a:spAutoFit/>
          </a:bodyPr>
          <a:lstStyle/>
          <a:p>
            <a:pPr marL="0" lvl="0" indent="0" algn="l">
              <a:lnSpc>
                <a:spcPts val="9239"/>
              </a:lnSpc>
              <a:spcBef>
                <a:spcPct val="0"/>
              </a:spcBef>
            </a:pPr>
            <a:r>
              <a:rPr lang="en-US" sz="7896" b="1">
                <a:solidFill>
                  <a:srgbClr val="0565EF"/>
                </a:solidFill>
                <a:latin typeface="Proxima Nova Heavy"/>
                <a:ea typeface="Proxima Nova Heavy"/>
                <a:cs typeface="Proxima Nova Heavy"/>
                <a:sym typeface="Proxima Nova Heavy"/>
              </a:rPr>
              <a:t>GIA LONG</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flipH="1">
            <a:off x="10995947" y="687932"/>
            <a:ext cx="9575090" cy="9807733"/>
          </a:xfrm>
          <a:custGeom>
            <a:avLst/>
            <a:gdLst/>
            <a:ahLst/>
            <a:cxnLst/>
            <a:rect l="l" t="t" r="r" b="b"/>
            <a:pathLst>
              <a:path w="9575090" h="9807733">
                <a:moveTo>
                  <a:pt x="9575091" y="0"/>
                </a:moveTo>
                <a:lnTo>
                  <a:pt x="0" y="0"/>
                </a:lnTo>
                <a:lnTo>
                  <a:pt x="0" y="9807733"/>
                </a:lnTo>
                <a:lnTo>
                  <a:pt x="9575091" y="9807733"/>
                </a:lnTo>
                <a:lnTo>
                  <a:pt x="9575091" y="0"/>
                </a:lnTo>
                <a:close/>
              </a:path>
            </a:pathLst>
          </a:custGeom>
          <a:blipFill>
            <a:blip r:embed="rId3"/>
            <a:stretch>
              <a:fillRect/>
            </a:stretch>
          </a:blipFill>
        </p:spPr>
      </p:sp>
      <p:sp>
        <p:nvSpPr>
          <p:cNvPr id="3" name="Freeform 3"/>
          <p:cNvSpPr/>
          <p:nvPr/>
        </p:nvSpPr>
        <p:spPr>
          <a:xfrm>
            <a:off x="-1330763" y="3508900"/>
            <a:ext cx="6821037" cy="6986765"/>
          </a:xfrm>
          <a:custGeom>
            <a:avLst/>
            <a:gdLst/>
            <a:ahLst/>
            <a:cxnLst/>
            <a:rect l="l" t="t" r="r" b="b"/>
            <a:pathLst>
              <a:path w="6821037" h="6986765">
                <a:moveTo>
                  <a:pt x="0" y="0"/>
                </a:moveTo>
                <a:lnTo>
                  <a:pt x="6821036" y="0"/>
                </a:lnTo>
                <a:lnTo>
                  <a:pt x="6821036" y="6986765"/>
                </a:lnTo>
                <a:lnTo>
                  <a:pt x="0" y="6986765"/>
                </a:lnTo>
                <a:lnTo>
                  <a:pt x="0" y="0"/>
                </a:lnTo>
                <a:close/>
              </a:path>
            </a:pathLst>
          </a:custGeom>
          <a:blipFill>
            <a:blip r:embed="rId4"/>
            <a:stretch>
              <a:fillRect/>
            </a:stretch>
          </a:blipFill>
        </p:spPr>
      </p:sp>
      <p:grpSp>
        <p:nvGrpSpPr>
          <p:cNvPr id="4" name="Group 4"/>
          <p:cNvGrpSpPr/>
          <p:nvPr/>
        </p:nvGrpSpPr>
        <p:grpSpPr>
          <a:xfrm>
            <a:off x="-184341" y="-411125"/>
            <a:ext cx="18829688" cy="10936268"/>
            <a:chOff x="0" y="0"/>
            <a:chExt cx="4959260" cy="2880334"/>
          </a:xfrm>
        </p:grpSpPr>
        <p:sp>
          <p:nvSpPr>
            <p:cNvPr id="5" name="Freeform 5"/>
            <p:cNvSpPr/>
            <p:nvPr/>
          </p:nvSpPr>
          <p:spPr>
            <a:xfrm>
              <a:off x="0" y="0"/>
              <a:ext cx="4959260" cy="2880334"/>
            </a:xfrm>
            <a:custGeom>
              <a:avLst/>
              <a:gdLst/>
              <a:ahLst/>
              <a:cxnLst/>
              <a:rect l="l" t="t" r="r" b="b"/>
              <a:pathLst>
                <a:path w="4959260" h="2880334">
                  <a:moveTo>
                    <a:pt x="0" y="0"/>
                  </a:moveTo>
                  <a:lnTo>
                    <a:pt x="4959260" y="0"/>
                  </a:lnTo>
                  <a:lnTo>
                    <a:pt x="4959260" y="2880334"/>
                  </a:lnTo>
                  <a:lnTo>
                    <a:pt x="0" y="2880334"/>
                  </a:lnTo>
                  <a:close/>
                </a:path>
              </a:pathLst>
            </a:custGeom>
            <a:gradFill rotWithShape="1">
              <a:gsLst>
                <a:gs pos="0">
                  <a:srgbClr val="EFFEFD">
                    <a:alpha val="0"/>
                  </a:srgbClr>
                </a:gs>
                <a:gs pos="100000">
                  <a:srgbClr val="F4FFFE">
                    <a:alpha val="100000"/>
                  </a:srgbClr>
                </a:gs>
              </a:gsLst>
              <a:lin ang="5400000"/>
            </a:gradFill>
          </p:spPr>
        </p:sp>
        <p:sp>
          <p:nvSpPr>
            <p:cNvPr id="6" name="TextBox 6"/>
            <p:cNvSpPr txBox="1"/>
            <p:nvPr/>
          </p:nvSpPr>
          <p:spPr>
            <a:xfrm>
              <a:off x="0" y="0"/>
              <a:ext cx="4959260" cy="2880334"/>
            </a:xfrm>
            <a:prstGeom prst="rect">
              <a:avLst/>
            </a:prstGeom>
          </p:spPr>
          <p:txBody>
            <a:bodyPr lIns="50800" tIns="50800" rIns="50800" bIns="50800" rtlCol="0" anchor="ctr"/>
            <a:lstStyle/>
            <a:p>
              <a:pPr algn="ctr">
                <a:lnSpc>
                  <a:spcPts val="2340"/>
                </a:lnSpc>
              </a:pPr>
              <a:endParaRPr/>
            </a:p>
          </p:txBody>
        </p:sp>
      </p:grpSp>
      <p:sp>
        <p:nvSpPr>
          <p:cNvPr id="7" name="TextBox 7"/>
          <p:cNvSpPr txBox="1"/>
          <p:nvPr/>
        </p:nvSpPr>
        <p:spPr>
          <a:xfrm>
            <a:off x="1028700" y="1047750"/>
            <a:ext cx="11764204" cy="1192530"/>
          </a:xfrm>
          <a:prstGeom prst="rect">
            <a:avLst/>
          </a:prstGeom>
        </p:spPr>
        <p:txBody>
          <a:bodyPr lIns="0" tIns="0" rIns="0" bIns="0" rtlCol="0" anchor="t">
            <a:spAutoFit/>
          </a:bodyPr>
          <a:lstStyle/>
          <a:p>
            <a:pPr algn="l">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VẤN ĐỀ THỰC TẾ</a:t>
            </a:r>
          </a:p>
        </p:txBody>
      </p:sp>
      <p:grpSp>
        <p:nvGrpSpPr>
          <p:cNvPr id="8" name="Group 8"/>
          <p:cNvGrpSpPr/>
          <p:nvPr/>
        </p:nvGrpSpPr>
        <p:grpSpPr>
          <a:xfrm>
            <a:off x="11669762" y="781426"/>
            <a:ext cx="4718446" cy="8724149"/>
            <a:chOff x="0" y="0"/>
            <a:chExt cx="6291262" cy="11632198"/>
          </a:xfrm>
        </p:grpSpPr>
        <p:grpSp>
          <p:nvGrpSpPr>
            <p:cNvPr id="9" name="Group 9"/>
            <p:cNvGrpSpPr/>
            <p:nvPr/>
          </p:nvGrpSpPr>
          <p:grpSpPr>
            <a:xfrm rot="5400000">
              <a:off x="1472858" y="-832867"/>
              <a:ext cx="3706133" cy="5371867"/>
              <a:chOff x="0" y="0"/>
              <a:chExt cx="1043110" cy="1511940"/>
            </a:xfrm>
          </p:grpSpPr>
          <p:sp>
            <p:nvSpPr>
              <p:cNvPr id="10" name="Freeform 10"/>
              <p:cNvSpPr/>
              <p:nvPr/>
            </p:nvSpPr>
            <p:spPr>
              <a:xfrm>
                <a:off x="0" y="0"/>
                <a:ext cx="1043110" cy="1511940"/>
              </a:xfrm>
              <a:custGeom>
                <a:avLst/>
                <a:gdLst/>
                <a:ahLst/>
                <a:cxnLst/>
                <a:rect l="l" t="t" r="r" b="b"/>
                <a:pathLst>
                  <a:path w="1043110" h="1511940">
                    <a:moveTo>
                      <a:pt x="89128" y="0"/>
                    </a:moveTo>
                    <a:lnTo>
                      <a:pt x="953982" y="0"/>
                    </a:lnTo>
                    <a:cubicBezTo>
                      <a:pt x="1003206" y="0"/>
                      <a:pt x="1043110" y="39904"/>
                      <a:pt x="1043110" y="89128"/>
                    </a:cubicBezTo>
                    <a:lnTo>
                      <a:pt x="1043110" y="1422812"/>
                    </a:lnTo>
                    <a:cubicBezTo>
                      <a:pt x="1043110" y="1472036"/>
                      <a:pt x="1003206" y="1511940"/>
                      <a:pt x="953982" y="1511940"/>
                    </a:cubicBezTo>
                    <a:lnTo>
                      <a:pt x="89128" y="1511940"/>
                    </a:lnTo>
                    <a:cubicBezTo>
                      <a:pt x="39904" y="1511940"/>
                      <a:pt x="0" y="1472036"/>
                      <a:pt x="0" y="1422812"/>
                    </a:cubicBezTo>
                    <a:lnTo>
                      <a:pt x="0" y="89128"/>
                    </a:lnTo>
                    <a:cubicBezTo>
                      <a:pt x="0" y="39904"/>
                      <a:pt x="39904" y="0"/>
                      <a:pt x="89128" y="0"/>
                    </a:cubicBezTo>
                    <a:close/>
                  </a:path>
                </a:pathLst>
              </a:custGeom>
              <a:solidFill>
                <a:srgbClr val="FFFFFF"/>
              </a:solidFill>
            </p:spPr>
          </p:sp>
          <p:sp>
            <p:nvSpPr>
              <p:cNvPr id="11" name="TextBox 11"/>
              <p:cNvSpPr txBox="1"/>
              <p:nvPr/>
            </p:nvSpPr>
            <p:spPr>
              <a:xfrm>
                <a:off x="0" y="0"/>
                <a:ext cx="1043110" cy="1511940"/>
              </a:xfrm>
              <a:prstGeom prst="rect">
                <a:avLst/>
              </a:prstGeom>
            </p:spPr>
            <p:txBody>
              <a:bodyPr lIns="47127" tIns="47127" rIns="47127" bIns="47127" rtlCol="0" anchor="ctr"/>
              <a:lstStyle/>
              <a:p>
                <a:pPr marL="0" lvl="0" indent="0" algn="ctr">
                  <a:lnSpc>
                    <a:spcPts val="2340"/>
                  </a:lnSpc>
                  <a:spcBef>
                    <a:spcPct val="0"/>
                  </a:spcBef>
                </a:pPr>
                <a:endParaRPr/>
              </a:p>
            </p:txBody>
          </p:sp>
        </p:grpSp>
        <p:grpSp>
          <p:nvGrpSpPr>
            <p:cNvPr id="12" name="Group 12"/>
            <p:cNvGrpSpPr/>
            <p:nvPr/>
          </p:nvGrpSpPr>
          <p:grpSpPr>
            <a:xfrm rot="5400000">
              <a:off x="1472858" y="3130850"/>
              <a:ext cx="3706133" cy="5371867"/>
              <a:chOff x="0" y="0"/>
              <a:chExt cx="1043110" cy="1511940"/>
            </a:xfrm>
          </p:grpSpPr>
          <p:sp>
            <p:nvSpPr>
              <p:cNvPr id="13" name="Freeform 13"/>
              <p:cNvSpPr/>
              <p:nvPr/>
            </p:nvSpPr>
            <p:spPr>
              <a:xfrm>
                <a:off x="0" y="0"/>
                <a:ext cx="1043110" cy="1511940"/>
              </a:xfrm>
              <a:custGeom>
                <a:avLst/>
                <a:gdLst/>
                <a:ahLst/>
                <a:cxnLst/>
                <a:rect l="l" t="t" r="r" b="b"/>
                <a:pathLst>
                  <a:path w="1043110" h="1511940">
                    <a:moveTo>
                      <a:pt x="89128" y="0"/>
                    </a:moveTo>
                    <a:lnTo>
                      <a:pt x="953982" y="0"/>
                    </a:lnTo>
                    <a:cubicBezTo>
                      <a:pt x="1003206" y="0"/>
                      <a:pt x="1043110" y="39904"/>
                      <a:pt x="1043110" y="89128"/>
                    </a:cubicBezTo>
                    <a:lnTo>
                      <a:pt x="1043110" y="1422812"/>
                    </a:lnTo>
                    <a:cubicBezTo>
                      <a:pt x="1043110" y="1472036"/>
                      <a:pt x="1003206" y="1511940"/>
                      <a:pt x="953982" y="1511940"/>
                    </a:cubicBezTo>
                    <a:lnTo>
                      <a:pt x="89128" y="1511940"/>
                    </a:lnTo>
                    <a:cubicBezTo>
                      <a:pt x="39904" y="1511940"/>
                      <a:pt x="0" y="1472036"/>
                      <a:pt x="0" y="1422812"/>
                    </a:cubicBezTo>
                    <a:lnTo>
                      <a:pt x="0" y="89128"/>
                    </a:lnTo>
                    <a:cubicBezTo>
                      <a:pt x="0" y="39904"/>
                      <a:pt x="39904" y="0"/>
                      <a:pt x="89128" y="0"/>
                    </a:cubicBezTo>
                    <a:close/>
                  </a:path>
                </a:pathLst>
              </a:custGeom>
              <a:solidFill>
                <a:srgbClr val="FFFFFF"/>
              </a:solidFill>
            </p:spPr>
          </p:sp>
          <p:sp>
            <p:nvSpPr>
              <p:cNvPr id="14" name="TextBox 14"/>
              <p:cNvSpPr txBox="1"/>
              <p:nvPr/>
            </p:nvSpPr>
            <p:spPr>
              <a:xfrm>
                <a:off x="0" y="0"/>
                <a:ext cx="1043110" cy="1511940"/>
              </a:xfrm>
              <a:prstGeom prst="rect">
                <a:avLst/>
              </a:prstGeom>
            </p:spPr>
            <p:txBody>
              <a:bodyPr lIns="47127" tIns="47127" rIns="47127" bIns="47127" rtlCol="0" anchor="ctr"/>
              <a:lstStyle/>
              <a:p>
                <a:pPr marL="0" lvl="0" indent="0" algn="ctr">
                  <a:lnSpc>
                    <a:spcPts val="2340"/>
                  </a:lnSpc>
                  <a:spcBef>
                    <a:spcPct val="0"/>
                  </a:spcBef>
                </a:pPr>
                <a:endParaRPr/>
              </a:p>
            </p:txBody>
          </p:sp>
        </p:grpSp>
        <p:grpSp>
          <p:nvGrpSpPr>
            <p:cNvPr id="15" name="Group 15"/>
            <p:cNvGrpSpPr/>
            <p:nvPr/>
          </p:nvGrpSpPr>
          <p:grpSpPr>
            <a:xfrm rot="5400000">
              <a:off x="1472858" y="7093199"/>
              <a:ext cx="3706133" cy="5371867"/>
              <a:chOff x="0" y="0"/>
              <a:chExt cx="1043110" cy="1511940"/>
            </a:xfrm>
          </p:grpSpPr>
          <p:sp>
            <p:nvSpPr>
              <p:cNvPr id="16" name="Freeform 16"/>
              <p:cNvSpPr/>
              <p:nvPr/>
            </p:nvSpPr>
            <p:spPr>
              <a:xfrm>
                <a:off x="0" y="0"/>
                <a:ext cx="1043110" cy="1511940"/>
              </a:xfrm>
              <a:custGeom>
                <a:avLst/>
                <a:gdLst/>
                <a:ahLst/>
                <a:cxnLst/>
                <a:rect l="l" t="t" r="r" b="b"/>
                <a:pathLst>
                  <a:path w="1043110" h="1511940">
                    <a:moveTo>
                      <a:pt x="89128" y="0"/>
                    </a:moveTo>
                    <a:lnTo>
                      <a:pt x="953982" y="0"/>
                    </a:lnTo>
                    <a:cubicBezTo>
                      <a:pt x="1003206" y="0"/>
                      <a:pt x="1043110" y="39904"/>
                      <a:pt x="1043110" y="89128"/>
                    </a:cubicBezTo>
                    <a:lnTo>
                      <a:pt x="1043110" y="1422812"/>
                    </a:lnTo>
                    <a:cubicBezTo>
                      <a:pt x="1043110" y="1472036"/>
                      <a:pt x="1003206" y="1511940"/>
                      <a:pt x="953982" y="1511940"/>
                    </a:cubicBezTo>
                    <a:lnTo>
                      <a:pt x="89128" y="1511940"/>
                    </a:lnTo>
                    <a:cubicBezTo>
                      <a:pt x="39904" y="1511940"/>
                      <a:pt x="0" y="1472036"/>
                      <a:pt x="0" y="1422812"/>
                    </a:cubicBezTo>
                    <a:lnTo>
                      <a:pt x="0" y="89128"/>
                    </a:lnTo>
                    <a:cubicBezTo>
                      <a:pt x="0" y="39904"/>
                      <a:pt x="39904" y="0"/>
                      <a:pt x="89128" y="0"/>
                    </a:cubicBezTo>
                    <a:close/>
                  </a:path>
                </a:pathLst>
              </a:custGeom>
              <a:solidFill>
                <a:srgbClr val="FFFFFF"/>
              </a:solidFill>
            </p:spPr>
          </p:sp>
          <p:sp>
            <p:nvSpPr>
              <p:cNvPr id="17" name="TextBox 17"/>
              <p:cNvSpPr txBox="1"/>
              <p:nvPr/>
            </p:nvSpPr>
            <p:spPr>
              <a:xfrm>
                <a:off x="0" y="0"/>
                <a:ext cx="1043110" cy="1511940"/>
              </a:xfrm>
              <a:prstGeom prst="rect">
                <a:avLst/>
              </a:prstGeom>
            </p:spPr>
            <p:txBody>
              <a:bodyPr lIns="47127" tIns="47127" rIns="47127" bIns="47127" rtlCol="0" anchor="ctr"/>
              <a:lstStyle/>
              <a:p>
                <a:pPr marL="0" lvl="0" indent="0" algn="ctr">
                  <a:lnSpc>
                    <a:spcPts val="2340"/>
                  </a:lnSpc>
                  <a:spcBef>
                    <a:spcPct val="0"/>
                  </a:spcBef>
                </a:pPr>
                <a:endParaRPr/>
              </a:p>
            </p:txBody>
          </p:sp>
        </p:grpSp>
        <p:sp>
          <p:nvSpPr>
            <p:cNvPr id="18" name="TextBox 18"/>
            <p:cNvSpPr txBox="1"/>
            <p:nvPr/>
          </p:nvSpPr>
          <p:spPr>
            <a:xfrm>
              <a:off x="0" y="277817"/>
              <a:ext cx="3607409" cy="2874274"/>
            </a:xfrm>
            <a:prstGeom prst="rect">
              <a:avLst/>
            </a:prstGeom>
          </p:spPr>
          <p:txBody>
            <a:bodyPr lIns="0" tIns="0" rIns="0" bIns="0" rtlCol="0" anchor="t">
              <a:spAutoFit/>
            </a:bodyPr>
            <a:lstStyle/>
            <a:p>
              <a:pPr algn="ctr">
                <a:lnSpc>
                  <a:spcPts val="14961"/>
                </a:lnSpc>
              </a:pPr>
              <a:r>
                <a:rPr lang="en-US" sz="12787" b="1" i="1">
                  <a:solidFill>
                    <a:srgbClr val="B2DCFF"/>
                  </a:solidFill>
                  <a:latin typeface="Heading Now 31-38 Bold Italics"/>
                  <a:ea typeface="Heading Now 31-38 Bold Italics"/>
                  <a:cs typeface="Heading Now 31-38 Bold Italics"/>
                  <a:sym typeface="Heading Now 31-38 Bold Italics"/>
                </a:rPr>
                <a:t>01</a:t>
              </a:r>
            </a:p>
          </p:txBody>
        </p:sp>
        <p:sp>
          <p:nvSpPr>
            <p:cNvPr id="19" name="TextBox 19"/>
            <p:cNvSpPr txBox="1"/>
            <p:nvPr/>
          </p:nvSpPr>
          <p:spPr>
            <a:xfrm>
              <a:off x="0" y="4240850"/>
              <a:ext cx="3607409" cy="2874274"/>
            </a:xfrm>
            <a:prstGeom prst="rect">
              <a:avLst/>
            </a:prstGeom>
          </p:spPr>
          <p:txBody>
            <a:bodyPr lIns="0" tIns="0" rIns="0" bIns="0" rtlCol="0" anchor="t">
              <a:spAutoFit/>
            </a:bodyPr>
            <a:lstStyle/>
            <a:p>
              <a:pPr algn="ctr">
                <a:lnSpc>
                  <a:spcPts val="14961"/>
                </a:lnSpc>
              </a:pPr>
              <a:r>
                <a:rPr lang="en-US" sz="12787" b="1" i="1">
                  <a:solidFill>
                    <a:srgbClr val="B2DCFF"/>
                  </a:solidFill>
                  <a:latin typeface="Heading Now 31-38 Bold Italics"/>
                  <a:ea typeface="Heading Now 31-38 Bold Italics"/>
                  <a:cs typeface="Heading Now 31-38 Bold Italics"/>
                  <a:sym typeface="Heading Now 31-38 Bold Italics"/>
                </a:rPr>
                <a:t>02</a:t>
              </a:r>
            </a:p>
          </p:txBody>
        </p:sp>
        <p:sp>
          <p:nvSpPr>
            <p:cNvPr id="20" name="TextBox 20"/>
            <p:cNvSpPr txBox="1"/>
            <p:nvPr/>
          </p:nvSpPr>
          <p:spPr>
            <a:xfrm>
              <a:off x="0" y="8203882"/>
              <a:ext cx="3607409" cy="2874274"/>
            </a:xfrm>
            <a:prstGeom prst="rect">
              <a:avLst/>
            </a:prstGeom>
          </p:spPr>
          <p:txBody>
            <a:bodyPr lIns="0" tIns="0" rIns="0" bIns="0" rtlCol="0" anchor="t">
              <a:spAutoFit/>
            </a:bodyPr>
            <a:lstStyle/>
            <a:p>
              <a:pPr algn="ctr">
                <a:lnSpc>
                  <a:spcPts val="14961"/>
                </a:lnSpc>
              </a:pPr>
              <a:r>
                <a:rPr lang="en-US" sz="12787" b="1" i="1">
                  <a:solidFill>
                    <a:srgbClr val="B2DCFF"/>
                  </a:solidFill>
                  <a:latin typeface="Heading Now 31-38 Bold Italics"/>
                  <a:ea typeface="Heading Now 31-38 Bold Italics"/>
                  <a:cs typeface="Heading Now 31-38 Bold Italics"/>
                  <a:sym typeface="Heading Now 31-38 Bold Italics"/>
                </a:rPr>
                <a:t>03</a:t>
              </a:r>
            </a:p>
          </p:txBody>
        </p:sp>
        <p:sp>
          <p:nvSpPr>
            <p:cNvPr id="21" name="TextBox 21"/>
            <p:cNvSpPr txBox="1"/>
            <p:nvPr/>
          </p:nvSpPr>
          <p:spPr>
            <a:xfrm>
              <a:off x="2982038" y="1157940"/>
              <a:ext cx="2488495" cy="1390253"/>
            </a:xfrm>
            <a:prstGeom prst="rect">
              <a:avLst/>
            </a:prstGeom>
          </p:spPr>
          <p:txBody>
            <a:bodyPr lIns="0" tIns="0" rIns="0" bIns="0" rtlCol="0" anchor="t">
              <a:spAutoFit/>
            </a:bodyPr>
            <a:lstStyle/>
            <a:p>
              <a:pPr marL="0" lvl="0" indent="0" algn="ctr">
                <a:lnSpc>
                  <a:spcPts val="2713"/>
                </a:lnSpc>
                <a:spcBef>
                  <a:spcPct val="0"/>
                </a:spcBef>
              </a:pPr>
              <a:r>
                <a:rPr lang="en-US" sz="2319" b="1" i="1">
                  <a:solidFill>
                    <a:srgbClr val="4E5454"/>
                  </a:solidFill>
                  <a:latin typeface="Proxima Nova Bold Italics"/>
                  <a:ea typeface="Proxima Nova Bold Italics"/>
                  <a:cs typeface="Proxima Nova Bold Italics"/>
                  <a:sym typeface="Proxima Nova Bold Italics"/>
                </a:rPr>
                <a:t>Excel</a:t>
              </a:r>
              <a:r>
                <a:rPr lang="en-US" sz="2319" b="1" i="1" u="none" strike="noStrike">
                  <a:solidFill>
                    <a:srgbClr val="4E5454"/>
                  </a:solidFill>
                  <a:latin typeface="Proxima Nova Bold Italics"/>
                  <a:ea typeface="Proxima Nova Bold Italics"/>
                  <a:cs typeface="Proxima Nova Bold Italics"/>
                  <a:sym typeface="Proxima Nova Bold Italics"/>
                </a:rPr>
                <a:t> + Email + Chat + File + Meeting</a:t>
              </a:r>
            </a:p>
          </p:txBody>
        </p:sp>
        <p:sp>
          <p:nvSpPr>
            <p:cNvPr id="22" name="TextBox 22"/>
            <p:cNvSpPr txBox="1"/>
            <p:nvPr/>
          </p:nvSpPr>
          <p:spPr>
            <a:xfrm>
              <a:off x="2317808" y="5618762"/>
              <a:ext cx="3973453" cy="471272"/>
            </a:xfrm>
            <a:prstGeom prst="rect">
              <a:avLst/>
            </a:prstGeom>
          </p:spPr>
          <p:txBody>
            <a:bodyPr lIns="0" tIns="0" rIns="0" bIns="0" rtlCol="0" anchor="t">
              <a:spAutoFit/>
            </a:bodyPr>
            <a:lstStyle/>
            <a:p>
              <a:pPr marL="0" lvl="0" indent="0" algn="ctr">
                <a:lnSpc>
                  <a:spcPts val="2713"/>
                </a:lnSpc>
                <a:spcBef>
                  <a:spcPct val="0"/>
                </a:spcBef>
              </a:pPr>
              <a:r>
                <a:rPr lang="en-US" sz="2319" b="1" i="1">
                  <a:solidFill>
                    <a:srgbClr val="4E5454"/>
                  </a:solidFill>
                  <a:latin typeface="Proxima Nova Bold Italics"/>
                  <a:ea typeface="Proxima Nova Bold Italics"/>
                  <a:cs typeface="Proxima Nova Bold Italics"/>
                  <a:sym typeface="Proxima Nova Bold Italics"/>
                </a:rPr>
                <a:t>Dữ</a:t>
              </a:r>
              <a:r>
                <a:rPr lang="en-US" sz="2319" b="1" i="1" u="none" strike="noStrike">
                  <a:solidFill>
                    <a:srgbClr val="4E5454"/>
                  </a:solidFill>
                  <a:latin typeface="Proxima Nova Bold Italics"/>
                  <a:ea typeface="Proxima Nova Bold Italics"/>
                  <a:cs typeface="Proxima Nova Bold Italics"/>
                  <a:sym typeface="Proxima Nova Bold Italics"/>
                </a:rPr>
                <a:t> liệu phân tán</a:t>
              </a:r>
            </a:p>
          </p:txBody>
        </p:sp>
        <p:sp>
          <p:nvSpPr>
            <p:cNvPr id="23" name="TextBox 23"/>
            <p:cNvSpPr txBox="1"/>
            <p:nvPr/>
          </p:nvSpPr>
          <p:spPr>
            <a:xfrm>
              <a:off x="2921610" y="9337781"/>
              <a:ext cx="2816649" cy="930763"/>
            </a:xfrm>
            <a:prstGeom prst="rect">
              <a:avLst/>
            </a:prstGeom>
          </p:spPr>
          <p:txBody>
            <a:bodyPr lIns="0" tIns="0" rIns="0" bIns="0" rtlCol="0" anchor="t">
              <a:spAutoFit/>
            </a:bodyPr>
            <a:lstStyle/>
            <a:p>
              <a:pPr marL="0" lvl="0" indent="0" algn="ctr">
                <a:lnSpc>
                  <a:spcPts val="2713"/>
                </a:lnSpc>
                <a:spcBef>
                  <a:spcPct val="0"/>
                </a:spcBef>
              </a:pPr>
              <a:r>
                <a:rPr lang="en-US" sz="2319" b="1" i="1">
                  <a:solidFill>
                    <a:srgbClr val="4E5454"/>
                  </a:solidFill>
                  <a:latin typeface="Proxima Nova Bold Italics"/>
                  <a:ea typeface="Proxima Nova Bold Italics"/>
                  <a:cs typeface="Proxima Nova Bold Italics"/>
                  <a:sym typeface="Proxima Nova Bold Italics"/>
                </a:rPr>
                <a:t>K</a:t>
              </a:r>
              <a:r>
                <a:rPr lang="en-US" sz="2319" b="1" i="1" u="none" strike="noStrike">
                  <a:solidFill>
                    <a:srgbClr val="4E5454"/>
                  </a:solidFill>
                  <a:latin typeface="Proxima Nova Bold Italics"/>
                  <a:ea typeface="Proxima Nova Bold Italics"/>
                  <a:cs typeface="Proxima Nova Bold Italics"/>
                  <a:sym typeface="Proxima Nova Bold Italics"/>
                </a:rPr>
                <a:t>hó quản lý / khó truy vết</a:t>
              </a:r>
            </a:p>
          </p:txBody>
        </p:sp>
        <p:sp>
          <p:nvSpPr>
            <p:cNvPr id="24" name="Freeform 24"/>
            <p:cNvSpPr/>
            <p:nvPr/>
          </p:nvSpPr>
          <p:spPr>
            <a:xfrm rot="5400000">
              <a:off x="3183704" y="3595379"/>
              <a:ext cx="558550" cy="544586"/>
            </a:xfrm>
            <a:custGeom>
              <a:avLst/>
              <a:gdLst/>
              <a:ahLst/>
              <a:cxnLst/>
              <a:rect l="l" t="t" r="r" b="b"/>
              <a:pathLst>
                <a:path w="558550" h="544586">
                  <a:moveTo>
                    <a:pt x="0" y="0"/>
                  </a:moveTo>
                  <a:lnTo>
                    <a:pt x="558549" y="0"/>
                  </a:lnTo>
                  <a:lnTo>
                    <a:pt x="558549" y="544586"/>
                  </a:lnTo>
                  <a:lnTo>
                    <a:pt x="0" y="5445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Freeform 25"/>
            <p:cNvSpPr/>
            <p:nvPr/>
          </p:nvSpPr>
          <p:spPr>
            <a:xfrm rot="5400000">
              <a:off x="3183704" y="7568832"/>
              <a:ext cx="558550" cy="544586"/>
            </a:xfrm>
            <a:custGeom>
              <a:avLst/>
              <a:gdLst/>
              <a:ahLst/>
              <a:cxnLst/>
              <a:rect l="l" t="t" r="r" b="b"/>
              <a:pathLst>
                <a:path w="558550" h="544586">
                  <a:moveTo>
                    <a:pt x="0" y="0"/>
                  </a:moveTo>
                  <a:lnTo>
                    <a:pt x="558549" y="0"/>
                  </a:lnTo>
                  <a:lnTo>
                    <a:pt x="558549" y="544586"/>
                  </a:lnTo>
                  <a:lnTo>
                    <a:pt x="0" y="5445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26" name="Group 26"/>
          <p:cNvGrpSpPr/>
          <p:nvPr/>
        </p:nvGrpSpPr>
        <p:grpSpPr>
          <a:xfrm>
            <a:off x="1293279" y="3508900"/>
            <a:ext cx="8780622" cy="4983605"/>
            <a:chOff x="0" y="0"/>
            <a:chExt cx="11707496" cy="6644807"/>
          </a:xfrm>
        </p:grpSpPr>
        <p:grpSp>
          <p:nvGrpSpPr>
            <p:cNvPr id="27" name="Group 27"/>
            <p:cNvGrpSpPr/>
            <p:nvPr/>
          </p:nvGrpSpPr>
          <p:grpSpPr>
            <a:xfrm>
              <a:off x="0" y="0"/>
              <a:ext cx="11707496" cy="965820"/>
              <a:chOff x="0" y="0"/>
              <a:chExt cx="4926305" cy="406400"/>
            </a:xfrm>
          </p:grpSpPr>
          <p:sp>
            <p:nvSpPr>
              <p:cNvPr id="28" name="Freeform 28"/>
              <p:cNvSpPr/>
              <p:nvPr/>
            </p:nvSpPr>
            <p:spPr>
              <a:xfrm>
                <a:off x="0" y="0"/>
                <a:ext cx="4926306" cy="406400"/>
              </a:xfrm>
              <a:custGeom>
                <a:avLst/>
                <a:gdLst/>
                <a:ahLst/>
                <a:cxnLst/>
                <a:rect l="l" t="t" r="r" b="b"/>
                <a:pathLst>
                  <a:path w="4926306" h="406400">
                    <a:moveTo>
                      <a:pt x="4723106" y="0"/>
                    </a:moveTo>
                    <a:cubicBezTo>
                      <a:pt x="4835330" y="0"/>
                      <a:pt x="4926306" y="90976"/>
                      <a:pt x="4926306" y="203200"/>
                    </a:cubicBezTo>
                    <a:cubicBezTo>
                      <a:pt x="4926306" y="315424"/>
                      <a:pt x="4835330" y="406400"/>
                      <a:pt x="4723106" y="406400"/>
                    </a:cubicBezTo>
                    <a:lnTo>
                      <a:pt x="203200" y="406400"/>
                    </a:lnTo>
                    <a:cubicBezTo>
                      <a:pt x="90976" y="406400"/>
                      <a:pt x="0" y="315424"/>
                      <a:pt x="0" y="203200"/>
                    </a:cubicBezTo>
                    <a:cubicBezTo>
                      <a:pt x="0" y="90976"/>
                      <a:pt x="90976" y="0"/>
                      <a:pt x="203200" y="0"/>
                    </a:cubicBezTo>
                    <a:lnTo>
                      <a:pt x="4723106"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29" name="TextBox 29"/>
              <p:cNvSpPr txBox="1"/>
              <p:nvPr/>
            </p:nvSpPr>
            <p:spPr>
              <a:xfrm>
                <a:off x="0" y="0"/>
                <a:ext cx="4926305" cy="406400"/>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30" name="TextBox 30"/>
            <p:cNvSpPr txBox="1"/>
            <p:nvPr/>
          </p:nvSpPr>
          <p:spPr>
            <a:xfrm>
              <a:off x="0" y="205388"/>
              <a:ext cx="11707496" cy="564570"/>
            </a:xfrm>
            <a:prstGeom prst="rect">
              <a:avLst/>
            </a:prstGeom>
          </p:spPr>
          <p:txBody>
            <a:bodyPr lIns="0" tIns="0" rIns="0" bIns="0" rtlCol="0" anchor="t">
              <a:spAutoFit/>
            </a:bodyPr>
            <a:lstStyle/>
            <a:p>
              <a:pPr algn="ctr">
                <a:lnSpc>
                  <a:spcPts val="3366"/>
                </a:lnSpc>
              </a:pPr>
              <a:r>
                <a:rPr lang="en-US" sz="2876" b="1">
                  <a:solidFill>
                    <a:srgbClr val="FFFFFF"/>
                  </a:solidFill>
                  <a:latin typeface="Proxima Nova Heavy"/>
                  <a:ea typeface="Proxima Nova Heavy"/>
                  <a:cs typeface="Proxima Nova Heavy"/>
                  <a:sym typeface="Proxima Nova Heavy"/>
                </a:rPr>
                <a:t>DỮ LIỆU DỰ ÁN BỊ PHÂN TÁN</a:t>
              </a:r>
            </a:p>
          </p:txBody>
        </p:sp>
        <p:grpSp>
          <p:nvGrpSpPr>
            <p:cNvPr id="31" name="Group 31"/>
            <p:cNvGrpSpPr/>
            <p:nvPr/>
          </p:nvGrpSpPr>
          <p:grpSpPr>
            <a:xfrm>
              <a:off x="0" y="1135797"/>
              <a:ext cx="11707496" cy="965820"/>
              <a:chOff x="0" y="0"/>
              <a:chExt cx="4926305" cy="406400"/>
            </a:xfrm>
          </p:grpSpPr>
          <p:sp>
            <p:nvSpPr>
              <p:cNvPr id="32" name="Freeform 32"/>
              <p:cNvSpPr/>
              <p:nvPr/>
            </p:nvSpPr>
            <p:spPr>
              <a:xfrm>
                <a:off x="0" y="0"/>
                <a:ext cx="4926306" cy="406400"/>
              </a:xfrm>
              <a:custGeom>
                <a:avLst/>
                <a:gdLst/>
                <a:ahLst/>
                <a:cxnLst/>
                <a:rect l="l" t="t" r="r" b="b"/>
                <a:pathLst>
                  <a:path w="4926306" h="406400">
                    <a:moveTo>
                      <a:pt x="4723106" y="0"/>
                    </a:moveTo>
                    <a:cubicBezTo>
                      <a:pt x="4835330" y="0"/>
                      <a:pt x="4926306" y="90976"/>
                      <a:pt x="4926306" y="203200"/>
                    </a:cubicBezTo>
                    <a:cubicBezTo>
                      <a:pt x="4926306" y="315424"/>
                      <a:pt x="4835330" y="406400"/>
                      <a:pt x="4723106" y="406400"/>
                    </a:cubicBezTo>
                    <a:lnTo>
                      <a:pt x="203200" y="406400"/>
                    </a:lnTo>
                    <a:cubicBezTo>
                      <a:pt x="90976" y="406400"/>
                      <a:pt x="0" y="315424"/>
                      <a:pt x="0" y="203200"/>
                    </a:cubicBezTo>
                    <a:cubicBezTo>
                      <a:pt x="0" y="90976"/>
                      <a:pt x="90976" y="0"/>
                      <a:pt x="203200" y="0"/>
                    </a:cubicBezTo>
                    <a:lnTo>
                      <a:pt x="4723106"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33" name="TextBox 33"/>
              <p:cNvSpPr txBox="1"/>
              <p:nvPr/>
            </p:nvSpPr>
            <p:spPr>
              <a:xfrm>
                <a:off x="0" y="0"/>
                <a:ext cx="4926305" cy="406400"/>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34" name="TextBox 34"/>
            <p:cNvSpPr txBox="1"/>
            <p:nvPr/>
          </p:nvSpPr>
          <p:spPr>
            <a:xfrm>
              <a:off x="0" y="1341185"/>
              <a:ext cx="11707496" cy="564570"/>
            </a:xfrm>
            <a:prstGeom prst="rect">
              <a:avLst/>
            </a:prstGeom>
          </p:spPr>
          <p:txBody>
            <a:bodyPr lIns="0" tIns="0" rIns="0" bIns="0" rtlCol="0" anchor="t">
              <a:spAutoFit/>
            </a:bodyPr>
            <a:lstStyle/>
            <a:p>
              <a:pPr algn="ctr">
                <a:lnSpc>
                  <a:spcPts val="3366"/>
                </a:lnSpc>
              </a:pPr>
              <a:r>
                <a:rPr lang="en-US" sz="2876" b="1">
                  <a:solidFill>
                    <a:srgbClr val="FFFFFF"/>
                  </a:solidFill>
                  <a:latin typeface="Proxima Nova Heavy"/>
                  <a:ea typeface="Proxima Nova Heavy"/>
                  <a:cs typeface="Proxima Nova Heavy"/>
                  <a:sym typeface="Proxima Nova Heavy"/>
                </a:rPr>
                <a:t>KHÓ THEO DÕI TRÁCH NHIỆM</a:t>
              </a:r>
            </a:p>
          </p:txBody>
        </p:sp>
        <p:grpSp>
          <p:nvGrpSpPr>
            <p:cNvPr id="35" name="Group 35"/>
            <p:cNvGrpSpPr/>
            <p:nvPr/>
          </p:nvGrpSpPr>
          <p:grpSpPr>
            <a:xfrm>
              <a:off x="0" y="2271595"/>
              <a:ext cx="11707496" cy="965820"/>
              <a:chOff x="0" y="0"/>
              <a:chExt cx="4926305" cy="406400"/>
            </a:xfrm>
          </p:grpSpPr>
          <p:sp>
            <p:nvSpPr>
              <p:cNvPr id="36" name="Freeform 36"/>
              <p:cNvSpPr/>
              <p:nvPr/>
            </p:nvSpPr>
            <p:spPr>
              <a:xfrm>
                <a:off x="0" y="0"/>
                <a:ext cx="4926306" cy="406400"/>
              </a:xfrm>
              <a:custGeom>
                <a:avLst/>
                <a:gdLst/>
                <a:ahLst/>
                <a:cxnLst/>
                <a:rect l="l" t="t" r="r" b="b"/>
                <a:pathLst>
                  <a:path w="4926306" h="406400">
                    <a:moveTo>
                      <a:pt x="4723106" y="0"/>
                    </a:moveTo>
                    <a:cubicBezTo>
                      <a:pt x="4835330" y="0"/>
                      <a:pt x="4926306" y="90976"/>
                      <a:pt x="4926306" y="203200"/>
                    </a:cubicBezTo>
                    <a:cubicBezTo>
                      <a:pt x="4926306" y="315424"/>
                      <a:pt x="4835330" y="406400"/>
                      <a:pt x="4723106" y="406400"/>
                    </a:cubicBezTo>
                    <a:lnTo>
                      <a:pt x="203200" y="406400"/>
                    </a:lnTo>
                    <a:cubicBezTo>
                      <a:pt x="90976" y="406400"/>
                      <a:pt x="0" y="315424"/>
                      <a:pt x="0" y="203200"/>
                    </a:cubicBezTo>
                    <a:cubicBezTo>
                      <a:pt x="0" y="90976"/>
                      <a:pt x="90976" y="0"/>
                      <a:pt x="203200" y="0"/>
                    </a:cubicBezTo>
                    <a:lnTo>
                      <a:pt x="4723106"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37" name="TextBox 37"/>
              <p:cNvSpPr txBox="1"/>
              <p:nvPr/>
            </p:nvSpPr>
            <p:spPr>
              <a:xfrm>
                <a:off x="0" y="0"/>
                <a:ext cx="4926305" cy="406400"/>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38" name="TextBox 38"/>
            <p:cNvSpPr txBox="1"/>
            <p:nvPr/>
          </p:nvSpPr>
          <p:spPr>
            <a:xfrm>
              <a:off x="0" y="2476982"/>
              <a:ext cx="11707496" cy="564570"/>
            </a:xfrm>
            <a:prstGeom prst="rect">
              <a:avLst/>
            </a:prstGeom>
          </p:spPr>
          <p:txBody>
            <a:bodyPr lIns="0" tIns="0" rIns="0" bIns="0" rtlCol="0" anchor="t">
              <a:spAutoFit/>
            </a:bodyPr>
            <a:lstStyle/>
            <a:p>
              <a:pPr algn="ctr">
                <a:lnSpc>
                  <a:spcPts val="3366"/>
                </a:lnSpc>
              </a:pPr>
              <a:r>
                <a:rPr lang="en-US" sz="2876" b="1">
                  <a:solidFill>
                    <a:srgbClr val="FFFFFF"/>
                  </a:solidFill>
                  <a:latin typeface="Proxima Nova Heavy"/>
                  <a:ea typeface="Proxima Nova Heavy"/>
                  <a:cs typeface="Proxima Nova Heavy"/>
                  <a:sym typeface="Proxima Nova Heavy"/>
                </a:rPr>
                <a:t>KHÓ KIỂM SOÁT TIẾN ĐỘ &amp; WORKLOAD</a:t>
              </a:r>
            </a:p>
          </p:txBody>
        </p:sp>
        <p:grpSp>
          <p:nvGrpSpPr>
            <p:cNvPr id="39" name="Group 39"/>
            <p:cNvGrpSpPr/>
            <p:nvPr/>
          </p:nvGrpSpPr>
          <p:grpSpPr>
            <a:xfrm>
              <a:off x="0" y="3407392"/>
              <a:ext cx="11707496" cy="965820"/>
              <a:chOff x="0" y="0"/>
              <a:chExt cx="4926305" cy="406400"/>
            </a:xfrm>
          </p:grpSpPr>
          <p:sp>
            <p:nvSpPr>
              <p:cNvPr id="40" name="Freeform 40"/>
              <p:cNvSpPr/>
              <p:nvPr/>
            </p:nvSpPr>
            <p:spPr>
              <a:xfrm>
                <a:off x="0" y="0"/>
                <a:ext cx="4926306" cy="406400"/>
              </a:xfrm>
              <a:custGeom>
                <a:avLst/>
                <a:gdLst/>
                <a:ahLst/>
                <a:cxnLst/>
                <a:rect l="l" t="t" r="r" b="b"/>
                <a:pathLst>
                  <a:path w="4926306" h="406400">
                    <a:moveTo>
                      <a:pt x="4723106" y="0"/>
                    </a:moveTo>
                    <a:cubicBezTo>
                      <a:pt x="4835330" y="0"/>
                      <a:pt x="4926306" y="90976"/>
                      <a:pt x="4926306" y="203200"/>
                    </a:cubicBezTo>
                    <a:cubicBezTo>
                      <a:pt x="4926306" y="315424"/>
                      <a:pt x="4835330" y="406400"/>
                      <a:pt x="4723106" y="406400"/>
                    </a:cubicBezTo>
                    <a:lnTo>
                      <a:pt x="203200" y="406400"/>
                    </a:lnTo>
                    <a:cubicBezTo>
                      <a:pt x="90976" y="406400"/>
                      <a:pt x="0" y="315424"/>
                      <a:pt x="0" y="203200"/>
                    </a:cubicBezTo>
                    <a:cubicBezTo>
                      <a:pt x="0" y="90976"/>
                      <a:pt x="90976" y="0"/>
                      <a:pt x="203200" y="0"/>
                    </a:cubicBezTo>
                    <a:lnTo>
                      <a:pt x="4723106"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41" name="TextBox 41"/>
              <p:cNvSpPr txBox="1"/>
              <p:nvPr/>
            </p:nvSpPr>
            <p:spPr>
              <a:xfrm>
                <a:off x="0" y="0"/>
                <a:ext cx="4926305" cy="406400"/>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42" name="TextBox 42"/>
            <p:cNvSpPr txBox="1"/>
            <p:nvPr/>
          </p:nvSpPr>
          <p:spPr>
            <a:xfrm>
              <a:off x="0" y="3612779"/>
              <a:ext cx="11707496" cy="564570"/>
            </a:xfrm>
            <a:prstGeom prst="rect">
              <a:avLst/>
            </a:prstGeom>
          </p:spPr>
          <p:txBody>
            <a:bodyPr lIns="0" tIns="0" rIns="0" bIns="0" rtlCol="0" anchor="t">
              <a:spAutoFit/>
            </a:bodyPr>
            <a:lstStyle/>
            <a:p>
              <a:pPr algn="ctr">
                <a:lnSpc>
                  <a:spcPts val="3366"/>
                </a:lnSpc>
              </a:pPr>
              <a:r>
                <a:rPr lang="en-US" sz="2876" b="1">
                  <a:solidFill>
                    <a:srgbClr val="FFFFFF"/>
                  </a:solidFill>
                  <a:latin typeface="Proxima Nova Heavy"/>
                  <a:ea typeface="Proxima Nova Heavy"/>
                  <a:cs typeface="Proxima Nova Heavy"/>
                  <a:sym typeface="Proxima Nova Heavy"/>
                </a:rPr>
                <a:t>TRAO ĐỔI KHÔNG GẮN VỚI CÔNG VIỆC</a:t>
              </a:r>
            </a:p>
          </p:txBody>
        </p:sp>
        <p:grpSp>
          <p:nvGrpSpPr>
            <p:cNvPr id="43" name="Group 43"/>
            <p:cNvGrpSpPr/>
            <p:nvPr/>
          </p:nvGrpSpPr>
          <p:grpSpPr>
            <a:xfrm>
              <a:off x="0" y="4543189"/>
              <a:ext cx="11707496" cy="965820"/>
              <a:chOff x="0" y="0"/>
              <a:chExt cx="4926305" cy="406400"/>
            </a:xfrm>
          </p:grpSpPr>
          <p:sp>
            <p:nvSpPr>
              <p:cNvPr id="44" name="Freeform 44"/>
              <p:cNvSpPr/>
              <p:nvPr/>
            </p:nvSpPr>
            <p:spPr>
              <a:xfrm>
                <a:off x="0" y="0"/>
                <a:ext cx="4926306" cy="406400"/>
              </a:xfrm>
              <a:custGeom>
                <a:avLst/>
                <a:gdLst/>
                <a:ahLst/>
                <a:cxnLst/>
                <a:rect l="l" t="t" r="r" b="b"/>
                <a:pathLst>
                  <a:path w="4926306" h="406400">
                    <a:moveTo>
                      <a:pt x="4723106" y="0"/>
                    </a:moveTo>
                    <a:cubicBezTo>
                      <a:pt x="4835330" y="0"/>
                      <a:pt x="4926306" y="90976"/>
                      <a:pt x="4926306" y="203200"/>
                    </a:cubicBezTo>
                    <a:cubicBezTo>
                      <a:pt x="4926306" y="315424"/>
                      <a:pt x="4835330" y="406400"/>
                      <a:pt x="4723106" y="406400"/>
                    </a:cubicBezTo>
                    <a:lnTo>
                      <a:pt x="203200" y="406400"/>
                    </a:lnTo>
                    <a:cubicBezTo>
                      <a:pt x="90976" y="406400"/>
                      <a:pt x="0" y="315424"/>
                      <a:pt x="0" y="203200"/>
                    </a:cubicBezTo>
                    <a:cubicBezTo>
                      <a:pt x="0" y="90976"/>
                      <a:pt x="90976" y="0"/>
                      <a:pt x="203200" y="0"/>
                    </a:cubicBezTo>
                    <a:lnTo>
                      <a:pt x="4723106"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45" name="TextBox 45"/>
              <p:cNvSpPr txBox="1"/>
              <p:nvPr/>
            </p:nvSpPr>
            <p:spPr>
              <a:xfrm>
                <a:off x="0" y="0"/>
                <a:ext cx="4926305" cy="406400"/>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46" name="TextBox 46"/>
            <p:cNvSpPr txBox="1"/>
            <p:nvPr/>
          </p:nvSpPr>
          <p:spPr>
            <a:xfrm>
              <a:off x="0" y="4748577"/>
              <a:ext cx="11707496" cy="564570"/>
            </a:xfrm>
            <a:prstGeom prst="rect">
              <a:avLst/>
            </a:prstGeom>
          </p:spPr>
          <p:txBody>
            <a:bodyPr lIns="0" tIns="0" rIns="0" bIns="0" rtlCol="0" anchor="t">
              <a:spAutoFit/>
            </a:bodyPr>
            <a:lstStyle/>
            <a:p>
              <a:pPr algn="ctr">
                <a:lnSpc>
                  <a:spcPts val="3366"/>
                </a:lnSpc>
              </a:pPr>
              <a:r>
                <a:rPr lang="en-US" sz="2876" b="1">
                  <a:solidFill>
                    <a:srgbClr val="FFFFFF"/>
                  </a:solidFill>
                  <a:latin typeface="Proxima Nova Heavy"/>
                  <a:ea typeface="Proxima Nova Heavy"/>
                  <a:cs typeface="Proxima Nova Heavy"/>
                  <a:sym typeface="Proxima Nova Heavy"/>
                </a:rPr>
                <a:t>THIẾU QUY TRÌNH EVIDENCE &amp; AUDIT</a:t>
              </a:r>
            </a:p>
          </p:txBody>
        </p:sp>
        <p:grpSp>
          <p:nvGrpSpPr>
            <p:cNvPr id="47" name="Group 47"/>
            <p:cNvGrpSpPr/>
            <p:nvPr/>
          </p:nvGrpSpPr>
          <p:grpSpPr>
            <a:xfrm>
              <a:off x="0" y="5678986"/>
              <a:ext cx="11707496" cy="965820"/>
              <a:chOff x="0" y="0"/>
              <a:chExt cx="4926305" cy="406400"/>
            </a:xfrm>
          </p:grpSpPr>
          <p:sp>
            <p:nvSpPr>
              <p:cNvPr id="48" name="Freeform 48"/>
              <p:cNvSpPr/>
              <p:nvPr/>
            </p:nvSpPr>
            <p:spPr>
              <a:xfrm>
                <a:off x="0" y="0"/>
                <a:ext cx="4926306" cy="406400"/>
              </a:xfrm>
              <a:custGeom>
                <a:avLst/>
                <a:gdLst/>
                <a:ahLst/>
                <a:cxnLst/>
                <a:rect l="l" t="t" r="r" b="b"/>
                <a:pathLst>
                  <a:path w="4926306" h="406400">
                    <a:moveTo>
                      <a:pt x="4723106" y="0"/>
                    </a:moveTo>
                    <a:cubicBezTo>
                      <a:pt x="4835330" y="0"/>
                      <a:pt x="4926306" y="90976"/>
                      <a:pt x="4926306" y="203200"/>
                    </a:cubicBezTo>
                    <a:cubicBezTo>
                      <a:pt x="4926306" y="315424"/>
                      <a:pt x="4835330" y="406400"/>
                      <a:pt x="4723106" y="406400"/>
                    </a:cubicBezTo>
                    <a:lnTo>
                      <a:pt x="203200" y="406400"/>
                    </a:lnTo>
                    <a:cubicBezTo>
                      <a:pt x="90976" y="406400"/>
                      <a:pt x="0" y="315424"/>
                      <a:pt x="0" y="203200"/>
                    </a:cubicBezTo>
                    <a:cubicBezTo>
                      <a:pt x="0" y="90976"/>
                      <a:pt x="90976" y="0"/>
                      <a:pt x="203200" y="0"/>
                    </a:cubicBezTo>
                    <a:lnTo>
                      <a:pt x="4723106"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49" name="TextBox 49"/>
              <p:cNvSpPr txBox="1"/>
              <p:nvPr/>
            </p:nvSpPr>
            <p:spPr>
              <a:xfrm>
                <a:off x="0" y="0"/>
                <a:ext cx="4926305" cy="406400"/>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50" name="TextBox 50"/>
            <p:cNvSpPr txBox="1"/>
            <p:nvPr/>
          </p:nvSpPr>
          <p:spPr>
            <a:xfrm>
              <a:off x="0" y="5884374"/>
              <a:ext cx="11707496" cy="564570"/>
            </a:xfrm>
            <a:prstGeom prst="rect">
              <a:avLst/>
            </a:prstGeom>
          </p:spPr>
          <p:txBody>
            <a:bodyPr lIns="0" tIns="0" rIns="0" bIns="0" rtlCol="0" anchor="t">
              <a:spAutoFit/>
            </a:bodyPr>
            <a:lstStyle/>
            <a:p>
              <a:pPr algn="ctr">
                <a:lnSpc>
                  <a:spcPts val="3366"/>
                </a:lnSpc>
              </a:pPr>
              <a:r>
                <a:rPr lang="en-US" sz="2876" b="1">
                  <a:solidFill>
                    <a:srgbClr val="FFFFFF"/>
                  </a:solidFill>
                  <a:latin typeface="Proxima Nova Heavy"/>
                  <a:ea typeface="Proxima Nova Heavy"/>
                  <a:cs typeface="Proxima Nova Heavy"/>
                  <a:sym typeface="Proxima Nova Heavy"/>
                </a:rPr>
                <a:t>PHẢI SỬ DỤNG NHIỀU NỀN TẢNG KHÁC NHAU</a:t>
              </a:r>
            </a:p>
          </p:txBody>
        </p:sp>
      </p:grpSp>
      <p:sp>
        <p:nvSpPr>
          <p:cNvPr id="51" name="Freeform 51"/>
          <p:cNvSpPr/>
          <p:nvPr/>
        </p:nvSpPr>
        <p:spPr>
          <a:xfrm>
            <a:off x="694259" y="9077051"/>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7"/>
            <a:stretch>
              <a:fillRect/>
            </a:stretch>
          </a:blipFill>
        </p:spPr>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flipH="1">
            <a:off x="10995947" y="687932"/>
            <a:ext cx="9575090" cy="9807733"/>
          </a:xfrm>
          <a:custGeom>
            <a:avLst/>
            <a:gdLst/>
            <a:ahLst/>
            <a:cxnLst/>
            <a:rect l="l" t="t" r="r" b="b"/>
            <a:pathLst>
              <a:path w="9575090" h="9807733">
                <a:moveTo>
                  <a:pt x="9575091" y="0"/>
                </a:moveTo>
                <a:lnTo>
                  <a:pt x="0" y="0"/>
                </a:lnTo>
                <a:lnTo>
                  <a:pt x="0" y="9807733"/>
                </a:lnTo>
                <a:lnTo>
                  <a:pt x="9575091" y="9807733"/>
                </a:lnTo>
                <a:lnTo>
                  <a:pt x="9575091" y="0"/>
                </a:lnTo>
                <a:close/>
              </a:path>
            </a:pathLst>
          </a:custGeom>
          <a:blipFill>
            <a:blip r:embed="rId3"/>
            <a:stretch>
              <a:fillRect/>
            </a:stretch>
          </a:blipFill>
        </p:spPr>
      </p:sp>
      <p:sp>
        <p:nvSpPr>
          <p:cNvPr id="3" name="Freeform 3"/>
          <p:cNvSpPr/>
          <p:nvPr/>
        </p:nvSpPr>
        <p:spPr>
          <a:xfrm>
            <a:off x="-1330763" y="3508900"/>
            <a:ext cx="6821037" cy="6986765"/>
          </a:xfrm>
          <a:custGeom>
            <a:avLst/>
            <a:gdLst/>
            <a:ahLst/>
            <a:cxnLst/>
            <a:rect l="l" t="t" r="r" b="b"/>
            <a:pathLst>
              <a:path w="6821037" h="6986765">
                <a:moveTo>
                  <a:pt x="0" y="0"/>
                </a:moveTo>
                <a:lnTo>
                  <a:pt x="6821036" y="0"/>
                </a:lnTo>
                <a:lnTo>
                  <a:pt x="6821036" y="6986765"/>
                </a:lnTo>
                <a:lnTo>
                  <a:pt x="0" y="6986765"/>
                </a:lnTo>
                <a:lnTo>
                  <a:pt x="0" y="0"/>
                </a:lnTo>
                <a:close/>
              </a:path>
            </a:pathLst>
          </a:custGeom>
          <a:blipFill>
            <a:blip r:embed="rId4"/>
            <a:stretch>
              <a:fillRect/>
            </a:stretch>
          </a:blipFill>
        </p:spPr>
      </p:sp>
      <p:grpSp>
        <p:nvGrpSpPr>
          <p:cNvPr id="4" name="Group 4"/>
          <p:cNvGrpSpPr/>
          <p:nvPr/>
        </p:nvGrpSpPr>
        <p:grpSpPr>
          <a:xfrm>
            <a:off x="-270844" y="-2694622"/>
            <a:ext cx="18829688" cy="13190288"/>
            <a:chOff x="0" y="0"/>
            <a:chExt cx="4959260" cy="3473985"/>
          </a:xfrm>
        </p:grpSpPr>
        <p:sp>
          <p:nvSpPr>
            <p:cNvPr id="5" name="Freeform 5"/>
            <p:cNvSpPr/>
            <p:nvPr/>
          </p:nvSpPr>
          <p:spPr>
            <a:xfrm>
              <a:off x="0" y="0"/>
              <a:ext cx="4959260" cy="3473985"/>
            </a:xfrm>
            <a:custGeom>
              <a:avLst/>
              <a:gdLst/>
              <a:ahLst/>
              <a:cxnLst/>
              <a:rect l="l" t="t" r="r" b="b"/>
              <a:pathLst>
                <a:path w="4959260" h="3473985">
                  <a:moveTo>
                    <a:pt x="0" y="0"/>
                  </a:moveTo>
                  <a:lnTo>
                    <a:pt x="4959260" y="0"/>
                  </a:lnTo>
                  <a:lnTo>
                    <a:pt x="4959260" y="3473985"/>
                  </a:lnTo>
                  <a:lnTo>
                    <a:pt x="0" y="3473985"/>
                  </a:lnTo>
                  <a:close/>
                </a:path>
              </a:pathLst>
            </a:custGeom>
            <a:gradFill rotWithShape="1">
              <a:gsLst>
                <a:gs pos="0">
                  <a:srgbClr val="EFFEFD">
                    <a:alpha val="0"/>
                  </a:srgbClr>
                </a:gs>
                <a:gs pos="100000">
                  <a:srgbClr val="F4FFFE">
                    <a:alpha val="100000"/>
                  </a:srgbClr>
                </a:gs>
              </a:gsLst>
              <a:lin ang="5400000"/>
            </a:gradFill>
          </p:spPr>
        </p:sp>
        <p:sp>
          <p:nvSpPr>
            <p:cNvPr id="6" name="TextBox 6"/>
            <p:cNvSpPr txBox="1"/>
            <p:nvPr/>
          </p:nvSpPr>
          <p:spPr>
            <a:xfrm>
              <a:off x="0" y="0"/>
              <a:ext cx="4959260" cy="3473985"/>
            </a:xfrm>
            <a:prstGeom prst="rect">
              <a:avLst/>
            </a:prstGeom>
          </p:spPr>
          <p:txBody>
            <a:bodyPr lIns="50800" tIns="50800" rIns="50800" bIns="50800" rtlCol="0" anchor="ctr"/>
            <a:lstStyle/>
            <a:p>
              <a:pPr algn="ctr">
                <a:lnSpc>
                  <a:spcPts val="2340"/>
                </a:lnSpc>
              </a:pPr>
              <a:endParaRPr/>
            </a:p>
          </p:txBody>
        </p:sp>
      </p:grpSp>
      <p:grpSp>
        <p:nvGrpSpPr>
          <p:cNvPr id="7" name="Group 7"/>
          <p:cNvGrpSpPr/>
          <p:nvPr/>
        </p:nvGrpSpPr>
        <p:grpSpPr>
          <a:xfrm>
            <a:off x="2641153" y="631575"/>
            <a:ext cx="13005695" cy="9864090"/>
            <a:chOff x="0" y="0"/>
            <a:chExt cx="17340926" cy="13152120"/>
          </a:xfrm>
        </p:grpSpPr>
        <p:sp>
          <p:nvSpPr>
            <p:cNvPr id="8" name="Freeform 8"/>
            <p:cNvSpPr/>
            <p:nvPr/>
          </p:nvSpPr>
          <p:spPr>
            <a:xfrm rot="-8480136">
              <a:off x="13109866" y="8779193"/>
              <a:ext cx="3650440" cy="3139378"/>
            </a:xfrm>
            <a:custGeom>
              <a:avLst/>
              <a:gdLst/>
              <a:ahLst/>
              <a:cxnLst/>
              <a:rect l="l" t="t" r="r" b="b"/>
              <a:pathLst>
                <a:path w="3650440" h="3139378">
                  <a:moveTo>
                    <a:pt x="0" y="0"/>
                  </a:moveTo>
                  <a:lnTo>
                    <a:pt x="3650439" y="0"/>
                  </a:lnTo>
                  <a:lnTo>
                    <a:pt x="3650439" y="3139378"/>
                  </a:lnTo>
                  <a:lnTo>
                    <a:pt x="0" y="31393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480136">
              <a:off x="3024717" y="1208934"/>
              <a:ext cx="5542243" cy="4766329"/>
            </a:xfrm>
            <a:custGeom>
              <a:avLst/>
              <a:gdLst/>
              <a:ahLst/>
              <a:cxnLst/>
              <a:rect l="l" t="t" r="r" b="b"/>
              <a:pathLst>
                <a:path w="5542243" h="4766329">
                  <a:moveTo>
                    <a:pt x="0" y="0"/>
                  </a:moveTo>
                  <a:lnTo>
                    <a:pt x="5542243" y="0"/>
                  </a:lnTo>
                  <a:lnTo>
                    <a:pt x="5542243" y="4766329"/>
                  </a:lnTo>
                  <a:lnTo>
                    <a:pt x="0" y="47663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rot="-8480136">
              <a:off x="663510" y="5255075"/>
              <a:ext cx="3394494" cy="2919265"/>
            </a:xfrm>
            <a:custGeom>
              <a:avLst/>
              <a:gdLst/>
              <a:ahLst/>
              <a:cxnLst/>
              <a:rect l="l" t="t" r="r" b="b"/>
              <a:pathLst>
                <a:path w="3394494" h="2919265">
                  <a:moveTo>
                    <a:pt x="0" y="0"/>
                  </a:moveTo>
                  <a:lnTo>
                    <a:pt x="3394494" y="0"/>
                  </a:lnTo>
                  <a:lnTo>
                    <a:pt x="3394494" y="2919265"/>
                  </a:lnTo>
                  <a:lnTo>
                    <a:pt x="0" y="29192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8480136">
              <a:off x="539912" y="9492411"/>
              <a:ext cx="3394494" cy="2919265"/>
            </a:xfrm>
            <a:custGeom>
              <a:avLst/>
              <a:gdLst/>
              <a:ahLst/>
              <a:cxnLst/>
              <a:rect l="l" t="t" r="r" b="b"/>
              <a:pathLst>
                <a:path w="3394494" h="2919265">
                  <a:moveTo>
                    <a:pt x="0" y="0"/>
                  </a:moveTo>
                  <a:lnTo>
                    <a:pt x="3394494" y="0"/>
                  </a:lnTo>
                  <a:lnTo>
                    <a:pt x="3394494" y="2919265"/>
                  </a:lnTo>
                  <a:lnTo>
                    <a:pt x="0" y="29192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6045318" y="4825017"/>
              <a:ext cx="5726023" cy="5319996"/>
            </a:xfrm>
            <a:custGeom>
              <a:avLst/>
              <a:gdLst/>
              <a:ahLst/>
              <a:cxnLst/>
              <a:rect l="l" t="t" r="r" b="b"/>
              <a:pathLst>
                <a:path w="5726023" h="5319996">
                  <a:moveTo>
                    <a:pt x="0" y="0"/>
                  </a:moveTo>
                  <a:lnTo>
                    <a:pt x="5726022" y="0"/>
                  </a:lnTo>
                  <a:lnTo>
                    <a:pt x="5726022" y="5319996"/>
                  </a:lnTo>
                  <a:lnTo>
                    <a:pt x="0" y="531999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rot="-8480136">
              <a:off x="12311252" y="2811963"/>
              <a:ext cx="3394494" cy="2919265"/>
            </a:xfrm>
            <a:custGeom>
              <a:avLst/>
              <a:gdLst/>
              <a:ahLst/>
              <a:cxnLst/>
              <a:rect l="l" t="t" r="r" b="b"/>
              <a:pathLst>
                <a:path w="3394494" h="2919265">
                  <a:moveTo>
                    <a:pt x="0" y="0"/>
                  </a:moveTo>
                  <a:lnTo>
                    <a:pt x="3394494" y="0"/>
                  </a:lnTo>
                  <a:lnTo>
                    <a:pt x="3394494" y="2919265"/>
                  </a:lnTo>
                  <a:lnTo>
                    <a:pt x="0" y="29192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rot="-10550775">
              <a:off x="5167047" y="9733440"/>
              <a:ext cx="1257582" cy="823145"/>
            </a:xfrm>
            <a:custGeom>
              <a:avLst/>
              <a:gdLst/>
              <a:ahLst/>
              <a:cxnLst/>
              <a:rect l="l" t="t" r="r" b="b"/>
              <a:pathLst>
                <a:path w="1257582" h="823145">
                  <a:moveTo>
                    <a:pt x="0" y="0"/>
                  </a:moveTo>
                  <a:lnTo>
                    <a:pt x="1257583" y="0"/>
                  </a:lnTo>
                  <a:lnTo>
                    <a:pt x="1257583" y="823145"/>
                  </a:lnTo>
                  <a:lnTo>
                    <a:pt x="0" y="82314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5" name="Freeform 15"/>
            <p:cNvSpPr/>
            <p:nvPr/>
          </p:nvSpPr>
          <p:spPr>
            <a:xfrm rot="6605565" flipH="1">
              <a:off x="11747454" y="5167502"/>
              <a:ext cx="1144243" cy="748959"/>
            </a:xfrm>
            <a:custGeom>
              <a:avLst/>
              <a:gdLst/>
              <a:ahLst/>
              <a:cxnLst/>
              <a:rect l="l" t="t" r="r" b="b"/>
              <a:pathLst>
                <a:path w="1144243" h="748959">
                  <a:moveTo>
                    <a:pt x="1144243" y="0"/>
                  </a:moveTo>
                  <a:lnTo>
                    <a:pt x="0" y="0"/>
                  </a:lnTo>
                  <a:lnTo>
                    <a:pt x="0" y="748959"/>
                  </a:lnTo>
                  <a:lnTo>
                    <a:pt x="1144243" y="748959"/>
                  </a:lnTo>
                  <a:lnTo>
                    <a:pt x="1144243"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6" name="Freeform 16"/>
            <p:cNvSpPr/>
            <p:nvPr/>
          </p:nvSpPr>
          <p:spPr>
            <a:xfrm rot="9259106" flipH="1">
              <a:off x="11364691" y="9013072"/>
              <a:ext cx="1304319" cy="853736"/>
            </a:xfrm>
            <a:custGeom>
              <a:avLst/>
              <a:gdLst/>
              <a:ahLst/>
              <a:cxnLst/>
              <a:rect l="l" t="t" r="r" b="b"/>
              <a:pathLst>
                <a:path w="1304319" h="853736">
                  <a:moveTo>
                    <a:pt x="1304319" y="0"/>
                  </a:moveTo>
                  <a:lnTo>
                    <a:pt x="0" y="0"/>
                  </a:lnTo>
                  <a:lnTo>
                    <a:pt x="0" y="853736"/>
                  </a:lnTo>
                  <a:lnTo>
                    <a:pt x="1304319" y="853736"/>
                  </a:lnTo>
                  <a:lnTo>
                    <a:pt x="1304319"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Freeform 17"/>
            <p:cNvSpPr/>
            <p:nvPr/>
          </p:nvSpPr>
          <p:spPr>
            <a:xfrm rot="2025113" flipH="1">
              <a:off x="9097509" y="3878742"/>
              <a:ext cx="1136924" cy="744168"/>
            </a:xfrm>
            <a:custGeom>
              <a:avLst/>
              <a:gdLst/>
              <a:ahLst/>
              <a:cxnLst/>
              <a:rect l="l" t="t" r="r" b="b"/>
              <a:pathLst>
                <a:path w="1136924" h="744168">
                  <a:moveTo>
                    <a:pt x="1136923" y="0"/>
                  </a:moveTo>
                  <a:lnTo>
                    <a:pt x="0" y="0"/>
                  </a:lnTo>
                  <a:lnTo>
                    <a:pt x="0" y="744168"/>
                  </a:lnTo>
                  <a:lnTo>
                    <a:pt x="1136923" y="744168"/>
                  </a:lnTo>
                  <a:lnTo>
                    <a:pt x="1136923"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8" name="Freeform 18"/>
            <p:cNvSpPr/>
            <p:nvPr/>
          </p:nvSpPr>
          <p:spPr>
            <a:xfrm rot="-1573050" flipH="1">
              <a:off x="4703813" y="6227173"/>
              <a:ext cx="1136924" cy="744168"/>
            </a:xfrm>
            <a:custGeom>
              <a:avLst/>
              <a:gdLst/>
              <a:ahLst/>
              <a:cxnLst/>
              <a:rect l="l" t="t" r="r" b="b"/>
              <a:pathLst>
                <a:path w="1136924" h="744168">
                  <a:moveTo>
                    <a:pt x="1136924" y="0"/>
                  </a:moveTo>
                  <a:lnTo>
                    <a:pt x="0" y="0"/>
                  </a:lnTo>
                  <a:lnTo>
                    <a:pt x="0" y="744168"/>
                  </a:lnTo>
                  <a:lnTo>
                    <a:pt x="1136924" y="744168"/>
                  </a:lnTo>
                  <a:lnTo>
                    <a:pt x="1136924"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TextBox 19"/>
            <p:cNvSpPr txBox="1"/>
            <p:nvPr/>
          </p:nvSpPr>
          <p:spPr>
            <a:xfrm>
              <a:off x="716654" y="6479021"/>
              <a:ext cx="3234243" cy="518997"/>
            </a:xfrm>
            <a:prstGeom prst="rect">
              <a:avLst/>
            </a:prstGeom>
          </p:spPr>
          <p:txBody>
            <a:bodyPr lIns="0" tIns="0" rIns="0" bIns="0" rtlCol="0" anchor="t">
              <a:spAutoFit/>
            </a:bodyPr>
            <a:lstStyle/>
            <a:p>
              <a:pPr marL="0" lvl="0" indent="0" algn="ctr">
                <a:lnSpc>
                  <a:spcPts val="2833"/>
                </a:lnSpc>
                <a:spcBef>
                  <a:spcPct val="0"/>
                </a:spcBef>
              </a:pPr>
              <a:r>
                <a:rPr lang="en-US" sz="2833">
                  <a:solidFill>
                    <a:srgbClr val="0969F0"/>
                  </a:solidFill>
                  <a:latin typeface="Sriracha"/>
                  <a:ea typeface="Sriracha"/>
                  <a:cs typeface="Sriracha"/>
                  <a:sym typeface="Sriracha"/>
                </a:rPr>
                <a:t>Dữ liệu dự án</a:t>
              </a:r>
            </a:p>
          </p:txBody>
        </p:sp>
        <p:sp>
          <p:nvSpPr>
            <p:cNvPr id="20" name="TextBox 20"/>
            <p:cNvSpPr txBox="1"/>
            <p:nvPr/>
          </p:nvSpPr>
          <p:spPr>
            <a:xfrm>
              <a:off x="2839716" y="3252065"/>
              <a:ext cx="5532698" cy="989645"/>
            </a:xfrm>
            <a:prstGeom prst="rect">
              <a:avLst/>
            </a:prstGeom>
          </p:spPr>
          <p:txBody>
            <a:bodyPr lIns="0" tIns="0" rIns="0" bIns="0" rtlCol="0" anchor="t">
              <a:spAutoFit/>
            </a:bodyPr>
            <a:lstStyle/>
            <a:p>
              <a:pPr marL="0" lvl="0" indent="0" algn="ctr">
                <a:lnSpc>
                  <a:spcPts val="2833"/>
                </a:lnSpc>
                <a:spcBef>
                  <a:spcPct val="0"/>
                </a:spcBef>
              </a:pPr>
              <a:r>
                <a:rPr lang="en-US" sz="2833">
                  <a:solidFill>
                    <a:srgbClr val="0969F0"/>
                  </a:solidFill>
                  <a:latin typeface="Sriracha"/>
                  <a:ea typeface="Sriracha"/>
                  <a:cs typeface="Sriracha"/>
                  <a:sym typeface="Sriracha"/>
                </a:rPr>
                <a:t>QUẢN</a:t>
              </a:r>
              <a:r>
                <a:rPr lang="en-US" sz="2833" u="none" strike="noStrike">
                  <a:solidFill>
                    <a:srgbClr val="0969F0"/>
                  </a:solidFill>
                  <a:latin typeface="Sriracha"/>
                  <a:ea typeface="Sriracha"/>
                  <a:cs typeface="Sriracha"/>
                  <a:sym typeface="Sriracha"/>
                </a:rPr>
                <a:t> LÝ TRÁCH NHIỆM &amp; TIẾN ĐỘ</a:t>
              </a:r>
            </a:p>
          </p:txBody>
        </p:sp>
        <p:sp>
          <p:nvSpPr>
            <p:cNvPr id="21" name="TextBox 21"/>
            <p:cNvSpPr txBox="1"/>
            <p:nvPr/>
          </p:nvSpPr>
          <p:spPr>
            <a:xfrm>
              <a:off x="12391378" y="3793365"/>
              <a:ext cx="3234243" cy="989645"/>
            </a:xfrm>
            <a:prstGeom prst="rect">
              <a:avLst/>
            </a:prstGeom>
          </p:spPr>
          <p:txBody>
            <a:bodyPr lIns="0" tIns="0" rIns="0" bIns="0" rtlCol="0" anchor="t">
              <a:spAutoFit/>
            </a:bodyPr>
            <a:lstStyle/>
            <a:p>
              <a:pPr marL="0" lvl="0" indent="0" algn="ctr">
                <a:lnSpc>
                  <a:spcPts val="2833"/>
                </a:lnSpc>
                <a:spcBef>
                  <a:spcPct val="0"/>
                </a:spcBef>
              </a:pPr>
              <a:r>
                <a:rPr lang="en-US" sz="2833">
                  <a:solidFill>
                    <a:srgbClr val="0969F0"/>
                  </a:solidFill>
                  <a:latin typeface="Sriracha"/>
                  <a:ea typeface="Sriracha"/>
                  <a:cs typeface="Sriracha"/>
                  <a:sym typeface="Sriracha"/>
                </a:rPr>
                <a:t>KIỂM SOÁT </a:t>
              </a:r>
              <a:r>
                <a:rPr lang="en-US" sz="2833" u="none" strike="noStrike">
                  <a:solidFill>
                    <a:srgbClr val="0969F0"/>
                  </a:solidFill>
                  <a:latin typeface="Sriracha"/>
                  <a:ea typeface="Sriracha"/>
                  <a:cs typeface="Sriracha"/>
                  <a:sym typeface="Sriracha"/>
                </a:rPr>
                <a:t>CHẤT LƯỢNG</a:t>
              </a:r>
            </a:p>
          </p:txBody>
        </p:sp>
        <p:sp>
          <p:nvSpPr>
            <p:cNvPr id="22" name="TextBox 22"/>
            <p:cNvSpPr txBox="1"/>
            <p:nvPr/>
          </p:nvSpPr>
          <p:spPr>
            <a:xfrm>
              <a:off x="13340439" y="9852117"/>
              <a:ext cx="3357036" cy="989645"/>
            </a:xfrm>
            <a:prstGeom prst="rect">
              <a:avLst/>
            </a:prstGeom>
          </p:spPr>
          <p:txBody>
            <a:bodyPr lIns="0" tIns="0" rIns="0" bIns="0" rtlCol="0" anchor="t">
              <a:spAutoFit/>
            </a:bodyPr>
            <a:lstStyle/>
            <a:p>
              <a:pPr marL="0" lvl="0" indent="0" algn="ctr">
                <a:lnSpc>
                  <a:spcPts val="2833"/>
                </a:lnSpc>
                <a:spcBef>
                  <a:spcPct val="0"/>
                </a:spcBef>
              </a:pPr>
              <a:r>
                <a:rPr lang="en-US" sz="2833">
                  <a:solidFill>
                    <a:srgbClr val="0969F0"/>
                  </a:solidFill>
                  <a:latin typeface="Sriracha"/>
                  <a:ea typeface="Sriracha"/>
                  <a:cs typeface="Sriracha"/>
                  <a:sym typeface="Sriracha"/>
                </a:rPr>
                <a:t>PHÂN</a:t>
              </a:r>
              <a:r>
                <a:rPr lang="en-US" sz="2833" u="none" strike="noStrike">
                  <a:solidFill>
                    <a:srgbClr val="0969F0"/>
                  </a:solidFill>
                  <a:latin typeface="Sriracha"/>
                  <a:ea typeface="Sriracha"/>
                  <a:cs typeface="Sriracha"/>
                  <a:sym typeface="Sriracha"/>
                </a:rPr>
                <a:t> TÍCH / AI</a:t>
              </a:r>
            </a:p>
          </p:txBody>
        </p:sp>
        <p:sp>
          <p:nvSpPr>
            <p:cNvPr id="23" name="TextBox 23"/>
            <p:cNvSpPr txBox="1"/>
            <p:nvPr/>
          </p:nvSpPr>
          <p:spPr>
            <a:xfrm>
              <a:off x="510001" y="10689267"/>
              <a:ext cx="3234243" cy="518997"/>
            </a:xfrm>
            <a:prstGeom prst="rect">
              <a:avLst/>
            </a:prstGeom>
          </p:spPr>
          <p:txBody>
            <a:bodyPr lIns="0" tIns="0" rIns="0" bIns="0" rtlCol="0" anchor="t">
              <a:spAutoFit/>
            </a:bodyPr>
            <a:lstStyle/>
            <a:p>
              <a:pPr marL="0" lvl="0" indent="0" algn="ctr">
                <a:lnSpc>
                  <a:spcPts val="2833"/>
                </a:lnSpc>
                <a:spcBef>
                  <a:spcPct val="0"/>
                </a:spcBef>
              </a:pPr>
              <a:r>
                <a:rPr lang="en-US" sz="2833">
                  <a:solidFill>
                    <a:srgbClr val="0969F0"/>
                  </a:solidFill>
                  <a:latin typeface="Sriracha"/>
                  <a:ea typeface="Sriracha"/>
                  <a:cs typeface="Sriracha"/>
                  <a:sym typeface="Sriracha"/>
                </a:rPr>
                <a:t>CỘNG TÁC</a:t>
              </a:r>
            </a:p>
          </p:txBody>
        </p:sp>
        <p:sp>
          <p:nvSpPr>
            <p:cNvPr id="24" name="TextBox 24"/>
            <p:cNvSpPr txBox="1"/>
            <p:nvPr/>
          </p:nvSpPr>
          <p:spPr>
            <a:xfrm>
              <a:off x="5522177" y="6398537"/>
              <a:ext cx="6897580" cy="2056504"/>
            </a:xfrm>
            <a:prstGeom prst="rect">
              <a:avLst/>
            </a:prstGeom>
          </p:spPr>
          <p:txBody>
            <a:bodyPr lIns="0" tIns="0" rIns="0" bIns="0" rtlCol="0" anchor="t">
              <a:spAutoFit/>
            </a:bodyPr>
            <a:lstStyle/>
            <a:p>
              <a:pPr marL="0" lvl="0" indent="0" algn="ctr">
                <a:lnSpc>
                  <a:spcPts val="10681"/>
                </a:lnSpc>
              </a:pPr>
              <a:r>
                <a:rPr lang="en-US" sz="10681">
                  <a:gradFill>
                    <a:gsLst>
                      <a:gs pos="0">
                        <a:srgbClr val="0565EF">
                          <a:alpha val="100000"/>
                        </a:srgbClr>
                      </a:gs>
                      <a:gs pos="100000">
                        <a:srgbClr val="50B2FF">
                          <a:alpha val="100000"/>
                        </a:srgbClr>
                      </a:gs>
                    </a:gsLst>
                    <a:lin ang="0"/>
                  </a:gradFill>
                  <a:latin typeface="Bryndan Write"/>
                  <a:ea typeface="Bryndan Write"/>
                  <a:cs typeface="Bryndan Write"/>
                  <a:sym typeface="Bryndan Write"/>
                </a:rPr>
                <a:t>QALY</a:t>
              </a:r>
            </a:p>
          </p:txBody>
        </p:sp>
        <p:sp>
          <p:nvSpPr>
            <p:cNvPr id="25" name="Freeform 25"/>
            <p:cNvSpPr/>
            <p:nvPr/>
          </p:nvSpPr>
          <p:spPr>
            <a:xfrm rot="8317707">
              <a:off x="6192689" y="4889880"/>
              <a:ext cx="5587809" cy="5191583"/>
            </a:xfrm>
            <a:custGeom>
              <a:avLst/>
              <a:gdLst/>
              <a:ahLst/>
              <a:cxnLst/>
              <a:rect l="l" t="t" r="r" b="b"/>
              <a:pathLst>
                <a:path w="5587809" h="5191583">
                  <a:moveTo>
                    <a:pt x="0" y="0"/>
                  </a:moveTo>
                  <a:lnTo>
                    <a:pt x="5587809" y="0"/>
                  </a:lnTo>
                  <a:lnTo>
                    <a:pt x="5587809" y="5191582"/>
                  </a:lnTo>
                  <a:lnTo>
                    <a:pt x="0" y="51915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sp>
        <p:nvSpPr>
          <p:cNvPr id="26" name="TextBox 26"/>
          <p:cNvSpPr txBox="1"/>
          <p:nvPr/>
        </p:nvSpPr>
        <p:spPr>
          <a:xfrm>
            <a:off x="3261898" y="441960"/>
            <a:ext cx="11764204" cy="1192530"/>
          </a:xfrm>
          <a:prstGeom prst="rect">
            <a:avLst/>
          </a:prstGeom>
        </p:spPr>
        <p:txBody>
          <a:bodyPr lIns="0" tIns="0" rIns="0" bIns="0" rtlCol="0" anchor="t">
            <a:spAutoFit/>
          </a:bodyPr>
          <a:lstStyle/>
          <a:p>
            <a:pPr algn="ctr">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MỤC TIÊU &amp; GIẢI PHÁP</a:t>
            </a:r>
          </a:p>
        </p:txBody>
      </p:sp>
      <p:sp>
        <p:nvSpPr>
          <p:cNvPr id="27" name="Freeform 27"/>
          <p:cNvSpPr/>
          <p:nvPr/>
        </p:nvSpPr>
        <p:spPr>
          <a:xfrm>
            <a:off x="582017" y="56738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11"/>
            <a:stretch>
              <a:fillRect/>
            </a:stretch>
          </a:blipFill>
        </p:spPr>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330763" y="-411125"/>
            <a:ext cx="21901801" cy="10936268"/>
            <a:chOff x="0" y="0"/>
            <a:chExt cx="29202402" cy="14581691"/>
          </a:xfrm>
        </p:grpSpPr>
        <p:sp>
          <p:nvSpPr>
            <p:cNvPr id="3" name="Freeform 3"/>
            <p:cNvSpPr/>
            <p:nvPr/>
          </p:nvSpPr>
          <p:spPr>
            <a:xfrm flipH="1">
              <a:off x="16435614" y="1465410"/>
              <a:ext cx="12766787" cy="13076978"/>
            </a:xfrm>
            <a:custGeom>
              <a:avLst/>
              <a:gdLst/>
              <a:ahLst/>
              <a:cxnLst/>
              <a:rect l="l" t="t" r="r" b="b"/>
              <a:pathLst>
                <a:path w="12766787" h="13076978">
                  <a:moveTo>
                    <a:pt x="12766788" y="0"/>
                  </a:moveTo>
                  <a:lnTo>
                    <a:pt x="0" y="0"/>
                  </a:lnTo>
                  <a:lnTo>
                    <a:pt x="0" y="13076977"/>
                  </a:lnTo>
                  <a:lnTo>
                    <a:pt x="12766788" y="13076977"/>
                  </a:lnTo>
                  <a:lnTo>
                    <a:pt x="12766788" y="0"/>
                  </a:lnTo>
                  <a:close/>
                </a:path>
              </a:pathLst>
            </a:custGeom>
            <a:blipFill>
              <a:blip r:embed="rId3"/>
              <a:stretch>
                <a:fillRect/>
              </a:stretch>
            </a:blipFill>
          </p:spPr>
        </p:sp>
        <p:sp>
          <p:nvSpPr>
            <p:cNvPr id="4" name="Freeform 4"/>
            <p:cNvSpPr/>
            <p:nvPr/>
          </p:nvSpPr>
          <p:spPr>
            <a:xfrm>
              <a:off x="0" y="5226700"/>
              <a:ext cx="9094716" cy="9315687"/>
            </a:xfrm>
            <a:custGeom>
              <a:avLst/>
              <a:gdLst/>
              <a:ahLst/>
              <a:cxnLst/>
              <a:rect l="l" t="t" r="r" b="b"/>
              <a:pathLst>
                <a:path w="9094716" h="9315687">
                  <a:moveTo>
                    <a:pt x="0" y="0"/>
                  </a:moveTo>
                  <a:lnTo>
                    <a:pt x="9094716" y="0"/>
                  </a:lnTo>
                  <a:lnTo>
                    <a:pt x="9094716" y="9315687"/>
                  </a:lnTo>
                  <a:lnTo>
                    <a:pt x="0" y="9315687"/>
                  </a:lnTo>
                  <a:lnTo>
                    <a:pt x="0" y="0"/>
                  </a:lnTo>
                  <a:close/>
                </a:path>
              </a:pathLst>
            </a:custGeom>
            <a:blipFill>
              <a:blip r:embed="rId4"/>
              <a:stretch>
                <a:fillRect/>
              </a:stretch>
            </a:blipFill>
          </p:spPr>
        </p:sp>
        <p:grpSp>
          <p:nvGrpSpPr>
            <p:cNvPr id="5" name="Group 5"/>
            <p:cNvGrpSpPr/>
            <p:nvPr/>
          </p:nvGrpSpPr>
          <p:grpSpPr>
            <a:xfrm>
              <a:off x="1528563" y="0"/>
              <a:ext cx="25106251" cy="14581691"/>
              <a:chOff x="0" y="0"/>
              <a:chExt cx="4959260" cy="2880334"/>
            </a:xfrm>
          </p:grpSpPr>
          <p:sp>
            <p:nvSpPr>
              <p:cNvPr id="6" name="Freeform 6"/>
              <p:cNvSpPr/>
              <p:nvPr/>
            </p:nvSpPr>
            <p:spPr>
              <a:xfrm>
                <a:off x="0" y="0"/>
                <a:ext cx="4959260" cy="2880334"/>
              </a:xfrm>
              <a:custGeom>
                <a:avLst/>
                <a:gdLst/>
                <a:ahLst/>
                <a:cxnLst/>
                <a:rect l="l" t="t" r="r" b="b"/>
                <a:pathLst>
                  <a:path w="4959260" h="2880334">
                    <a:moveTo>
                      <a:pt x="0" y="0"/>
                    </a:moveTo>
                    <a:lnTo>
                      <a:pt x="4959260" y="0"/>
                    </a:lnTo>
                    <a:lnTo>
                      <a:pt x="4959260" y="2880334"/>
                    </a:lnTo>
                    <a:lnTo>
                      <a:pt x="0" y="2880334"/>
                    </a:lnTo>
                    <a:close/>
                  </a:path>
                </a:pathLst>
              </a:custGeom>
              <a:gradFill rotWithShape="1">
                <a:gsLst>
                  <a:gs pos="0">
                    <a:srgbClr val="EFFEFD">
                      <a:alpha val="0"/>
                    </a:srgbClr>
                  </a:gs>
                  <a:gs pos="100000">
                    <a:srgbClr val="F4FFFE">
                      <a:alpha val="100000"/>
                    </a:srgbClr>
                  </a:gs>
                </a:gsLst>
                <a:lin ang="5400000"/>
              </a:gradFill>
            </p:spPr>
          </p:sp>
          <p:sp>
            <p:nvSpPr>
              <p:cNvPr id="7" name="TextBox 7"/>
              <p:cNvSpPr txBox="1"/>
              <p:nvPr/>
            </p:nvSpPr>
            <p:spPr>
              <a:xfrm>
                <a:off x="0" y="0"/>
                <a:ext cx="4959260" cy="2880334"/>
              </a:xfrm>
              <a:prstGeom prst="rect">
                <a:avLst/>
              </a:prstGeom>
            </p:spPr>
            <p:txBody>
              <a:bodyPr lIns="50800" tIns="50800" rIns="50800" bIns="50800" rtlCol="0" anchor="ctr"/>
              <a:lstStyle/>
              <a:p>
                <a:pPr algn="ctr">
                  <a:lnSpc>
                    <a:spcPts val="2340"/>
                  </a:lnSpc>
                </a:pPr>
                <a:endParaRPr/>
              </a:p>
            </p:txBody>
          </p:sp>
        </p:grpSp>
      </p:grpSp>
      <p:sp>
        <p:nvSpPr>
          <p:cNvPr id="8" name="Freeform 8"/>
          <p:cNvSpPr/>
          <p:nvPr/>
        </p:nvSpPr>
        <p:spPr>
          <a:xfrm>
            <a:off x="1457031" y="1561148"/>
            <a:ext cx="15373939" cy="8647841"/>
          </a:xfrm>
          <a:custGeom>
            <a:avLst/>
            <a:gdLst/>
            <a:ahLst/>
            <a:cxnLst/>
            <a:rect l="l" t="t" r="r" b="b"/>
            <a:pathLst>
              <a:path w="15373939" h="8647841">
                <a:moveTo>
                  <a:pt x="0" y="0"/>
                </a:moveTo>
                <a:lnTo>
                  <a:pt x="15373938" y="0"/>
                </a:lnTo>
                <a:lnTo>
                  <a:pt x="15373938" y="8647840"/>
                </a:lnTo>
                <a:lnTo>
                  <a:pt x="0" y="8647840"/>
                </a:lnTo>
                <a:lnTo>
                  <a:pt x="0" y="0"/>
                </a:lnTo>
                <a:close/>
              </a:path>
            </a:pathLst>
          </a:custGeom>
          <a:blipFill>
            <a:blip r:embed="rId5"/>
            <a:stretch>
              <a:fillRect/>
            </a:stretch>
          </a:blipFill>
        </p:spPr>
      </p:sp>
      <p:sp>
        <p:nvSpPr>
          <p:cNvPr id="9" name="Freeform 9"/>
          <p:cNvSpPr/>
          <p:nvPr/>
        </p:nvSpPr>
        <p:spPr>
          <a:xfrm>
            <a:off x="16368432" y="9401175"/>
            <a:ext cx="1781735" cy="605790"/>
          </a:xfrm>
          <a:custGeom>
            <a:avLst/>
            <a:gdLst/>
            <a:ahLst/>
            <a:cxnLst/>
            <a:rect l="l" t="t" r="r" b="b"/>
            <a:pathLst>
              <a:path w="1781735" h="605790">
                <a:moveTo>
                  <a:pt x="0" y="0"/>
                </a:moveTo>
                <a:lnTo>
                  <a:pt x="1781736" y="0"/>
                </a:lnTo>
                <a:lnTo>
                  <a:pt x="1781736" y="605790"/>
                </a:lnTo>
                <a:lnTo>
                  <a:pt x="0" y="605790"/>
                </a:lnTo>
                <a:lnTo>
                  <a:pt x="0" y="0"/>
                </a:lnTo>
                <a:close/>
              </a:path>
            </a:pathLst>
          </a:custGeom>
          <a:blipFill>
            <a:blip r:embed="rId6"/>
            <a:stretch>
              <a:fillRect/>
            </a:stretch>
          </a:blipFill>
        </p:spPr>
      </p:sp>
      <p:sp>
        <p:nvSpPr>
          <p:cNvPr id="10" name="TextBox 10"/>
          <p:cNvSpPr txBox="1"/>
          <p:nvPr/>
        </p:nvSpPr>
        <p:spPr>
          <a:xfrm>
            <a:off x="1561133" y="420052"/>
            <a:ext cx="15165735" cy="1045846"/>
          </a:xfrm>
          <a:prstGeom prst="rect">
            <a:avLst/>
          </a:prstGeom>
        </p:spPr>
        <p:txBody>
          <a:bodyPr lIns="0" tIns="0" rIns="0" bIns="0" rtlCol="0" anchor="t">
            <a:spAutoFit/>
          </a:bodyPr>
          <a:lstStyle/>
          <a:p>
            <a:pPr algn="ctr">
              <a:lnSpc>
                <a:spcPts val="8190"/>
              </a:lnSpc>
            </a:pPr>
            <a:r>
              <a:rPr lang="en-US" sz="7000"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ĐỐI TƯỢNG &amp; PHẠM VI HỆ THỐNG</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028700" y="2895485"/>
            <a:ext cx="5097795" cy="6649063"/>
            <a:chOff x="0" y="0"/>
            <a:chExt cx="1342629" cy="1751193"/>
          </a:xfrm>
        </p:grpSpPr>
        <p:sp>
          <p:nvSpPr>
            <p:cNvPr id="3" name="Freeform 3"/>
            <p:cNvSpPr/>
            <p:nvPr/>
          </p:nvSpPr>
          <p:spPr>
            <a:xfrm>
              <a:off x="0" y="0"/>
              <a:ext cx="1342629" cy="1751193"/>
            </a:xfrm>
            <a:custGeom>
              <a:avLst/>
              <a:gdLst/>
              <a:ahLst/>
              <a:cxnLst/>
              <a:rect l="l" t="t" r="r" b="b"/>
              <a:pathLst>
                <a:path w="1342629" h="1751193">
                  <a:moveTo>
                    <a:pt x="48598" y="0"/>
                  </a:moveTo>
                  <a:lnTo>
                    <a:pt x="1294031" y="0"/>
                  </a:lnTo>
                  <a:cubicBezTo>
                    <a:pt x="1320871" y="0"/>
                    <a:pt x="1342629" y="21758"/>
                    <a:pt x="1342629" y="48598"/>
                  </a:cubicBezTo>
                  <a:lnTo>
                    <a:pt x="1342629" y="1702596"/>
                  </a:lnTo>
                  <a:cubicBezTo>
                    <a:pt x="1342629" y="1729436"/>
                    <a:pt x="1320871" y="1751193"/>
                    <a:pt x="1294031" y="1751193"/>
                  </a:cubicBezTo>
                  <a:lnTo>
                    <a:pt x="48598" y="1751193"/>
                  </a:lnTo>
                  <a:cubicBezTo>
                    <a:pt x="21758" y="1751193"/>
                    <a:pt x="0" y="1729436"/>
                    <a:pt x="0" y="1702596"/>
                  </a:cubicBezTo>
                  <a:lnTo>
                    <a:pt x="0" y="48598"/>
                  </a:lnTo>
                  <a:cubicBezTo>
                    <a:pt x="0" y="21758"/>
                    <a:pt x="21758" y="0"/>
                    <a:pt x="48598" y="0"/>
                  </a:cubicBezTo>
                  <a:close/>
                </a:path>
              </a:pathLst>
            </a:custGeom>
            <a:solidFill>
              <a:srgbClr val="FFFFFF"/>
            </a:solidFill>
          </p:spPr>
        </p:sp>
        <p:sp>
          <p:nvSpPr>
            <p:cNvPr id="4" name="TextBox 4"/>
            <p:cNvSpPr txBox="1"/>
            <p:nvPr/>
          </p:nvSpPr>
          <p:spPr>
            <a:xfrm>
              <a:off x="0" y="0"/>
              <a:ext cx="1342629" cy="1751193"/>
            </a:xfrm>
            <a:prstGeom prst="rect">
              <a:avLst/>
            </a:prstGeom>
          </p:spPr>
          <p:txBody>
            <a:bodyPr lIns="50800" tIns="50800" rIns="50800" bIns="50800" rtlCol="0" anchor="ctr"/>
            <a:lstStyle/>
            <a:p>
              <a:pPr marL="0" lvl="0" indent="0" algn="ctr">
                <a:lnSpc>
                  <a:spcPts val="2340"/>
                </a:lnSpc>
                <a:spcBef>
                  <a:spcPct val="0"/>
                </a:spcBef>
              </a:pPr>
              <a:endParaRPr/>
            </a:p>
          </p:txBody>
        </p:sp>
      </p:grpSp>
      <p:grpSp>
        <p:nvGrpSpPr>
          <p:cNvPr id="5" name="Group 5"/>
          <p:cNvGrpSpPr/>
          <p:nvPr/>
        </p:nvGrpSpPr>
        <p:grpSpPr>
          <a:xfrm>
            <a:off x="6595103" y="2895485"/>
            <a:ext cx="5097795" cy="6649063"/>
            <a:chOff x="0" y="0"/>
            <a:chExt cx="1342629" cy="1751193"/>
          </a:xfrm>
        </p:grpSpPr>
        <p:sp>
          <p:nvSpPr>
            <p:cNvPr id="6" name="Freeform 6"/>
            <p:cNvSpPr/>
            <p:nvPr/>
          </p:nvSpPr>
          <p:spPr>
            <a:xfrm>
              <a:off x="0" y="0"/>
              <a:ext cx="1342629" cy="1751193"/>
            </a:xfrm>
            <a:custGeom>
              <a:avLst/>
              <a:gdLst/>
              <a:ahLst/>
              <a:cxnLst/>
              <a:rect l="l" t="t" r="r" b="b"/>
              <a:pathLst>
                <a:path w="1342629" h="1751193">
                  <a:moveTo>
                    <a:pt x="48598" y="0"/>
                  </a:moveTo>
                  <a:lnTo>
                    <a:pt x="1294031" y="0"/>
                  </a:lnTo>
                  <a:cubicBezTo>
                    <a:pt x="1320871" y="0"/>
                    <a:pt x="1342629" y="21758"/>
                    <a:pt x="1342629" y="48598"/>
                  </a:cubicBezTo>
                  <a:lnTo>
                    <a:pt x="1342629" y="1702596"/>
                  </a:lnTo>
                  <a:cubicBezTo>
                    <a:pt x="1342629" y="1729436"/>
                    <a:pt x="1320871" y="1751193"/>
                    <a:pt x="1294031" y="1751193"/>
                  </a:cubicBezTo>
                  <a:lnTo>
                    <a:pt x="48598" y="1751193"/>
                  </a:lnTo>
                  <a:cubicBezTo>
                    <a:pt x="21758" y="1751193"/>
                    <a:pt x="0" y="1729436"/>
                    <a:pt x="0" y="1702596"/>
                  </a:cubicBezTo>
                  <a:lnTo>
                    <a:pt x="0" y="48598"/>
                  </a:lnTo>
                  <a:cubicBezTo>
                    <a:pt x="0" y="21758"/>
                    <a:pt x="21758" y="0"/>
                    <a:pt x="48598" y="0"/>
                  </a:cubicBezTo>
                  <a:close/>
                </a:path>
              </a:pathLst>
            </a:custGeom>
            <a:solidFill>
              <a:srgbClr val="FFFFFF"/>
            </a:solidFill>
          </p:spPr>
        </p:sp>
        <p:sp>
          <p:nvSpPr>
            <p:cNvPr id="7" name="TextBox 7"/>
            <p:cNvSpPr txBox="1"/>
            <p:nvPr/>
          </p:nvSpPr>
          <p:spPr>
            <a:xfrm>
              <a:off x="0" y="0"/>
              <a:ext cx="1342629" cy="1751193"/>
            </a:xfrm>
            <a:prstGeom prst="rect">
              <a:avLst/>
            </a:prstGeom>
          </p:spPr>
          <p:txBody>
            <a:bodyPr lIns="50800" tIns="50800" rIns="50800" bIns="50800" rtlCol="0" anchor="ctr"/>
            <a:lstStyle/>
            <a:p>
              <a:pPr marL="0" lvl="0" indent="0" algn="ctr">
                <a:lnSpc>
                  <a:spcPts val="2340"/>
                </a:lnSpc>
                <a:spcBef>
                  <a:spcPct val="0"/>
                </a:spcBef>
              </a:pPr>
              <a:endParaRPr/>
            </a:p>
          </p:txBody>
        </p:sp>
      </p:grpSp>
      <p:grpSp>
        <p:nvGrpSpPr>
          <p:cNvPr id="8" name="Group 8"/>
          <p:cNvGrpSpPr/>
          <p:nvPr/>
        </p:nvGrpSpPr>
        <p:grpSpPr>
          <a:xfrm>
            <a:off x="12161505" y="2895485"/>
            <a:ext cx="5097795" cy="6649063"/>
            <a:chOff x="0" y="0"/>
            <a:chExt cx="1342629" cy="1751193"/>
          </a:xfrm>
        </p:grpSpPr>
        <p:sp>
          <p:nvSpPr>
            <p:cNvPr id="9" name="Freeform 9"/>
            <p:cNvSpPr/>
            <p:nvPr/>
          </p:nvSpPr>
          <p:spPr>
            <a:xfrm>
              <a:off x="0" y="0"/>
              <a:ext cx="1342629" cy="1751193"/>
            </a:xfrm>
            <a:custGeom>
              <a:avLst/>
              <a:gdLst/>
              <a:ahLst/>
              <a:cxnLst/>
              <a:rect l="l" t="t" r="r" b="b"/>
              <a:pathLst>
                <a:path w="1342629" h="1751193">
                  <a:moveTo>
                    <a:pt x="48598" y="0"/>
                  </a:moveTo>
                  <a:lnTo>
                    <a:pt x="1294031" y="0"/>
                  </a:lnTo>
                  <a:cubicBezTo>
                    <a:pt x="1320871" y="0"/>
                    <a:pt x="1342629" y="21758"/>
                    <a:pt x="1342629" y="48598"/>
                  </a:cubicBezTo>
                  <a:lnTo>
                    <a:pt x="1342629" y="1702596"/>
                  </a:lnTo>
                  <a:cubicBezTo>
                    <a:pt x="1342629" y="1729436"/>
                    <a:pt x="1320871" y="1751193"/>
                    <a:pt x="1294031" y="1751193"/>
                  </a:cubicBezTo>
                  <a:lnTo>
                    <a:pt x="48598" y="1751193"/>
                  </a:lnTo>
                  <a:cubicBezTo>
                    <a:pt x="21758" y="1751193"/>
                    <a:pt x="0" y="1729436"/>
                    <a:pt x="0" y="1702596"/>
                  </a:cubicBezTo>
                  <a:lnTo>
                    <a:pt x="0" y="48598"/>
                  </a:lnTo>
                  <a:cubicBezTo>
                    <a:pt x="0" y="21758"/>
                    <a:pt x="21758" y="0"/>
                    <a:pt x="48598" y="0"/>
                  </a:cubicBezTo>
                  <a:close/>
                </a:path>
              </a:pathLst>
            </a:custGeom>
            <a:solidFill>
              <a:srgbClr val="FFFFFF"/>
            </a:solidFill>
          </p:spPr>
        </p:sp>
        <p:sp>
          <p:nvSpPr>
            <p:cNvPr id="10" name="TextBox 10"/>
            <p:cNvSpPr txBox="1"/>
            <p:nvPr/>
          </p:nvSpPr>
          <p:spPr>
            <a:xfrm>
              <a:off x="0" y="0"/>
              <a:ext cx="1342629" cy="1751193"/>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11" name="TextBox 11"/>
          <p:cNvSpPr txBox="1"/>
          <p:nvPr/>
        </p:nvSpPr>
        <p:spPr>
          <a:xfrm>
            <a:off x="1028700" y="1047750"/>
            <a:ext cx="15522833" cy="1192530"/>
          </a:xfrm>
          <a:prstGeom prst="rect">
            <a:avLst/>
          </a:prstGeom>
        </p:spPr>
        <p:txBody>
          <a:bodyPr lIns="0" tIns="0" rIns="0" bIns="0" rtlCol="0" anchor="t">
            <a:spAutoFit/>
          </a:bodyPr>
          <a:lstStyle/>
          <a:p>
            <a:pPr algn="l">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CÁC CHỨC NĂNG CHÍNH</a:t>
            </a:r>
          </a:p>
        </p:txBody>
      </p:sp>
      <p:grpSp>
        <p:nvGrpSpPr>
          <p:cNvPr id="12" name="Group 12"/>
          <p:cNvGrpSpPr/>
          <p:nvPr/>
        </p:nvGrpSpPr>
        <p:grpSpPr>
          <a:xfrm>
            <a:off x="1343118" y="3051015"/>
            <a:ext cx="4468959" cy="1380341"/>
            <a:chOff x="0" y="0"/>
            <a:chExt cx="2254173" cy="696253"/>
          </a:xfrm>
        </p:grpSpPr>
        <p:sp>
          <p:nvSpPr>
            <p:cNvPr id="13" name="Freeform 13"/>
            <p:cNvSpPr/>
            <p:nvPr/>
          </p:nvSpPr>
          <p:spPr>
            <a:xfrm>
              <a:off x="0" y="0"/>
              <a:ext cx="2254173" cy="696253"/>
            </a:xfrm>
            <a:custGeom>
              <a:avLst/>
              <a:gdLst/>
              <a:ahLst/>
              <a:cxnLst/>
              <a:rect l="l" t="t" r="r" b="b"/>
              <a:pathLst>
                <a:path w="2254173" h="696253">
                  <a:moveTo>
                    <a:pt x="2050973" y="0"/>
                  </a:moveTo>
                  <a:cubicBezTo>
                    <a:pt x="2163197" y="0"/>
                    <a:pt x="2254173" y="155862"/>
                    <a:pt x="2254173" y="348127"/>
                  </a:cubicBezTo>
                  <a:cubicBezTo>
                    <a:pt x="2254173" y="540392"/>
                    <a:pt x="2163197" y="696253"/>
                    <a:pt x="2050973" y="696253"/>
                  </a:cubicBezTo>
                  <a:lnTo>
                    <a:pt x="203200" y="696253"/>
                  </a:lnTo>
                  <a:cubicBezTo>
                    <a:pt x="90976" y="696253"/>
                    <a:pt x="0" y="540392"/>
                    <a:pt x="0" y="348127"/>
                  </a:cubicBezTo>
                  <a:cubicBezTo>
                    <a:pt x="0" y="155862"/>
                    <a:pt x="90976" y="0"/>
                    <a:pt x="203200" y="0"/>
                  </a:cubicBezTo>
                  <a:lnTo>
                    <a:pt x="2050973"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14" name="TextBox 14"/>
            <p:cNvSpPr txBox="1"/>
            <p:nvPr/>
          </p:nvSpPr>
          <p:spPr>
            <a:xfrm>
              <a:off x="0" y="0"/>
              <a:ext cx="2254173" cy="696253"/>
            </a:xfrm>
            <a:prstGeom prst="rect">
              <a:avLst/>
            </a:prstGeom>
          </p:spPr>
          <p:txBody>
            <a:bodyPr lIns="50800" tIns="50800" rIns="50800" bIns="50800" rtlCol="0" anchor="ctr"/>
            <a:lstStyle/>
            <a:p>
              <a:pPr marL="0" lvl="0" indent="0" algn="ctr">
                <a:lnSpc>
                  <a:spcPts val="2340"/>
                </a:lnSpc>
                <a:spcBef>
                  <a:spcPct val="0"/>
                </a:spcBef>
              </a:pPr>
              <a:endParaRPr/>
            </a:p>
          </p:txBody>
        </p:sp>
      </p:grpSp>
      <p:grpSp>
        <p:nvGrpSpPr>
          <p:cNvPr id="15" name="Group 15"/>
          <p:cNvGrpSpPr/>
          <p:nvPr/>
        </p:nvGrpSpPr>
        <p:grpSpPr>
          <a:xfrm>
            <a:off x="7067355" y="3051015"/>
            <a:ext cx="4153290" cy="1380341"/>
            <a:chOff x="0" y="0"/>
            <a:chExt cx="2094948" cy="696253"/>
          </a:xfrm>
        </p:grpSpPr>
        <p:sp>
          <p:nvSpPr>
            <p:cNvPr id="16" name="Freeform 16"/>
            <p:cNvSpPr/>
            <p:nvPr/>
          </p:nvSpPr>
          <p:spPr>
            <a:xfrm>
              <a:off x="0" y="0"/>
              <a:ext cx="2094948" cy="696253"/>
            </a:xfrm>
            <a:custGeom>
              <a:avLst/>
              <a:gdLst/>
              <a:ahLst/>
              <a:cxnLst/>
              <a:rect l="l" t="t" r="r" b="b"/>
              <a:pathLst>
                <a:path w="2094948" h="696253">
                  <a:moveTo>
                    <a:pt x="1891748" y="0"/>
                  </a:moveTo>
                  <a:cubicBezTo>
                    <a:pt x="2003972" y="0"/>
                    <a:pt x="2094948" y="155862"/>
                    <a:pt x="2094948" y="348127"/>
                  </a:cubicBezTo>
                  <a:cubicBezTo>
                    <a:pt x="2094948" y="540392"/>
                    <a:pt x="2003972" y="696253"/>
                    <a:pt x="1891748" y="696253"/>
                  </a:cubicBezTo>
                  <a:lnTo>
                    <a:pt x="203200" y="696253"/>
                  </a:lnTo>
                  <a:cubicBezTo>
                    <a:pt x="90976" y="696253"/>
                    <a:pt x="0" y="540392"/>
                    <a:pt x="0" y="348127"/>
                  </a:cubicBezTo>
                  <a:cubicBezTo>
                    <a:pt x="0" y="155862"/>
                    <a:pt x="90976" y="0"/>
                    <a:pt x="203200" y="0"/>
                  </a:cubicBezTo>
                  <a:lnTo>
                    <a:pt x="1891748"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17" name="TextBox 17"/>
            <p:cNvSpPr txBox="1"/>
            <p:nvPr/>
          </p:nvSpPr>
          <p:spPr>
            <a:xfrm>
              <a:off x="0" y="0"/>
              <a:ext cx="2094948" cy="696253"/>
            </a:xfrm>
            <a:prstGeom prst="rect">
              <a:avLst/>
            </a:prstGeom>
          </p:spPr>
          <p:txBody>
            <a:bodyPr lIns="50800" tIns="50800" rIns="50800" bIns="50800" rtlCol="0" anchor="ctr"/>
            <a:lstStyle/>
            <a:p>
              <a:pPr marL="0" lvl="0" indent="0" algn="ctr">
                <a:lnSpc>
                  <a:spcPts val="2340"/>
                </a:lnSpc>
                <a:spcBef>
                  <a:spcPct val="0"/>
                </a:spcBef>
              </a:pPr>
              <a:endParaRPr/>
            </a:p>
          </p:txBody>
        </p:sp>
      </p:grpSp>
      <p:grpSp>
        <p:nvGrpSpPr>
          <p:cNvPr id="18" name="Group 18"/>
          <p:cNvGrpSpPr/>
          <p:nvPr/>
        </p:nvGrpSpPr>
        <p:grpSpPr>
          <a:xfrm>
            <a:off x="12532427" y="3051015"/>
            <a:ext cx="4468959" cy="1380341"/>
            <a:chOff x="0" y="0"/>
            <a:chExt cx="2254173" cy="696253"/>
          </a:xfrm>
        </p:grpSpPr>
        <p:sp>
          <p:nvSpPr>
            <p:cNvPr id="19" name="Freeform 19"/>
            <p:cNvSpPr/>
            <p:nvPr/>
          </p:nvSpPr>
          <p:spPr>
            <a:xfrm>
              <a:off x="0" y="0"/>
              <a:ext cx="2254173" cy="696253"/>
            </a:xfrm>
            <a:custGeom>
              <a:avLst/>
              <a:gdLst/>
              <a:ahLst/>
              <a:cxnLst/>
              <a:rect l="l" t="t" r="r" b="b"/>
              <a:pathLst>
                <a:path w="2254173" h="696253">
                  <a:moveTo>
                    <a:pt x="2050973" y="0"/>
                  </a:moveTo>
                  <a:cubicBezTo>
                    <a:pt x="2163197" y="0"/>
                    <a:pt x="2254173" y="155862"/>
                    <a:pt x="2254173" y="348127"/>
                  </a:cubicBezTo>
                  <a:cubicBezTo>
                    <a:pt x="2254173" y="540392"/>
                    <a:pt x="2163197" y="696253"/>
                    <a:pt x="2050973" y="696253"/>
                  </a:cubicBezTo>
                  <a:lnTo>
                    <a:pt x="203200" y="696253"/>
                  </a:lnTo>
                  <a:cubicBezTo>
                    <a:pt x="90976" y="696253"/>
                    <a:pt x="0" y="540392"/>
                    <a:pt x="0" y="348127"/>
                  </a:cubicBezTo>
                  <a:cubicBezTo>
                    <a:pt x="0" y="155862"/>
                    <a:pt x="90976" y="0"/>
                    <a:pt x="203200" y="0"/>
                  </a:cubicBezTo>
                  <a:lnTo>
                    <a:pt x="2050973" y="0"/>
                  </a:ln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20" name="TextBox 20"/>
            <p:cNvSpPr txBox="1"/>
            <p:nvPr/>
          </p:nvSpPr>
          <p:spPr>
            <a:xfrm>
              <a:off x="0" y="0"/>
              <a:ext cx="2254173" cy="696253"/>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21" name="TextBox 21"/>
          <p:cNvSpPr txBox="1"/>
          <p:nvPr/>
        </p:nvSpPr>
        <p:spPr>
          <a:xfrm>
            <a:off x="1769159" y="3298212"/>
            <a:ext cx="3593065" cy="936117"/>
          </a:xfrm>
          <a:prstGeom prst="rect">
            <a:avLst/>
          </a:prstGeom>
        </p:spPr>
        <p:txBody>
          <a:bodyPr lIns="0" tIns="0" rIns="0" bIns="0" rtlCol="0" anchor="t">
            <a:spAutoFit/>
          </a:bodyPr>
          <a:lstStyle/>
          <a:p>
            <a:pPr algn="ctr">
              <a:lnSpc>
                <a:spcPts val="3744"/>
              </a:lnSpc>
            </a:pPr>
            <a:r>
              <a:rPr lang="en-US" sz="3200" b="1">
                <a:solidFill>
                  <a:srgbClr val="FFFFFF"/>
                </a:solidFill>
                <a:latin typeface="Proxima Nova Heavy"/>
                <a:ea typeface="Proxima Nova Heavy"/>
                <a:cs typeface="Proxima Nova Heavy"/>
                <a:sym typeface="Proxima Nova Heavy"/>
              </a:rPr>
              <a:t>CORE MANAGEMENT</a:t>
            </a:r>
          </a:p>
        </p:txBody>
      </p:sp>
      <p:sp>
        <p:nvSpPr>
          <p:cNvPr id="22" name="TextBox 22"/>
          <p:cNvSpPr txBox="1"/>
          <p:nvPr/>
        </p:nvSpPr>
        <p:spPr>
          <a:xfrm>
            <a:off x="7347467" y="3505782"/>
            <a:ext cx="3593065" cy="469392"/>
          </a:xfrm>
          <a:prstGeom prst="rect">
            <a:avLst/>
          </a:prstGeom>
        </p:spPr>
        <p:txBody>
          <a:bodyPr lIns="0" tIns="0" rIns="0" bIns="0" rtlCol="0" anchor="t">
            <a:spAutoFit/>
          </a:bodyPr>
          <a:lstStyle/>
          <a:p>
            <a:pPr algn="ctr">
              <a:lnSpc>
                <a:spcPts val="3744"/>
              </a:lnSpc>
            </a:pPr>
            <a:r>
              <a:rPr lang="en-US" sz="3200" b="1">
                <a:solidFill>
                  <a:srgbClr val="FFFFFF"/>
                </a:solidFill>
                <a:latin typeface="Proxima Nova Heavy"/>
                <a:ea typeface="Proxima Nova Heavy"/>
                <a:cs typeface="Proxima Nova Heavy"/>
                <a:sym typeface="Proxima Nova Heavy"/>
              </a:rPr>
              <a:t>COLLABORATION</a:t>
            </a:r>
          </a:p>
        </p:txBody>
      </p:sp>
      <p:sp>
        <p:nvSpPr>
          <p:cNvPr id="23" name="TextBox 23"/>
          <p:cNvSpPr txBox="1"/>
          <p:nvPr/>
        </p:nvSpPr>
        <p:spPr>
          <a:xfrm>
            <a:off x="12950197" y="3257568"/>
            <a:ext cx="3593065" cy="936117"/>
          </a:xfrm>
          <a:prstGeom prst="rect">
            <a:avLst/>
          </a:prstGeom>
        </p:spPr>
        <p:txBody>
          <a:bodyPr lIns="0" tIns="0" rIns="0" bIns="0" rtlCol="0" anchor="t">
            <a:spAutoFit/>
          </a:bodyPr>
          <a:lstStyle/>
          <a:p>
            <a:pPr algn="ctr">
              <a:lnSpc>
                <a:spcPts val="3744"/>
              </a:lnSpc>
            </a:pPr>
            <a:r>
              <a:rPr lang="en-US" sz="3200" b="1">
                <a:solidFill>
                  <a:srgbClr val="FFFFFF"/>
                </a:solidFill>
                <a:latin typeface="Proxima Nova Heavy"/>
                <a:ea typeface="Proxima Nova Heavy"/>
                <a:cs typeface="Proxima Nova Heavy"/>
                <a:sym typeface="Proxima Nova Heavy"/>
              </a:rPr>
              <a:t>INTELLIGENCE &amp; INTEGRATION</a:t>
            </a:r>
          </a:p>
        </p:txBody>
      </p:sp>
      <p:sp>
        <p:nvSpPr>
          <p:cNvPr id="24" name="TextBox 24"/>
          <p:cNvSpPr txBox="1"/>
          <p:nvPr/>
        </p:nvSpPr>
        <p:spPr>
          <a:xfrm>
            <a:off x="1274708" y="5722277"/>
            <a:ext cx="4581967" cy="1853549"/>
          </a:xfrm>
          <a:prstGeom prst="rect">
            <a:avLst/>
          </a:prstGeom>
        </p:spPr>
        <p:txBody>
          <a:bodyPr lIns="0" tIns="0" rIns="0" bIns="0" rtlCol="0" anchor="t">
            <a:spAutoFit/>
          </a:bodyPr>
          <a:lstStyle/>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Authentication &amp; User</a:t>
            </a:r>
          </a:p>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Organization &amp; Project</a:t>
            </a:r>
          </a:p>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Task / Kanban / Sprint</a:t>
            </a:r>
          </a:p>
        </p:txBody>
      </p:sp>
      <p:sp>
        <p:nvSpPr>
          <p:cNvPr id="25" name="TextBox 25"/>
          <p:cNvSpPr txBox="1"/>
          <p:nvPr/>
        </p:nvSpPr>
        <p:spPr>
          <a:xfrm>
            <a:off x="7220878" y="5531777"/>
            <a:ext cx="3846243" cy="2491724"/>
          </a:xfrm>
          <a:prstGeom prst="rect">
            <a:avLst/>
          </a:prstGeom>
        </p:spPr>
        <p:txBody>
          <a:bodyPr lIns="0" tIns="0" rIns="0" bIns="0" rtlCol="0" anchor="t">
            <a:spAutoFit/>
          </a:bodyPr>
          <a:lstStyle/>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Comment / Evidence</a:t>
            </a:r>
          </a:p>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Wiki / Import</a:t>
            </a:r>
          </a:p>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Group / Chat / Poll / Meeting</a:t>
            </a:r>
          </a:p>
        </p:txBody>
      </p:sp>
      <p:sp>
        <p:nvSpPr>
          <p:cNvPr id="26" name="TextBox 26"/>
          <p:cNvSpPr txBox="1"/>
          <p:nvPr/>
        </p:nvSpPr>
        <p:spPr>
          <a:xfrm>
            <a:off x="12431325" y="5722277"/>
            <a:ext cx="4581967" cy="1853549"/>
          </a:xfrm>
          <a:prstGeom prst="rect">
            <a:avLst/>
          </a:prstGeom>
        </p:spPr>
        <p:txBody>
          <a:bodyPr lIns="0" tIns="0" rIns="0" bIns="0" rtlCol="0" anchor="t">
            <a:spAutoFit/>
          </a:bodyPr>
          <a:lstStyle/>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Notification / Audit</a:t>
            </a:r>
          </a:p>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Dashboard / Analytics</a:t>
            </a:r>
          </a:p>
          <a:p>
            <a:pPr marL="563447" lvl="1" indent="-281724" algn="just">
              <a:lnSpc>
                <a:spcPts val="5036"/>
              </a:lnSpc>
              <a:buFont typeface="Arial"/>
              <a:buChar char="•"/>
            </a:pPr>
            <a:r>
              <a:rPr lang="en-US" sz="2609" b="1" i="1">
                <a:solidFill>
                  <a:srgbClr val="4E5454"/>
                </a:solidFill>
                <a:latin typeface="Proxima Nova Bold Italics"/>
                <a:ea typeface="Proxima Nova Bold Italics"/>
                <a:cs typeface="Proxima Nova Bold Italics"/>
                <a:sym typeface="Proxima Nova Bold Italics"/>
              </a:rPr>
              <a:t>AI / Webhook / API Key</a:t>
            </a:r>
          </a:p>
        </p:txBody>
      </p:sp>
      <p:sp>
        <p:nvSpPr>
          <p:cNvPr id="27" name="Freeform 27"/>
          <p:cNvSpPr/>
          <p:nvPr/>
        </p:nvSpPr>
        <p:spPr>
          <a:xfrm>
            <a:off x="15960535" y="584720"/>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3"/>
            <a:stretch>
              <a:fillRect/>
            </a:stretch>
          </a:blipFill>
        </p:spPr>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424956" y="2925973"/>
            <a:ext cx="10626755" cy="9613305"/>
            <a:chOff x="0" y="0"/>
            <a:chExt cx="14169006" cy="12817740"/>
          </a:xfrm>
        </p:grpSpPr>
        <p:sp>
          <p:nvSpPr>
            <p:cNvPr id="3" name="Freeform 3"/>
            <p:cNvSpPr/>
            <p:nvPr/>
          </p:nvSpPr>
          <p:spPr>
            <a:xfrm>
              <a:off x="3078247" y="1457512"/>
              <a:ext cx="11090760" cy="11360228"/>
            </a:xfrm>
            <a:custGeom>
              <a:avLst/>
              <a:gdLst/>
              <a:ahLst/>
              <a:cxnLst/>
              <a:rect l="l" t="t" r="r" b="b"/>
              <a:pathLst>
                <a:path w="11090760" h="11360228">
                  <a:moveTo>
                    <a:pt x="0" y="0"/>
                  </a:moveTo>
                  <a:lnTo>
                    <a:pt x="11090759" y="0"/>
                  </a:lnTo>
                  <a:lnTo>
                    <a:pt x="11090759" y="11360228"/>
                  </a:lnTo>
                  <a:lnTo>
                    <a:pt x="0" y="11360228"/>
                  </a:lnTo>
                  <a:lnTo>
                    <a:pt x="0" y="0"/>
                  </a:lnTo>
                  <a:close/>
                </a:path>
              </a:pathLst>
            </a:custGeom>
            <a:blipFill>
              <a:blip r:embed="rId3">
                <a:alphaModFix amt="54000"/>
              </a:blip>
              <a:stretch>
                <a:fillRect/>
              </a:stretch>
            </a:blipFill>
          </p:spPr>
        </p:sp>
        <p:sp>
          <p:nvSpPr>
            <p:cNvPr id="4" name="Freeform 4"/>
            <p:cNvSpPr/>
            <p:nvPr/>
          </p:nvSpPr>
          <p:spPr>
            <a:xfrm>
              <a:off x="0" y="0"/>
              <a:ext cx="11696177" cy="11980355"/>
            </a:xfrm>
            <a:custGeom>
              <a:avLst/>
              <a:gdLst/>
              <a:ahLst/>
              <a:cxnLst/>
              <a:rect l="l" t="t" r="r" b="b"/>
              <a:pathLst>
                <a:path w="11696177" h="11980355">
                  <a:moveTo>
                    <a:pt x="0" y="0"/>
                  </a:moveTo>
                  <a:lnTo>
                    <a:pt x="11696177" y="0"/>
                  </a:lnTo>
                  <a:lnTo>
                    <a:pt x="11696177" y="11980355"/>
                  </a:lnTo>
                  <a:lnTo>
                    <a:pt x="0" y="11980355"/>
                  </a:lnTo>
                  <a:lnTo>
                    <a:pt x="0" y="0"/>
                  </a:lnTo>
                  <a:close/>
                </a:path>
              </a:pathLst>
            </a:custGeom>
            <a:blipFill>
              <a:blip r:embed="rId4"/>
              <a:stretch>
                <a:fillRect/>
              </a:stretch>
            </a:blipFill>
          </p:spPr>
        </p:sp>
      </p:grpSp>
      <p:grpSp>
        <p:nvGrpSpPr>
          <p:cNvPr id="5" name="Group 5"/>
          <p:cNvGrpSpPr/>
          <p:nvPr/>
        </p:nvGrpSpPr>
        <p:grpSpPr>
          <a:xfrm>
            <a:off x="-424956" y="-384625"/>
            <a:ext cx="18829688" cy="10936268"/>
            <a:chOff x="0" y="0"/>
            <a:chExt cx="4959260" cy="2880334"/>
          </a:xfrm>
        </p:grpSpPr>
        <p:sp>
          <p:nvSpPr>
            <p:cNvPr id="6" name="Freeform 6"/>
            <p:cNvSpPr/>
            <p:nvPr/>
          </p:nvSpPr>
          <p:spPr>
            <a:xfrm>
              <a:off x="0" y="0"/>
              <a:ext cx="4959260" cy="2880334"/>
            </a:xfrm>
            <a:custGeom>
              <a:avLst/>
              <a:gdLst/>
              <a:ahLst/>
              <a:cxnLst/>
              <a:rect l="l" t="t" r="r" b="b"/>
              <a:pathLst>
                <a:path w="4959260" h="2880334">
                  <a:moveTo>
                    <a:pt x="0" y="0"/>
                  </a:moveTo>
                  <a:lnTo>
                    <a:pt x="4959260" y="0"/>
                  </a:lnTo>
                  <a:lnTo>
                    <a:pt x="4959260" y="2880334"/>
                  </a:lnTo>
                  <a:lnTo>
                    <a:pt x="0" y="2880334"/>
                  </a:lnTo>
                  <a:close/>
                </a:path>
              </a:pathLst>
            </a:custGeom>
            <a:gradFill rotWithShape="1">
              <a:gsLst>
                <a:gs pos="0">
                  <a:srgbClr val="EFFEFD">
                    <a:alpha val="0"/>
                  </a:srgbClr>
                </a:gs>
                <a:gs pos="100000">
                  <a:srgbClr val="F4FFFE">
                    <a:alpha val="100000"/>
                  </a:srgbClr>
                </a:gs>
              </a:gsLst>
              <a:lin ang="5400000"/>
            </a:gradFill>
          </p:spPr>
        </p:sp>
        <p:sp>
          <p:nvSpPr>
            <p:cNvPr id="7" name="TextBox 7"/>
            <p:cNvSpPr txBox="1"/>
            <p:nvPr/>
          </p:nvSpPr>
          <p:spPr>
            <a:xfrm>
              <a:off x="0" y="0"/>
              <a:ext cx="4959260" cy="2880334"/>
            </a:xfrm>
            <a:prstGeom prst="rect">
              <a:avLst/>
            </a:prstGeom>
          </p:spPr>
          <p:txBody>
            <a:bodyPr lIns="50800" tIns="50800" rIns="50800" bIns="50800" rtlCol="0" anchor="ctr"/>
            <a:lstStyle/>
            <a:p>
              <a:pPr algn="ctr">
                <a:lnSpc>
                  <a:spcPts val="2340"/>
                </a:lnSpc>
              </a:pPr>
              <a:endParaRPr/>
            </a:p>
          </p:txBody>
        </p:sp>
      </p:grpSp>
      <p:sp>
        <p:nvSpPr>
          <p:cNvPr id="8" name="TextBox 8"/>
          <p:cNvSpPr txBox="1"/>
          <p:nvPr/>
        </p:nvSpPr>
        <p:spPr>
          <a:xfrm>
            <a:off x="1028700" y="441960"/>
            <a:ext cx="18338923" cy="1192530"/>
          </a:xfrm>
          <a:prstGeom prst="rect">
            <a:avLst/>
          </a:prstGeom>
        </p:spPr>
        <p:txBody>
          <a:bodyPr lIns="0" tIns="0" rIns="0" bIns="0" rtlCol="0" anchor="t">
            <a:spAutoFit/>
          </a:bodyPr>
          <a:lstStyle/>
          <a:p>
            <a:pPr algn="l">
              <a:lnSpc>
                <a:spcPts val="9360"/>
              </a:lnSpc>
            </a:pPr>
            <a:r>
              <a:rPr lang="en-US" sz="8000"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ĐIỂM NỔI BẬT NGHIỆP VỤ</a:t>
            </a:r>
          </a:p>
        </p:txBody>
      </p:sp>
      <p:sp>
        <p:nvSpPr>
          <p:cNvPr id="9" name="Freeform 9"/>
          <p:cNvSpPr/>
          <p:nvPr/>
        </p:nvSpPr>
        <p:spPr>
          <a:xfrm>
            <a:off x="694259" y="9077051"/>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5"/>
            <a:stretch>
              <a:fillRect/>
            </a:stretch>
          </a:blipFill>
        </p:spPr>
      </p:sp>
      <p:grpSp>
        <p:nvGrpSpPr>
          <p:cNvPr id="10" name="Group 10"/>
          <p:cNvGrpSpPr/>
          <p:nvPr/>
        </p:nvGrpSpPr>
        <p:grpSpPr>
          <a:xfrm>
            <a:off x="1028700" y="2265907"/>
            <a:ext cx="8296441" cy="5953080"/>
            <a:chOff x="0" y="0"/>
            <a:chExt cx="10694200" cy="7673583"/>
          </a:xfrm>
        </p:grpSpPr>
        <p:sp>
          <p:nvSpPr>
            <p:cNvPr id="11" name="Freeform 11" descr="preencoded.png"/>
            <p:cNvSpPr/>
            <p:nvPr/>
          </p:nvSpPr>
          <p:spPr>
            <a:xfrm>
              <a:off x="0" y="0"/>
              <a:ext cx="10694162" cy="7673555"/>
            </a:xfrm>
            <a:custGeom>
              <a:avLst/>
              <a:gdLst/>
              <a:ahLst/>
              <a:cxnLst/>
              <a:rect l="l" t="t" r="r" b="b"/>
              <a:pathLst>
                <a:path w="10694162" h="7673555">
                  <a:moveTo>
                    <a:pt x="0" y="0"/>
                  </a:moveTo>
                  <a:lnTo>
                    <a:pt x="10694162" y="0"/>
                  </a:lnTo>
                  <a:lnTo>
                    <a:pt x="10694162" y="7673555"/>
                  </a:lnTo>
                  <a:lnTo>
                    <a:pt x="0" y="7673555"/>
                  </a:lnTo>
                  <a:lnTo>
                    <a:pt x="0" y="0"/>
                  </a:lnTo>
                  <a:close/>
                </a:path>
              </a:pathLst>
            </a:custGeom>
            <a:blipFill>
              <a:blip r:embed="rId6"/>
              <a:stretch>
                <a:fillRect t="-19681" b="-19682"/>
              </a:stretch>
            </a:blipFill>
          </p:spPr>
        </p:sp>
      </p:grpSp>
      <p:grpSp>
        <p:nvGrpSpPr>
          <p:cNvPr id="12" name="Group 12"/>
          <p:cNvGrpSpPr/>
          <p:nvPr/>
        </p:nvGrpSpPr>
        <p:grpSpPr>
          <a:xfrm>
            <a:off x="9737869" y="1855727"/>
            <a:ext cx="7521431" cy="1619439"/>
            <a:chOff x="0" y="0"/>
            <a:chExt cx="2406820" cy="518212"/>
          </a:xfrm>
        </p:grpSpPr>
        <p:sp>
          <p:nvSpPr>
            <p:cNvPr id="13" name="Freeform 13"/>
            <p:cNvSpPr/>
            <p:nvPr/>
          </p:nvSpPr>
          <p:spPr>
            <a:xfrm>
              <a:off x="0" y="0"/>
              <a:ext cx="2406820" cy="518212"/>
            </a:xfrm>
            <a:custGeom>
              <a:avLst/>
              <a:gdLst/>
              <a:ahLst/>
              <a:cxnLst/>
              <a:rect l="l" t="t" r="r" b="b"/>
              <a:pathLst>
                <a:path w="2406820" h="518212">
                  <a:moveTo>
                    <a:pt x="32938" y="0"/>
                  </a:moveTo>
                  <a:lnTo>
                    <a:pt x="2373882" y="0"/>
                  </a:lnTo>
                  <a:cubicBezTo>
                    <a:pt x="2382618" y="0"/>
                    <a:pt x="2390996" y="3470"/>
                    <a:pt x="2397173" y="9647"/>
                  </a:cubicBezTo>
                  <a:cubicBezTo>
                    <a:pt x="2403350" y="15824"/>
                    <a:pt x="2406820" y="24202"/>
                    <a:pt x="2406820" y="32938"/>
                  </a:cubicBezTo>
                  <a:lnTo>
                    <a:pt x="2406820" y="485274"/>
                  </a:lnTo>
                  <a:cubicBezTo>
                    <a:pt x="2406820" y="503465"/>
                    <a:pt x="2392073" y="518212"/>
                    <a:pt x="2373882" y="518212"/>
                  </a:cubicBezTo>
                  <a:lnTo>
                    <a:pt x="32938" y="518212"/>
                  </a:lnTo>
                  <a:cubicBezTo>
                    <a:pt x="14747" y="518212"/>
                    <a:pt x="0" y="503465"/>
                    <a:pt x="0" y="485274"/>
                  </a:cubicBezTo>
                  <a:lnTo>
                    <a:pt x="0" y="32938"/>
                  </a:lnTo>
                  <a:cubicBezTo>
                    <a:pt x="0" y="14747"/>
                    <a:pt x="14747" y="0"/>
                    <a:pt x="32938" y="0"/>
                  </a:cubicBez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14" name="TextBox 14"/>
            <p:cNvSpPr txBox="1"/>
            <p:nvPr/>
          </p:nvSpPr>
          <p:spPr>
            <a:xfrm>
              <a:off x="0" y="0"/>
              <a:ext cx="2406820" cy="518212"/>
            </a:xfrm>
            <a:prstGeom prst="rect">
              <a:avLst/>
            </a:prstGeom>
          </p:spPr>
          <p:txBody>
            <a:bodyPr lIns="41811" tIns="41811" rIns="41811" bIns="41811" rtlCol="0" anchor="ctr"/>
            <a:lstStyle/>
            <a:p>
              <a:pPr marL="0" lvl="0" indent="0" algn="ctr">
                <a:lnSpc>
                  <a:spcPts val="2340"/>
                </a:lnSpc>
                <a:spcBef>
                  <a:spcPct val="0"/>
                </a:spcBef>
              </a:pPr>
              <a:endParaRPr/>
            </a:p>
          </p:txBody>
        </p:sp>
      </p:grpSp>
      <p:grpSp>
        <p:nvGrpSpPr>
          <p:cNvPr id="15" name="Group 15"/>
          <p:cNvGrpSpPr/>
          <p:nvPr/>
        </p:nvGrpSpPr>
        <p:grpSpPr>
          <a:xfrm>
            <a:off x="9737869" y="3573632"/>
            <a:ext cx="7521431" cy="1619439"/>
            <a:chOff x="0" y="0"/>
            <a:chExt cx="2406820" cy="518212"/>
          </a:xfrm>
        </p:grpSpPr>
        <p:sp>
          <p:nvSpPr>
            <p:cNvPr id="16" name="Freeform 16"/>
            <p:cNvSpPr/>
            <p:nvPr/>
          </p:nvSpPr>
          <p:spPr>
            <a:xfrm>
              <a:off x="0" y="0"/>
              <a:ext cx="2406820" cy="518212"/>
            </a:xfrm>
            <a:custGeom>
              <a:avLst/>
              <a:gdLst/>
              <a:ahLst/>
              <a:cxnLst/>
              <a:rect l="l" t="t" r="r" b="b"/>
              <a:pathLst>
                <a:path w="2406820" h="518212">
                  <a:moveTo>
                    <a:pt x="32938" y="0"/>
                  </a:moveTo>
                  <a:lnTo>
                    <a:pt x="2373882" y="0"/>
                  </a:lnTo>
                  <a:cubicBezTo>
                    <a:pt x="2382618" y="0"/>
                    <a:pt x="2390996" y="3470"/>
                    <a:pt x="2397173" y="9647"/>
                  </a:cubicBezTo>
                  <a:cubicBezTo>
                    <a:pt x="2403350" y="15824"/>
                    <a:pt x="2406820" y="24202"/>
                    <a:pt x="2406820" y="32938"/>
                  </a:cubicBezTo>
                  <a:lnTo>
                    <a:pt x="2406820" y="485274"/>
                  </a:lnTo>
                  <a:cubicBezTo>
                    <a:pt x="2406820" y="503465"/>
                    <a:pt x="2392073" y="518212"/>
                    <a:pt x="2373882" y="518212"/>
                  </a:cubicBezTo>
                  <a:lnTo>
                    <a:pt x="32938" y="518212"/>
                  </a:lnTo>
                  <a:cubicBezTo>
                    <a:pt x="14747" y="518212"/>
                    <a:pt x="0" y="503465"/>
                    <a:pt x="0" y="485274"/>
                  </a:cubicBezTo>
                  <a:lnTo>
                    <a:pt x="0" y="32938"/>
                  </a:lnTo>
                  <a:cubicBezTo>
                    <a:pt x="0" y="14747"/>
                    <a:pt x="14747" y="0"/>
                    <a:pt x="32938" y="0"/>
                  </a:cubicBez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17" name="TextBox 17"/>
            <p:cNvSpPr txBox="1"/>
            <p:nvPr/>
          </p:nvSpPr>
          <p:spPr>
            <a:xfrm>
              <a:off x="0" y="0"/>
              <a:ext cx="2406820" cy="518212"/>
            </a:xfrm>
            <a:prstGeom prst="rect">
              <a:avLst/>
            </a:prstGeom>
          </p:spPr>
          <p:txBody>
            <a:bodyPr lIns="41811" tIns="41811" rIns="41811" bIns="41811" rtlCol="0" anchor="ctr"/>
            <a:lstStyle/>
            <a:p>
              <a:pPr marL="0" lvl="0" indent="0" algn="ctr">
                <a:lnSpc>
                  <a:spcPts val="2340"/>
                </a:lnSpc>
                <a:spcBef>
                  <a:spcPct val="0"/>
                </a:spcBef>
              </a:pPr>
              <a:endParaRPr/>
            </a:p>
          </p:txBody>
        </p:sp>
      </p:grpSp>
      <p:grpSp>
        <p:nvGrpSpPr>
          <p:cNvPr id="18" name="Group 18"/>
          <p:cNvGrpSpPr/>
          <p:nvPr/>
        </p:nvGrpSpPr>
        <p:grpSpPr>
          <a:xfrm>
            <a:off x="9737869" y="5291679"/>
            <a:ext cx="7521431" cy="1619439"/>
            <a:chOff x="0" y="0"/>
            <a:chExt cx="2406820" cy="518212"/>
          </a:xfrm>
        </p:grpSpPr>
        <p:sp>
          <p:nvSpPr>
            <p:cNvPr id="19" name="Freeform 19"/>
            <p:cNvSpPr/>
            <p:nvPr/>
          </p:nvSpPr>
          <p:spPr>
            <a:xfrm>
              <a:off x="0" y="0"/>
              <a:ext cx="2406820" cy="518212"/>
            </a:xfrm>
            <a:custGeom>
              <a:avLst/>
              <a:gdLst/>
              <a:ahLst/>
              <a:cxnLst/>
              <a:rect l="l" t="t" r="r" b="b"/>
              <a:pathLst>
                <a:path w="2406820" h="518212">
                  <a:moveTo>
                    <a:pt x="32938" y="0"/>
                  </a:moveTo>
                  <a:lnTo>
                    <a:pt x="2373882" y="0"/>
                  </a:lnTo>
                  <a:cubicBezTo>
                    <a:pt x="2382618" y="0"/>
                    <a:pt x="2390996" y="3470"/>
                    <a:pt x="2397173" y="9647"/>
                  </a:cubicBezTo>
                  <a:cubicBezTo>
                    <a:pt x="2403350" y="15824"/>
                    <a:pt x="2406820" y="24202"/>
                    <a:pt x="2406820" y="32938"/>
                  </a:cubicBezTo>
                  <a:lnTo>
                    <a:pt x="2406820" y="485274"/>
                  </a:lnTo>
                  <a:cubicBezTo>
                    <a:pt x="2406820" y="503465"/>
                    <a:pt x="2392073" y="518212"/>
                    <a:pt x="2373882" y="518212"/>
                  </a:cubicBezTo>
                  <a:lnTo>
                    <a:pt x="32938" y="518212"/>
                  </a:lnTo>
                  <a:cubicBezTo>
                    <a:pt x="14747" y="518212"/>
                    <a:pt x="0" y="503465"/>
                    <a:pt x="0" y="485274"/>
                  </a:cubicBezTo>
                  <a:lnTo>
                    <a:pt x="0" y="32938"/>
                  </a:lnTo>
                  <a:cubicBezTo>
                    <a:pt x="0" y="14747"/>
                    <a:pt x="14747" y="0"/>
                    <a:pt x="32938" y="0"/>
                  </a:cubicBez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20" name="TextBox 20"/>
            <p:cNvSpPr txBox="1"/>
            <p:nvPr/>
          </p:nvSpPr>
          <p:spPr>
            <a:xfrm>
              <a:off x="0" y="0"/>
              <a:ext cx="2406820" cy="518212"/>
            </a:xfrm>
            <a:prstGeom prst="rect">
              <a:avLst/>
            </a:prstGeom>
          </p:spPr>
          <p:txBody>
            <a:bodyPr lIns="41811" tIns="41811" rIns="41811" bIns="41811" rtlCol="0" anchor="ctr"/>
            <a:lstStyle/>
            <a:p>
              <a:pPr marL="0" lvl="0" indent="0" algn="ctr">
                <a:lnSpc>
                  <a:spcPts val="2340"/>
                </a:lnSpc>
                <a:spcBef>
                  <a:spcPct val="0"/>
                </a:spcBef>
              </a:pPr>
              <a:endParaRPr/>
            </a:p>
          </p:txBody>
        </p:sp>
      </p:grpSp>
      <p:grpSp>
        <p:nvGrpSpPr>
          <p:cNvPr id="21" name="Group 21"/>
          <p:cNvGrpSpPr/>
          <p:nvPr/>
        </p:nvGrpSpPr>
        <p:grpSpPr>
          <a:xfrm>
            <a:off x="9737869" y="7009727"/>
            <a:ext cx="7521431" cy="1619439"/>
            <a:chOff x="0" y="0"/>
            <a:chExt cx="2406820" cy="518212"/>
          </a:xfrm>
        </p:grpSpPr>
        <p:sp>
          <p:nvSpPr>
            <p:cNvPr id="22" name="Freeform 22"/>
            <p:cNvSpPr/>
            <p:nvPr/>
          </p:nvSpPr>
          <p:spPr>
            <a:xfrm>
              <a:off x="0" y="0"/>
              <a:ext cx="2406820" cy="518212"/>
            </a:xfrm>
            <a:custGeom>
              <a:avLst/>
              <a:gdLst/>
              <a:ahLst/>
              <a:cxnLst/>
              <a:rect l="l" t="t" r="r" b="b"/>
              <a:pathLst>
                <a:path w="2406820" h="518212">
                  <a:moveTo>
                    <a:pt x="32938" y="0"/>
                  </a:moveTo>
                  <a:lnTo>
                    <a:pt x="2373882" y="0"/>
                  </a:lnTo>
                  <a:cubicBezTo>
                    <a:pt x="2382618" y="0"/>
                    <a:pt x="2390996" y="3470"/>
                    <a:pt x="2397173" y="9647"/>
                  </a:cubicBezTo>
                  <a:cubicBezTo>
                    <a:pt x="2403350" y="15824"/>
                    <a:pt x="2406820" y="24202"/>
                    <a:pt x="2406820" y="32938"/>
                  </a:cubicBezTo>
                  <a:lnTo>
                    <a:pt x="2406820" y="485274"/>
                  </a:lnTo>
                  <a:cubicBezTo>
                    <a:pt x="2406820" y="503465"/>
                    <a:pt x="2392073" y="518212"/>
                    <a:pt x="2373882" y="518212"/>
                  </a:cubicBezTo>
                  <a:lnTo>
                    <a:pt x="32938" y="518212"/>
                  </a:lnTo>
                  <a:cubicBezTo>
                    <a:pt x="14747" y="518212"/>
                    <a:pt x="0" y="503465"/>
                    <a:pt x="0" y="485274"/>
                  </a:cubicBezTo>
                  <a:lnTo>
                    <a:pt x="0" y="32938"/>
                  </a:lnTo>
                  <a:cubicBezTo>
                    <a:pt x="0" y="14747"/>
                    <a:pt x="14747" y="0"/>
                    <a:pt x="32938" y="0"/>
                  </a:cubicBez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23" name="TextBox 23"/>
            <p:cNvSpPr txBox="1"/>
            <p:nvPr/>
          </p:nvSpPr>
          <p:spPr>
            <a:xfrm>
              <a:off x="0" y="0"/>
              <a:ext cx="2406820" cy="518212"/>
            </a:xfrm>
            <a:prstGeom prst="rect">
              <a:avLst/>
            </a:prstGeom>
          </p:spPr>
          <p:txBody>
            <a:bodyPr lIns="41811" tIns="41811" rIns="41811" bIns="41811" rtlCol="0" anchor="ctr"/>
            <a:lstStyle/>
            <a:p>
              <a:pPr marL="0" lvl="0" indent="0" algn="ctr">
                <a:lnSpc>
                  <a:spcPts val="2340"/>
                </a:lnSpc>
                <a:spcBef>
                  <a:spcPct val="0"/>
                </a:spcBef>
              </a:pPr>
              <a:endParaRPr/>
            </a:p>
          </p:txBody>
        </p:sp>
      </p:grpSp>
      <p:grpSp>
        <p:nvGrpSpPr>
          <p:cNvPr id="24" name="Group 24"/>
          <p:cNvGrpSpPr/>
          <p:nvPr/>
        </p:nvGrpSpPr>
        <p:grpSpPr>
          <a:xfrm>
            <a:off x="9940886" y="2026396"/>
            <a:ext cx="1278100" cy="127810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6" name="TextBox 26"/>
            <p:cNvSpPr txBox="1"/>
            <p:nvPr/>
          </p:nvSpPr>
          <p:spPr>
            <a:xfrm>
              <a:off x="76200" y="76200"/>
              <a:ext cx="660400" cy="660400"/>
            </a:xfrm>
            <a:prstGeom prst="rect">
              <a:avLst/>
            </a:prstGeom>
          </p:spPr>
          <p:txBody>
            <a:bodyPr lIns="41811" tIns="41811" rIns="41811" bIns="41811" rtlCol="0" anchor="ctr"/>
            <a:lstStyle/>
            <a:p>
              <a:pPr algn="ctr">
                <a:lnSpc>
                  <a:spcPts val="2340"/>
                </a:lnSpc>
              </a:pPr>
              <a:endParaRPr/>
            </a:p>
          </p:txBody>
        </p:sp>
      </p:grpSp>
      <p:grpSp>
        <p:nvGrpSpPr>
          <p:cNvPr id="27" name="Group 27"/>
          <p:cNvGrpSpPr/>
          <p:nvPr/>
        </p:nvGrpSpPr>
        <p:grpSpPr>
          <a:xfrm>
            <a:off x="9940886" y="3744302"/>
            <a:ext cx="1278100" cy="1278100"/>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9" name="TextBox 29"/>
            <p:cNvSpPr txBox="1"/>
            <p:nvPr/>
          </p:nvSpPr>
          <p:spPr>
            <a:xfrm>
              <a:off x="76200" y="76200"/>
              <a:ext cx="660400" cy="660400"/>
            </a:xfrm>
            <a:prstGeom prst="rect">
              <a:avLst/>
            </a:prstGeom>
          </p:spPr>
          <p:txBody>
            <a:bodyPr lIns="41811" tIns="41811" rIns="41811" bIns="41811" rtlCol="0" anchor="ctr"/>
            <a:lstStyle/>
            <a:p>
              <a:pPr algn="ctr">
                <a:lnSpc>
                  <a:spcPts val="2340"/>
                </a:lnSpc>
              </a:pPr>
              <a:endParaRPr/>
            </a:p>
          </p:txBody>
        </p:sp>
      </p:grpSp>
      <p:grpSp>
        <p:nvGrpSpPr>
          <p:cNvPr id="30" name="Group 30"/>
          <p:cNvGrpSpPr/>
          <p:nvPr/>
        </p:nvGrpSpPr>
        <p:grpSpPr>
          <a:xfrm>
            <a:off x="9940886" y="5462349"/>
            <a:ext cx="1278100" cy="1278100"/>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2" name="TextBox 32"/>
            <p:cNvSpPr txBox="1"/>
            <p:nvPr/>
          </p:nvSpPr>
          <p:spPr>
            <a:xfrm>
              <a:off x="76200" y="76200"/>
              <a:ext cx="660400" cy="660400"/>
            </a:xfrm>
            <a:prstGeom prst="rect">
              <a:avLst/>
            </a:prstGeom>
          </p:spPr>
          <p:txBody>
            <a:bodyPr lIns="41811" tIns="41811" rIns="41811" bIns="41811" rtlCol="0" anchor="ctr"/>
            <a:lstStyle/>
            <a:p>
              <a:pPr algn="ctr">
                <a:lnSpc>
                  <a:spcPts val="2340"/>
                </a:lnSpc>
              </a:pPr>
              <a:endParaRPr/>
            </a:p>
          </p:txBody>
        </p:sp>
      </p:grpSp>
      <p:grpSp>
        <p:nvGrpSpPr>
          <p:cNvPr id="33" name="Group 33"/>
          <p:cNvGrpSpPr/>
          <p:nvPr/>
        </p:nvGrpSpPr>
        <p:grpSpPr>
          <a:xfrm>
            <a:off x="9940886" y="7177666"/>
            <a:ext cx="1278100" cy="1278100"/>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5" name="TextBox 35"/>
            <p:cNvSpPr txBox="1"/>
            <p:nvPr/>
          </p:nvSpPr>
          <p:spPr>
            <a:xfrm>
              <a:off x="76200" y="76200"/>
              <a:ext cx="660400" cy="660400"/>
            </a:xfrm>
            <a:prstGeom prst="rect">
              <a:avLst/>
            </a:prstGeom>
          </p:spPr>
          <p:txBody>
            <a:bodyPr lIns="41811" tIns="41811" rIns="41811" bIns="41811" rtlCol="0" anchor="ctr"/>
            <a:lstStyle/>
            <a:p>
              <a:pPr algn="ctr">
                <a:lnSpc>
                  <a:spcPts val="2340"/>
                </a:lnSpc>
              </a:pPr>
              <a:endParaRPr/>
            </a:p>
          </p:txBody>
        </p:sp>
      </p:grpSp>
      <p:sp>
        <p:nvSpPr>
          <p:cNvPr id="36" name="TextBox 36"/>
          <p:cNvSpPr txBox="1"/>
          <p:nvPr/>
        </p:nvSpPr>
        <p:spPr>
          <a:xfrm>
            <a:off x="9940886" y="2321414"/>
            <a:ext cx="1278100" cy="704758"/>
          </a:xfrm>
          <a:prstGeom prst="rect">
            <a:avLst/>
          </a:prstGeom>
        </p:spPr>
        <p:txBody>
          <a:bodyPr lIns="0" tIns="0" rIns="0" bIns="0" rtlCol="0" anchor="t">
            <a:spAutoFit/>
          </a:bodyPr>
          <a:lstStyle/>
          <a:p>
            <a:pPr algn="ctr">
              <a:lnSpc>
                <a:spcPts val="5601"/>
              </a:lnSpc>
            </a:pPr>
            <a:r>
              <a:rPr lang="en-US" sz="4787"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01</a:t>
            </a:r>
          </a:p>
        </p:txBody>
      </p:sp>
      <p:sp>
        <p:nvSpPr>
          <p:cNvPr id="37" name="TextBox 37"/>
          <p:cNvSpPr txBox="1"/>
          <p:nvPr/>
        </p:nvSpPr>
        <p:spPr>
          <a:xfrm>
            <a:off x="9940886" y="4040569"/>
            <a:ext cx="1278100" cy="704758"/>
          </a:xfrm>
          <a:prstGeom prst="rect">
            <a:avLst/>
          </a:prstGeom>
        </p:spPr>
        <p:txBody>
          <a:bodyPr lIns="0" tIns="0" rIns="0" bIns="0" rtlCol="0" anchor="t">
            <a:spAutoFit/>
          </a:bodyPr>
          <a:lstStyle/>
          <a:p>
            <a:pPr algn="ctr">
              <a:lnSpc>
                <a:spcPts val="5601"/>
              </a:lnSpc>
            </a:pPr>
            <a:r>
              <a:rPr lang="en-US" sz="4787"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02</a:t>
            </a:r>
          </a:p>
        </p:txBody>
      </p:sp>
      <p:sp>
        <p:nvSpPr>
          <p:cNvPr id="38" name="TextBox 38"/>
          <p:cNvSpPr txBox="1"/>
          <p:nvPr/>
        </p:nvSpPr>
        <p:spPr>
          <a:xfrm>
            <a:off x="9940886" y="5760895"/>
            <a:ext cx="1278100" cy="704758"/>
          </a:xfrm>
          <a:prstGeom prst="rect">
            <a:avLst/>
          </a:prstGeom>
        </p:spPr>
        <p:txBody>
          <a:bodyPr lIns="0" tIns="0" rIns="0" bIns="0" rtlCol="0" anchor="t">
            <a:spAutoFit/>
          </a:bodyPr>
          <a:lstStyle/>
          <a:p>
            <a:pPr algn="ctr">
              <a:lnSpc>
                <a:spcPts val="5601"/>
              </a:lnSpc>
            </a:pPr>
            <a:r>
              <a:rPr lang="en-US" sz="4787"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03</a:t>
            </a:r>
          </a:p>
        </p:txBody>
      </p:sp>
      <p:sp>
        <p:nvSpPr>
          <p:cNvPr id="39" name="TextBox 39"/>
          <p:cNvSpPr txBox="1"/>
          <p:nvPr/>
        </p:nvSpPr>
        <p:spPr>
          <a:xfrm>
            <a:off x="9940886" y="7478943"/>
            <a:ext cx="1278100" cy="704758"/>
          </a:xfrm>
          <a:prstGeom prst="rect">
            <a:avLst/>
          </a:prstGeom>
        </p:spPr>
        <p:txBody>
          <a:bodyPr lIns="0" tIns="0" rIns="0" bIns="0" rtlCol="0" anchor="t">
            <a:spAutoFit/>
          </a:bodyPr>
          <a:lstStyle/>
          <a:p>
            <a:pPr algn="ctr">
              <a:lnSpc>
                <a:spcPts val="5601"/>
              </a:lnSpc>
            </a:pPr>
            <a:r>
              <a:rPr lang="en-US" sz="4787"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04</a:t>
            </a:r>
          </a:p>
        </p:txBody>
      </p:sp>
      <p:sp>
        <p:nvSpPr>
          <p:cNvPr id="40" name="TextBox 40"/>
          <p:cNvSpPr txBox="1"/>
          <p:nvPr/>
        </p:nvSpPr>
        <p:spPr>
          <a:xfrm>
            <a:off x="11450566" y="2735177"/>
            <a:ext cx="5533211" cy="264239"/>
          </a:xfrm>
          <a:prstGeom prst="rect">
            <a:avLst/>
          </a:prstGeom>
        </p:spPr>
        <p:txBody>
          <a:bodyPr lIns="0" tIns="0" rIns="0" bIns="0" rtlCol="0" anchor="t">
            <a:spAutoFit/>
          </a:bodyPr>
          <a:lstStyle/>
          <a:p>
            <a:pPr algn="l">
              <a:lnSpc>
                <a:spcPts val="2169"/>
              </a:lnSpc>
            </a:pPr>
            <a:r>
              <a:rPr lang="en-US" sz="1854" b="1" i="1">
                <a:solidFill>
                  <a:srgbClr val="FFFFFF"/>
                </a:solidFill>
                <a:latin typeface="Proxima Nova Bold Italics"/>
                <a:ea typeface="Proxima Nova Bold Italics"/>
                <a:cs typeface="Proxima Nova Bold Italics"/>
                <a:sym typeface="Proxima Nova Bold Italics"/>
              </a:rPr>
              <a:t>Task chỉ được hoàn tất khi evidence được duyệt.</a:t>
            </a:r>
          </a:p>
        </p:txBody>
      </p:sp>
      <p:sp>
        <p:nvSpPr>
          <p:cNvPr id="41" name="TextBox 41"/>
          <p:cNvSpPr txBox="1"/>
          <p:nvPr/>
        </p:nvSpPr>
        <p:spPr>
          <a:xfrm>
            <a:off x="11450566" y="4453082"/>
            <a:ext cx="5360680" cy="264239"/>
          </a:xfrm>
          <a:prstGeom prst="rect">
            <a:avLst/>
          </a:prstGeom>
        </p:spPr>
        <p:txBody>
          <a:bodyPr lIns="0" tIns="0" rIns="0" bIns="0" rtlCol="0" anchor="t">
            <a:spAutoFit/>
          </a:bodyPr>
          <a:lstStyle/>
          <a:p>
            <a:pPr algn="l">
              <a:lnSpc>
                <a:spcPts val="2169"/>
              </a:lnSpc>
            </a:pPr>
            <a:r>
              <a:rPr lang="en-US" sz="1854" b="1" i="1">
                <a:solidFill>
                  <a:srgbClr val="FFFFFF"/>
                </a:solidFill>
                <a:latin typeface="Proxima Nova Bold Italics"/>
                <a:ea typeface="Proxima Nova Bold Italics"/>
                <a:cs typeface="Proxima Nova Bold Italics"/>
                <a:sym typeface="Proxima Nova Bold Italics"/>
              </a:rPr>
              <a:t>Tự động nhắc nhở task trễ hạn hoặc bị bỏ qua.</a:t>
            </a:r>
          </a:p>
        </p:txBody>
      </p:sp>
      <p:sp>
        <p:nvSpPr>
          <p:cNvPr id="42" name="TextBox 42"/>
          <p:cNvSpPr txBox="1"/>
          <p:nvPr/>
        </p:nvSpPr>
        <p:spPr>
          <a:xfrm>
            <a:off x="11450566" y="6173480"/>
            <a:ext cx="4805101" cy="264239"/>
          </a:xfrm>
          <a:prstGeom prst="rect">
            <a:avLst/>
          </a:prstGeom>
        </p:spPr>
        <p:txBody>
          <a:bodyPr lIns="0" tIns="0" rIns="0" bIns="0" rtlCol="0" anchor="t">
            <a:spAutoFit/>
          </a:bodyPr>
          <a:lstStyle/>
          <a:p>
            <a:pPr algn="l">
              <a:lnSpc>
                <a:spcPts val="2169"/>
              </a:lnSpc>
            </a:pPr>
            <a:r>
              <a:rPr lang="en-US" sz="1854" b="1" i="1">
                <a:solidFill>
                  <a:srgbClr val="FFFFFF"/>
                </a:solidFill>
                <a:latin typeface="Proxima Nova Bold Italics"/>
                <a:ea typeface="Proxima Nova Bold Italics"/>
                <a:cs typeface="Proxima Nova Bold Italics"/>
                <a:sym typeface="Proxima Nova Bold Italics"/>
              </a:rPr>
              <a:t>RowVersion đảm bảo không ghi đè dữ liệu.</a:t>
            </a:r>
          </a:p>
        </p:txBody>
      </p:sp>
      <p:sp>
        <p:nvSpPr>
          <p:cNvPr id="43" name="TextBox 43"/>
          <p:cNvSpPr txBox="1"/>
          <p:nvPr/>
        </p:nvSpPr>
        <p:spPr>
          <a:xfrm>
            <a:off x="11450566" y="8112495"/>
            <a:ext cx="5533211" cy="264239"/>
          </a:xfrm>
          <a:prstGeom prst="rect">
            <a:avLst/>
          </a:prstGeom>
        </p:spPr>
        <p:txBody>
          <a:bodyPr lIns="0" tIns="0" rIns="0" bIns="0" rtlCol="0" anchor="t">
            <a:spAutoFit/>
          </a:bodyPr>
          <a:lstStyle/>
          <a:p>
            <a:pPr algn="l">
              <a:lnSpc>
                <a:spcPts val="2169"/>
              </a:lnSpc>
            </a:pPr>
            <a:r>
              <a:rPr lang="en-US" sz="1854" b="1" i="1">
                <a:solidFill>
                  <a:srgbClr val="FFFFFF"/>
                </a:solidFill>
                <a:latin typeface="Proxima Nova Bold Italics"/>
                <a:ea typeface="Proxima Nova Bold Italics"/>
                <a:cs typeface="Proxima Nova Bold Italics"/>
                <a:sym typeface="Proxima Nova Bold Italics"/>
              </a:rPr>
              <a:t>Phân quyền chi tiết kèm theo dõi toàn bộ thay đổi.</a:t>
            </a:r>
          </a:p>
        </p:txBody>
      </p:sp>
      <p:sp>
        <p:nvSpPr>
          <p:cNvPr id="44" name="TextBox 44"/>
          <p:cNvSpPr txBox="1"/>
          <p:nvPr/>
        </p:nvSpPr>
        <p:spPr>
          <a:xfrm>
            <a:off x="11450566" y="2341001"/>
            <a:ext cx="5447186" cy="420372"/>
          </a:xfrm>
          <a:prstGeom prst="rect">
            <a:avLst/>
          </a:prstGeom>
        </p:spPr>
        <p:txBody>
          <a:bodyPr lIns="0" tIns="0" rIns="0" bIns="0" rtlCol="0" anchor="t">
            <a:spAutoFit/>
          </a:bodyPr>
          <a:lstStyle/>
          <a:p>
            <a:pPr algn="l">
              <a:lnSpc>
                <a:spcPts val="3315"/>
              </a:lnSpc>
            </a:pPr>
            <a:r>
              <a:rPr lang="en-US" sz="2833" b="1">
                <a:solidFill>
                  <a:srgbClr val="FFFFFF"/>
                </a:solidFill>
                <a:latin typeface="Proxima Nova Heavy"/>
                <a:ea typeface="Proxima Nova Heavy"/>
                <a:cs typeface="Proxima Nova Heavy"/>
                <a:sym typeface="Proxima Nova Heavy"/>
              </a:rPr>
              <a:t>EVIDENCE COMPLETION GATE</a:t>
            </a:r>
          </a:p>
        </p:txBody>
      </p:sp>
      <p:sp>
        <p:nvSpPr>
          <p:cNvPr id="45" name="TextBox 45"/>
          <p:cNvSpPr txBox="1"/>
          <p:nvPr/>
        </p:nvSpPr>
        <p:spPr>
          <a:xfrm>
            <a:off x="11450566" y="4058906"/>
            <a:ext cx="5360680" cy="420372"/>
          </a:xfrm>
          <a:prstGeom prst="rect">
            <a:avLst/>
          </a:prstGeom>
        </p:spPr>
        <p:txBody>
          <a:bodyPr lIns="0" tIns="0" rIns="0" bIns="0" rtlCol="0" anchor="t">
            <a:spAutoFit/>
          </a:bodyPr>
          <a:lstStyle/>
          <a:p>
            <a:pPr algn="l">
              <a:lnSpc>
                <a:spcPts val="3315"/>
              </a:lnSpc>
            </a:pPr>
            <a:r>
              <a:rPr lang="en-US" sz="2833" b="1">
                <a:solidFill>
                  <a:srgbClr val="FFFFFF"/>
                </a:solidFill>
                <a:latin typeface="Proxima Nova Heavy"/>
                <a:ea typeface="Proxima Nova Heavy"/>
                <a:cs typeface="Proxima Nova Heavy"/>
                <a:sym typeface="Proxima Nova Heavy"/>
              </a:rPr>
              <a:t>TASK ATTENTION &amp; NUDGE</a:t>
            </a:r>
          </a:p>
        </p:txBody>
      </p:sp>
      <p:sp>
        <p:nvSpPr>
          <p:cNvPr id="46" name="TextBox 46"/>
          <p:cNvSpPr txBox="1"/>
          <p:nvPr/>
        </p:nvSpPr>
        <p:spPr>
          <a:xfrm>
            <a:off x="11450566" y="5779303"/>
            <a:ext cx="5360680" cy="420372"/>
          </a:xfrm>
          <a:prstGeom prst="rect">
            <a:avLst/>
          </a:prstGeom>
        </p:spPr>
        <p:txBody>
          <a:bodyPr lIns="0" tIns="0" rIns="0" bIns="0" rtlCol="0" anchor="t">
            <a:spAutoFit/>
          </a:bodyPr>
          <a:lstStyle/>
          <a:p>
            <a:pPr algn="l">
              <a:lnSpc>
                <a:spcPts val="3315"/>
              </a:lnSpc>
            </a:pPr>
            <a:r>
              <a:rPr lang="en-US" sz="2833" b="1">
                <a:solidFill>
                  <a:srgbClr val="FFFFFF"/>
                </a:solidFill>
                <a:latin typeface="Proxima Nova Heavy"/>
                <a:ea typeface="Proxima Nova Heavy"/>
                <a:cs typeface="Proxima Nova Heavy"/>
                <a:sym typeface="Proxima Nova Heavy"/>
              </a:rPr>
              <a:t>OPTIMISTIC CONCURRENCY</a:t>
            </a:r>
          </a:p>
        </p:txBody>
      </p:sp>
      <p:sp>
        <p:nvSpPr>
          <p:cNvPr id="47" name="TextBox 47"/>
          <p:cNvSpPr txBox="1"/>
          <p:nvPr/>
        </p:nvSpPr>
        <p:spPr>
          <a:xfrm>
            <a:off x="11450566" y="7276384"/>
            <a:ext cx="4805101" cy="839472"/>
          </a:xfrm>
          <a:prstGeom prst="rect">
            <a:avLst/>
          </a:prstGeom>
        </p:spPr>
        <p:txBody>
          <a:bodyPr lIns="0" tIns="0" rIns="0" bIns="0" rtlCol="0" anchor="t">
            <a:spAutoFit/>
          </a:bodyPr>
          <a:lstStyle/>
          <a:p>
            <a:pPr algn="l">
              <a:lnSpc>
                <a:spcPts val="3315"/>
              </a:lnSpc>
            </a:pPr>
            <a:r>
              <a:rPr lang="en-US" sz="2833" b="1">
                <a:solidFill>
                  <a:srgbClr val="FFFFFF"/>
                </a:solidFill>
                <a:latin typeface="Proxima Nova Heavy"/>
                <a:ea typeface="Proxima Nova Heavy"/>
                <a:cs typeface="Proxima Nova Heavy"/>
                <a:sym typeface="Proxima Nova Heavy"/>
              </a:rPr>
              <a:t>MULTI-LEVEL PERMISSION &amp; AUDIT LOG</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615055"/>
            <a:ext cx="12979181" cy="1192530"/>
          </a:xfrm>
          <a:prstGeom prst="rect">
            <a:avLst/>
          </a:prstGeom>
        </p:spPr>
        <p:txBody>
          <a:bodyPr lIns="0" tIns="0" rIns="0" bIns="0" rtlCol="0" anchor="t">
            <a:spAutoFit/>
          </a:bodyPr>
          <a:lstStyle/>
          <a:p>
            <a:pPr marL="0" lvl="0" indent="0" algn="l">
              <a:lnSpc>
                <a:spcPts val="9360"/>
              </a:lnSpc>
              <a:spcBef>
                <a:spcPct val="0"/>
              </a:spcBef>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KIẾN</a:t>
            </a:r>
            <a:r>
              <a:rPr lang="en-US" sz="8000" b="1" u="none" strike="noStrike">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 TRÚC &amp; CÔNG NGHỆ</a:t>
            </a:r>
          </a:p>
        </p:txBody>
      </p:sp>
      <p:grpSp>
        <p:nvGrpSpPr>
          <p:cNvPr id="3" name="Group 3"/>
          <p:cNvGrpSpPr/>
          <p:nvPr/>
        </p:nvGrpSpPr>
        <p:grpSpPr>
          <a:xfrm>
            <a:off x="1612173" y="1535525"/>
            <a:ext cx="16392230" cy="7501833"/>
            <a:chOff x="0" y="0"/>
            <a:chExt cx="21856306" cy="10002444"/>
          </a:xfrm>
        </p:grpSpPr>
        <p:grpSp>
          <p:nvGrpSpPr>
            <p:cNvPr id="4" name="Group 4"/>
            <p:cNvGrpSpPr/>
            <p:nvPr/>
          </p:nvGrpSpPr>
          <p:grpSpPr>
            <a:xfrm>
              <a:off x="0" y="0"/>
              <a:ext cx="21856306" cy="10002444"/>
              <a:chOff x="0" y="0"/>
              <a:chExt cx="21856306" cy="10002444"/>
            </a:xfrm>
          </p:grpSpPr>
          <p:sp>
            <p:nvSpPr>
              <p:cNvPr id="5" name="Freeform 5" descr="preencoded.png"/>
              <p:cNvSpPr/>
              <p:nvPr/>
            </p:nvSpPr>
            <p:spPr>
              <a:xfrm>
                <a:off x="0" y="0"/>
                <a:ext cx="21856319" cy="10002393"/>
              </a:xfrm>
              <a:custGeom>
                <a:avLst/>
                <a:gdLst/>
                <a:ahLst/>
                <a:cxnLst/>
                <a:rect l="l" t="t" r="r" b="b"/>
                <a:pathLst>
                  <a:path w="21856319" h="10002393">
                    <a:moveTo>
                      <a:pt x="0" y="0"/>
                    </a:moveTo>
                    <a:lnTo>
                      <a:pt x="21856319" y="0"/>
                    </a:lnTo>
                    <a:lnTo>
                      <a:pt x="21856319" y="10002393"/>
                    </a:lnTo>
                    <a:lnTo>
                      <a:pt x="0" y="10002393"/>
                    </a:lnTo>
                    <a:lnTo>
                      <a:pt x="0" y="0"/>
                    </a:lnTo>
                    <a:close/>
                  </a:path>
                </a:pathLst>
              </a:custGeom>
              <a:blipFill>
                <a:blip r:embed="rId3"/>
                <a:stretch>
                  <a:fillRect t="-24" b="-25"/>
                </a:stretch>
              </a:blipFill>
            </p:spPr>
          </p:sp>
        </p:grpSp>
        <p:sp>
          <p:nvSpPr>
            <p:cNvPr id="6" name="TextBox 6"/>
            <p:cNvSpPr txBox="1"/>
            <p:nvPr/>
          </p:nvSpPr>
          <p:spPr>
            <a:xfrm>
              <a:off x="15904720" y="6347725"/>
              <a:ext cx="5089004" cy="664820"/>
            </a:xfrm>
            <a:prstGeom prst="rect">
              <a:avLst/>
            </a:prstGeom>
          </p:spPr>
          <p:txBody>
            <a:bodyPr lIns="0" tIns="0" rIns="0" bIns="0" rtlCol="0" anchor="t">
              <a:spAutoFit/>
            </a:bodyPr>
            <a:lstStyle/>
            <a:p>
              <a:pPr algn="l">
                <a:lnSpc>
                  <a:spcPts val="3744"/>
                </a:lnSpc>
              </a:pPr>
              <a:r>
                <a:rPr lang="en-US" sz="3000" b="1">
                  <a:solidFill>
                    <a:srgbClr val="384653"/>
                  </a:solidFill>
                  <a:latin typeface="Barlow Bold"/>
                  <a:ea typeface="Barlow Bold"/>
                  <a:cs typeface="Barlow Bold"/>
                  <a:sym typeface="Barlow Bold"/>
                </a:rPr>
                <a:t>Business &amp; Dữ liệu</a:t>
              </a:r>
            </a:p>
          </p:txBody>
        </p:sp>
        <p:sp>
          <p:nvSpPr>
            <p:cNvPr id="7" name="TextBox 7"/>
            <p:cNvSpPr txBox="1"/>
            <p:nvPr/>
          </p:nvSpPr>
          <p:spPr>
            <a:xfrm>
              <a:off x="15904720" y="7241602"/>
              <a:ext cx="5329072" cy="1030694"/>
            </a:xfrm>
            <a:prstGeom prst="rect">
              <a:avLst/>
            </a:prstGeom>
          </p:spPr>
          <p:txBody>
            <a:bodyPr lIns="0" tIns="0" rIns="0" bIns="0" rtlCol="0" anchor="t">
              <a:spAutoFit/>
            </a:bodyPr>
            <a:lstStyle/>
            <a:p>
              <a:pPr algn="l">
                <a:lnSpc>
                  <a:spcPts val="2059"/>
                </a:lnSpc>
              </a:pPr>
              <a:r>
                <a:rPr lang="en-US" sz="2200">
                  <a:solidFill>
                    <a:srgbClr val="384653"/>
                  </a:solidFill>
                  <a:latin typeface="Montserrat"/>
                  <a:ea typeface="Montserrat"/>
                  <a:cs typeface="Montserrat"/>
                  <a:sym typeface="Montserrat"/>
                </a:rPr>
                <a:t>Service, Domain, Repository, EF Core, SQL Server</a:t>
              </a:r>
            </a:p>
          </p:txBody>
        </p:sp>
        <p:sp>
          <p:nvSpPr>
            <p:cNvPr id="8" name="TextBox 8"/>
            <p:cNvSpPr txBox="1"/>
            <p:nvPr/>
          </p:nvSpPr>
          <p:spPr>
            <a:xfrm>
              <a:off x="516839" y="4631614"/>
              <a:ext cx="4899304" cy="664820"/>
            </a:xfrm>
            <a:prstGeom prst="rect">
              <a:avLst/>
            </a:prstGeom>
          </p:spPr>
          <p:txBody>
            <a:bodyPr lIns="0" tIns="0" rIns="0" bIns="0" rtlCol="0" anchor="t">
              <a:spAutoFit/>
            </a:bodyPr>
            <a:lstStyle/>
            <a:p>
              <a:pPr algn="r">
                <a:lnSpc>
                  <a:spcPts val="3744"/>
                </a:lnSpc>
              </a:pPr>
              <a:r>
                <a:rPr lang="en-US" sz="3000" b="1">
                  <a:solidFill>
                    <a:srgbClr val="384653"/>
                  </a:solidFill>
                  <a:latin typeface="Barlow Bold"/>
                  <a:ea typeface="Barlow Bold"/>
                  <a:cs typeface="Barlow Bold"/>
                  <a:sym typeface="Barlow Bold"/>
                </a:rPr>
                <a:t>API &amp; Thời gian thực</a:t>
              </a:r>
            </a:p>
          </p:txBody>
        </p:sp>
        <p:sp>
          <p:nvSpPr>
            <p:cNvPr id="9" name="TextBox 9"/>
            <p:cNvSpPr txBox="1"/>
            <p:nvPr/>
          </p:nvSpPr>
          <p:spPr>
            <a:xfrm>
              <a:off x="516839" y="5525503"/>
              <a:ext cx="4899304" cy="668071"/>
            </a:xfrm>
            <a:prstGeom prst="rect">
              <a:avLst/>
            </a:prstGeom>
          </p:spPr>
          <p:txBody>
            <a:bodyPr lIns="0" tIns="0" rIns="0" bIns="0" rtlCol="0" anchor="t">
              <a:spAutoFit/>
            </a:bodyPr>
            <a:lstStyle/>
            <a:p>
              <a:pPr algn="r">
                <a:lnSpc>
                  <a:spcPts val="2059"/>
                </a:lnSpc>
              </a:pPr>
              <a:r>
                <a:rPr lang="en-US" sz="2200">
                  <a:solidFill>
                    <a:srgbClr val="384653"/>
                  </a:solidFill>
                  <a:latin typeface="Montserrat"/>
                  <a:ea typeface="Montserrat"/>
                  <a:cs typeface="Montserrat"/>
                  <a:sym typeface="Montserrat"/>
                </a:rPr>
                <a:t>ASP.NET Core 10 Controller và SignalR</a:t>
              </a:r>
            </a:p>
          </p:txBody>
        </p:sp>
        <p:sp>
          <p:nvSpPr>
            <p:cNvPr id="10" name="TextBox 10"/>
            <p:cNvSpPr txBox="1"/>
            <p:nvPr/>
          </p:nvSpPr>
          <p:spPr>
            <a:xfrm>
              <a:off x="15904720" y="1494426"/>
              <a:ext cx="5089004" cy="664832"/>
            </a:xfrm>
            <a:prstGeom prst="rect">
              <a:avLst/>
            </a:prstGeom>
          </p:spPr>
          <p:txBody>
            <a:bodyPr lIns="0" tIns="0" rIns="0" bIns="0" rtlCol="0" anchor="t">
              <a:spAutoFit/>
            </a:bodyPr>
            <a:lstStyle/>
            <a:p>
              <a:pPr algn="l">
                <a:lnSpc>
                  <a:spcPts val="3744"/>
                </a:lnSpc>
              </a:pPr>
              <a:r>
                <a:rPr lang="en-US" sz="3000" b="1">
                  <a:solidFill>
                    <a:srgbClr val="384653"/>
                  </a:solidFill>
                  <a:latin typeface="Barlow Bold"/>
                  <a:ea typeface="Barlow Bold"/>
                  <a:cs typeface="Barlow Bold"/>
                  <a:sym typeface="Barlow Bold"/>
                </a:rPr>
                <a:t>Giao diện</a:t>
              </a:r>
            </a:p>
          </p:txBody>
        </p:sp>
        <p:sp>
          <p:nvSpPr>
            <p:cNvPr id="11" name="TextBox 11"/>
            <p:cNvSpPr txBox="1"/>
            <p:nvPr/>
          </p:nvSpPr>
          <p:spPr>
            <a:xfrm>
              <a:off x="15904720" y="2388303"/>
              <a:ext cx="5767003" cy="384099"/>
            </a:xfrm>
            <a:prstGeom prst="rect">
              <a:avLst/>
            </a:prstGeom>
          </p:spPr>
          <p:txBody>
            <a:bodyPr lIns="0" tIns="0" rIns="0" bIns="0" rtlCol="0" anchor="t">
              <a:spAutoFit/>
            </a:bodyPr>
            <a:lstStyle/>
            <a:p>
              <a:pPr algn="l">
                <a:lnSpc>
                  <a:spcPts val="2059"/>
                </a:lnSpc>
              </a:pPr>
              <a:r>
                <a:rPr lang="en-US" sz="2200">
                  <a:solidFill>
                    <a:srgbClr val="384653"/>
                  </a:solidFill>
                  <a:latin typeface="Montserrat"/>
                  <a:ea typeface="Montserrat"/>
                  <a:cs typeface="Montserrat"/>
                  <a:sym typeface="Montserrat"/>
                </a:rPr>
                <a:t>Vue 3 và Razor</a:t>
              </a:r>
            </a:p>
          </p:txBody>
        </p:sp>
      </p:grpSp>
      <p:grpSp>
        <p:nvGrpSpPr>
          <p:cNvPr id="12" name="Group 12"/>
          <p:cNvGrpSpPr/>
          <p:nvPr/>
        </p:nvGrpSpPr>
        <p:grpSpPr>
          <a:xfrm>
            <a:off x="722888" y="1960414"/>
            <a:ext cx="5365335" cy="2775606"/>
            <a:chOff x="0" y="0"/>
            <a:chExt cx="1716880" cy="888180"/>
          </a:xfrm>
        </p:grpSpPr>
        <p:sp>
          <p:nvSpPr>
            <p:cNvPr id="13" name="Freeform 13"/>
            <p:cNvSpPr/>
            <p:nvPr/>
          </p:nvSpPr>
          <p:spPr>
            <a:xfrm>
              <a:off x="0" y="0"/>
              <a:ext cx="1716880" cy="888180"/>
            </a:xfrm>
            <a:custGeom>
              <a:avLst/>
              <a:gdLst/>
              <a:ahLst/>
              <a:cxnLst/>
              <a:rect l="l" t="t" r="r" b="b"/>
              <a:pathLst>
                <a:path w="1716880" h="888180">
                  <a:moveTo>
                    <a:pt x="46174" y="0"/>
                  </a:moveTo>
                  <a:lnTo>
                    <a:pt x="1670706" y="0"/>
                  </a:lnTo>
                  <a:cubicBezTo>
                    <a:pt x="1682952" y="0"/>
                    <a:pt x="1694697" y="4865"/>
                    <a:pt x="1703356" y="13524"/>
                  </a:cubicBezTo>
                  <a:cubicBezTo>
                    <a:pt x="1712015" y="22184"/>
                    <a:pt x="1716880" y="33928"/>
                    <a:pt x="1716880" y="46174"/>
                  </a:cubicBezTo>
                  <a:lnTo>
                    <a:pt x="1716880" y="842006"/>
                  </a:lnTo>
                  <a:cubicBezTo>
                    <a:pt x="1716880" y="854252"/>
                    <a:pt x="1712015" y="865997"/>
                    <a:pt x="1703356" y="874656"/>
                  </a:cubicBezTo>
                  <a:cubicBezTo>
                    <a:pt x="1694697" y="883315"/>
                    <a:pt x="1682952" y="888180"/>
                    <a:pt x="1670706" y="888180"/>
                  </a:cubicBezTo>
                  <a:lnTo>
                    <a:pt x="46174" y="888180"/>
                  </a:lnTo>
                  <a:cubicBezTo>
                    <a:pt x="33928" y="888180"/>
                    <a:pt x="22184" y="883315"/>
                    <a:pt x="13524" y="874656"/>
                  </a:cubicBezTo>
                  <a:cubicBezTo>
                    <a:pt x="4865" y="865997"/>
                    <a:pt x="0" y="854252"/>
                    <a:pt x="0" y="842006"/>
                  </a:cubicBezTo>
                  <a:lnTo>
                    <a:pt x="0" y="46174"/>
                  </a:lnTo>
                  <a:cubicBezTo>
                    <a:pt x="0" y="33928"/>
                    <a:pt x="4865" y="22184"/>
                    <a:pt x="13524" y="13524"/>
                  </a:cubicBezTo>
                  <a:cubicBezTo>
                    <a:pt x="22184" y="4865"/>
                    <a:pt x="33928" y="0"/>
                    <a:pt x="46174" y="0"/>
                  </a:cubicBez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14" name="TextBox 14"/>
            <p:cNvSpPr txBox="1"/>
            <p:nvPr/>
          </p:nvSpPr>
          <p:spPr>
            <a:xfrm>
              <a:off x="0" y="0"/>
              <a:ext cx="1716880" cy="888180"/>
            </a:xfrm>
            <a:prstGeom prst="rect">
              <a:avLst/>
            </a:prstGeom>
          </p:spPr>
          <p:txBody>
            <a:bodyPr lIns="41811" tIns="41811" rIns="41811" bIns="41811" rtlCol="0" anchor="ctr"/>
            <a:lstStyle/>
            <a:p>
              <a:pPr marL="0" lvl="0" indent="0" algn="ctr">
                <a:lnSpc>
                  <a:spcPts val="2340"/>
                </a:lnSpc>
                <a:spcBef>
                  <a:spcPct val="0"/>
                </a:spcBef>
              </a:pPr>
              <a:endParaRPr/>
            </a:p>
          </p:txBody>
        </p:sp>
      </p:grpSp>
      <p:sp>
        <p:nvSpPr>
          <p:cNvPr id="15" name="TextBox 15"/>
          <p:cNvSpPr txBox="1"/>
          <p:nvPr/>
        </p:nvSpPr>
        <p:spPr>
          <a:xfrm>
            <a:off x="1612173" y="2596872"/>
            <a:ext cx="3586766" cy="1832612"/>
          </a:xfrm>
          <a:prstGeom prst="rect">
            <a:avLst/>
          </a:prstGeom>
        </p:spPr>
        <p:txBody>
          <a:bodyPr lIns="0" tIns="0" rIns="0" bIns="0" rtlCol="0" anchor="t">
            <a:spAutoFit/>
          </a:bodyPr>
          <a:lstStyle/>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  Modular Monolith</a:t>
            </a:r>
          </a:p>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  Clean Architecture</a:t>
            </a:r>
          </a:p>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  Domain / Application / Infrastructure / Web</a:t>
            </a:r>
          </a:p>
        </p:txBody>
      </p:sp>
      <p:sp>
        <p:nvSpPr>
          <p:cNvPr id="16" name="TextBox 16"/>
          <p:cNvSpPr txBox="1"/>
          <p:nvPr/>
        </p:nvSpPr>
        <p:spPr>
          <a:xfrm>
            <a:off x="1225815" y="2208789"/>
            <a:ext cx="4359481" cy="420372"/>
          </a:xfrm>
          <a:prstGeom prst="rect">
            <a:avLst/>
          </a:prstGeom>
        </p:spPr>
        <p:txBody>
          <a:bodyPr lIns="0" tIns="0" rIns="0" bIns="0" rtlCol="0" anchor="t">
            <a:spAutoFit/>
          </a:bodyPr>
          <a:lstStyle/>
          <a:p>
            <a:pPr algn="ctr">
              <a:lnSpc>
                <a:spcPts val="3315"/>
              </a:lnSpc>
            </a:pPr>
            <a:r>
              <a:rPr lang="en-US" sz="2833" b="1">
                <a:solidFill>
                  <a:srgbClr val="FFFFFF"/>
                </a:solidFill>
                <a:latin typeface="Proxima Nova Heavy"/>
                <a:ea typeface="Proxima Nova Heavy"/>
                <a:cs typeface="Proxima Nova Heavy"/>
                <a:sym typeface="Proxima Nova Heavy"/>
              </a:rPr>
              <a:t>KIẾN TRÚC PHẦN MỀM</a:t>
            </a:r>
          </a:p>
        </p:txBody>
      </p:sp>
      <p:grpSp>
        <p:nvGrpSpPr>
          <p:cNvPr id="17" name="Group 17"/>
          <p:cNvGrpSpPr/>
          <p:nvPr/>
        </p:nvGrpSpPr>
        <p:grpSpPr>
          <a:xfrm>
            <a:off x="625667" y="6689472"/>
            <a:ext cx="5365335" cy="3262779"/>
            <a:chOff x="0" y="0"/>
            <a:chExt cx="1716880" cy="1044073"/>
          </a:xfrm>
        </p:grpSpPr>
        <p:sp>
          <p:nvSpPr>
            <p:cNvPr id="18" name="Freeform 18"/>
            <p:cNvSpPr/>
            <p:nvPr/>
          </p:nvSpPr>
          <p:spPr>
            <a:xfrm>
              <a:off x="0" y="0"/>
              <a:ext cx="1716880" cy="1044073"/>
            </a:xfrm>
            <a:custGeom>
              <a:avLst/>
              <a:gdLst/>
              <a:ahLst/>
              <a:cxnLst/>
              <a:rect l="l" t="t" r="r" b="b"/>
              <a:pathLst>
                <a:path w="1716880" h="1044073">
                  <a:moveTo>
                    <a:pt x="46174" y="0"/>
                  </a:moveTo>
                  <a:lnTo>
                    <a:pt x="1670706" y="0"/>
                  </a:lnTo>
                  <a:cubicBezTo>
                    <a:pt x="1682952" y="0"/>
                    <a:pt x="1694697" y="4865"/>
                    <a:pt x="1703356" y="13524"/>
                  </a:cubicBezTo>
                  <a:cubicBezTo>
                    <a:pt x="1712015" y="22184"/>
                    <a:pt x="1716880" y="33928"/>
                    <a:pt x="1716880" y="46174"/>
                  </a:cubicBezTo>
                  <a:lnTo>
                    <a:pt x="1716880" y="997899"/>
                  </a:lnTo>
                  <a:cubicBezTo>
                    <a:pt x="1716880" y="1010145"/>
                    <a:pt x="1712015" y="1021889"/>
                    <a:pt x="1703356" y="1030549"/>
                  </a:cubicBezTo>
                  <a:cubicBezTo>
                    <a:pt x="1694697" y="1039208"/>
                    <a:pt x="1682952" y="1044073"/>
                    <a:pt x="1670706" y="1044073"/>
                  </a:cubicBezTo>
                  <a:lnTo>
                    <a:pt x="46174" y="1044073"/>
                  </a:lnTo>
                  <a:cubicBezTo>
                    <a:pt x="33928" y="1044073"/>
                    <a:pt x="22184" y="1039208"/>
                    <a:pt x="13524" y="1030549"/>
                  </a:cubicBezTo>
                  <a:cubicBezTo>
                    <a:pt x="4865" y="1021889"/>
                    <a:pt x="0" y="1010145"/>
                    <a:pt x="0" y="997899"/>
                  </a:cubicBezTo>
                  <a:lnTo>
                    <a:pt x="0" y="46174"/>
                  </a:lnTo>
                  <a:cubicBezTo>
                    <a:pt x="0" y="33928"/>
                    <a:pt x="4865" y="22184"/>
                    <a:pt x="13524" y="13524"/>
                  </a:cubicBezTo>
                  <a:cubicBezTo>
                    <a:pt x="22184" y="4865"/>
                    <a:pt x="33928" y="0"/>
                    <a:pt x="46174" y="0"/>
                  </a:cubicBez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19" name="TextBox 19"/>
            <p:cNvSpPr txBox="1"/>
            <p:nvPr/>
          </p:nvSpPr>
          <p:spPr>
            <a:xfrm>
              <a:off x="0" y="0"/>
              <a:ext cx="1716880" cy="1044073"/>
            </a:xfrm>
            <a:prstGeom prst="rect">
              <a:avLst/>
            </a:prstGeom>
          </p:spPr>
          <p:txBody>
            <a:bodyPr lIns="41811" tIns="41811" rIns="41811" bIns="41811" rtlCol="0" anchor="ctr"/>
            <a:lstStyle/>
            <a:p>
              <a:pPr marL="0" lvl="0" indent="0" algn="ctr">
                <a:lnSpc>
                  <a:spcPts val="2340"/>
                </a:lnSpc>
                <a:spcBef>
                  <a:spcPct val="0"/>
                </a:spcBef>
              </a:pPr>
              <a:endParaRPr/>
            </a:p>
          </p:txBody>
        </p:sp>
      </p:grpSp>
      <p:sp>
        <p:nvSpPr>
          <p:cNvPr id="20" name="TextBox 20"/>
          <p:cNvSpPr txBox="1"/>
          <p:nvPr/>
        </p:nvSpPr>
        <p:spPr>
          <a:xfrm>
            <a:off x="811893" y="7395334"/>
            <a:ext cx="5179110" cy="2299337"/>
          </a:xfrm>
          <a:prstGeom prst="rect">
            <a:avLst/>
          </a:prstGeom>
        </p:spPr>
        <p:txBody>
          <a:bodyPr lIns="0" tIns="0" rIns="0" bIns="0" rtlCol="0" anchor="t">
            <a:spAutoFit/>
          </a:bodyPr>
          <a:lstStyle/>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Backend: ASP.NET Core 10, EF Core 10</a:t>
            </a:r>
          </a:p>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Frontend: Vue.js 3 + TypeScript</a:t>
            </a:r>
          </a:p>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Database: SQL Server 2022, Redis 7</a:t>
            </a:r>
          </a:p>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Realtime: SignalR</a:t>
            </a:r>
          </a:p>
          <a:p>
            <a:pPr marL="431796" lvl="1" indent="-215898" algn="l">
              <a:lnSpc>
                <a:spcPts val="3719"/>
              </a:lnSpc>
              <a:buAutoNum type="arabicPeriod"/>
            </a:pPr>
            <a:r>
              <a:rPr lang="en-US" sz="1999" b="1" i="1">
                <a:solidFill>
                  <a:srgbClr val="FFFFFF"/>
                </a:solidFill>
                <a:latin typeface="Proxima Nova Bold Italics"/>
                <a:ea typeface="Proxima Nova Bold Italics"/>
                <a:cs typeface="Proxima Nova Bold Italics"/>
                <a:sym typeface="Proxima Nova Bold Italics"/>
              </a:rPr>
              <a:t>DevOps: Docker</a:t>
            </a:r>
          </a:p>
        </p:txBody>
      </p:sp>
      <p:sp>
        <p:nvSpPr>
          <p:cNvPr id="21" name="TextBox 21"/>
          <p:cNvSpPr txBox="1"/>
          <p:nvPr/>
        </p:nvSpPr>
        <p:spPr>
          <a:xfrm>
            <a:off x="1128594" y="7003537"/>
            <a:ext cx="4359481" cy="420372"/>
          </a:xfrm>
          <a:prstGeom prst="rect">
            <a:avLst/>
          </a:prstGeom>
        </p:spPr>
        <p:txBody>
          <a:bodyPr lIns="0" tIns="0" rIns="0" bIns="0" rtlCol="0" anchor="t">
            <a:spAutoFit/>
          </a:bodyPr>
          <a:lstStyle/>
          <a:p>
            <a:pPr algn="ctr">
              <a:lnSpc>
                <a:spcPts val="3315"/>
              </a:lnSpc>
            </a:pPr>
            <a:r>
              <a:rPr lang="en-US" sz="2833" b="1">
                <a:solidFill>
                  <a:srgbClr val="FFFFFF"/>
                </a:solidFill>
                <a:latin typeface="Proxima Nova Heavy"/>
                <a:ea typeface="Proxima Nova Heavy"/>
                <a:cs typeface="Proxima Nova Heavy"/>
                <a:sym typeface="Proxima Nova Heavy"/>
              </a:rPr>
              <a:t>STACK CÔNG NGHỆ</a:t>
            </a:r>
          </a:p>
        </p:txBody>
      </p:sp>
      <p:sp>
        <p:nvSpPr>
          <p:cNvPr id="22" name="Freeform 22"/>
          <p:cNvSpPr/>
          <p:nvPr/>
        </p:nvSpPr>
        <p:spPr>
          <a:xfrm>
            <a:off x="15960535" y="584720"/>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4"/>
            <a:stretch>
              <a:fillRect/>
            </a:stretch>
          </a:blipFill>
        </p:spPr>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582585" y="441960"/>
            <a:ext cx="15122830" cy="1192530"/>
          </a:xfrm>
          <a:prstGeom prst="rect">
            <a:avLst/>
          </a:prstGeom>
        </p:spPr>
        <p:txBody>
          <a:bodyPr lIns="0" tIns="0" rIns="0" bIns="0" rtlCol="0" anchor="t">
            <a:spAutoFit/>
          </a:bodyPr>
          <a:lstStyle/>
          <a:p>
            <a:pPr algn="ctr">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LUỒNG HOẠT ĐỘNG CHÍNH</a:t>
            </a:r>
          </a:p>
        </p:txBody>
      </p:sp>
      <p:grpSp>
        <p:nvGrpSpPr>
          <p:cNvPr id="3" name="Group 3"/>
          <p:cNvGrpSpPr/>
          <p:nvPr/>
        </p:nvGrpSpPr>
        <p:grpSpPr>
          <a:xfrm>
            <a:off x="947890" y="5713362"/>
            <a:ext cx="16392230" cy="38100"/>
            <a:chOff x="0" y="0"/>
            <a:chExt cx="21856306" cy="50800"/>
          </a:xfrm>
        </p:grpSpPr>
        <p:sp>
          <p:nvSpPr>
            <p:cNvPr id="4" name="Freeform 4"/>
            <p:cNvSpPr/>
            <p:nvPr/>
          </p:nvSpPr>
          <p:spPr>
            <a:xfrm>
              <a:off x="0" y="0"/>
              <a:ext cx="21856319" cy="50800"/>
            </a:xfrm>
            <a:custGeom>
              <a:avLst/>
              <a:gdLst/>
              <a:ahLst/>
              <a:cxnLst/>
              <a:rect l="l" t="t" r="r" b="b"/>
              <a:pathLst>
                <a:path w="21856319" h="50800">
                  <a:moveTo>
                    <a:pt x="0" y="25400"/>
                  </a:moveTo>
                  <a:cubicBezTo>
                    <a:pt x="0" y="11430"/>
                    <a:pt x="11430" y="0"/>
                    <a:pt x="25400" y="0"/>
                  </a:cubicBezTo>
                  <a:lnTo>
                    <a:pt x="21830919" y="0"/>
                  </a:lnTo>
                  <a:cubicBezTo>
                    <a:pt x="21844888" y="0"/>
                    <a:pt x="21856319" y="11430"/>
                    <a:pt x="21856319" y="25400"/>
                  </a:cubicBezTo>
                  <a:cubicBezTo>
                    <a:pt x="21856319" y="39370"/>
                    <a:pt x="21844888" y="50800"/>
                    <a:pt x="21830919" y="50800"/>
                  </a:cubicBezTo>
                  <a:lnTo>
                    <a:pt x="25400" y="50800"/>
                  </a:lnTo>
                  <a:cubicBezTo>
                    <a:pt x="11430" y="50800"/>
                    <a:pt x="0" y="39370"/>
                    <a:pt x="0" y="25400"/>
                  </a:cubicBezTo>
                  <a:close/>
                </a:path>
              </a:pathLst>
            </a:custGeom>
            <a:solidFill>
              <a:srgbClr val="BACFDD"/>
            </a:solidFill>
          </p:spPr>
        </p:sp>
      </p:grpSp>
      <p:grpSp>
        <p:nvGrpSpPr>
          <p:cNvPr id="5" name="Group 5"/>
          <p:cNvGrpSpPr/>
          <p:nvPr/>
        </p:nvGrpSpPr>
        <p:grpSpPr>
          <a:xfrm>
            <a:off x="2432599" y="4900908"/>
            <a:ext cx="38100" cy="812454"/>
            <a:chOff x="0" y="0"/>
            <a:chExt cx="50800" cy="1083272"/>
          </a:xfrm>
        </p:grpSpPr>
        <p:sp>
          <p:nvSpPr>
            <p:cNvPr id="6" name="Freeform 6"/>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7" name="Group 7"/>
          <p:cNvGrpSpPr/>
          <p:nvPr/>
        </p:nvGrpSpPr>
        <p:grpSpPr>
          <a:xfrm>
            <a:off x="2142230" y="5403952"/>
            <a:ext cx="618830" cy="618830"/>
            <a:chOff x="0" y="0"/>
            <a:chExt cx="825106" cy="825106"/>
          </a:xfrm>
        </p:grpSpPr>
        <p:sp>
          <p:nvSpPr>
            <p:cNvPr id="8" name="Freeform 8"/>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9" name="Group 9"/>
          <p:cNvGrpSpPr/>
          <p:nvPr/>
        </p:nvGrpSpPr>
        <p:grpSpPr>
          <a:xfrm>
            <a:off x="2237851" y="5446138"/>
            <a:ext cx="427587" cy="534438"/>
            <a:chOff x="0" y="0"/>
            <a:chExt cx="570116" cy="712584"/>
          </a:xfrm>
        </p:grpSpPr>
        <p:sp>
          <p:nvSpPr>
            <p:cNvPr id="10" name="Freeform 10"/>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11" name="TextBox 11"/>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1</a:t>
              </a:r>
            </a:p>
          </p:txBody>
        </p:sp>
      </p:grpSp>
      <p:sp>
        <p:nvSpPr>
          <p:cNvPr id="12" name="TextBox 12"/>
          <p:cNvSpPr txBox="1"/>
          <p:nvPr/>
        </p:nvSpPr>
        <p:spPr>
          <a:xfrm>
            <a:off x="1218600" y="2255634"/>
            <a:ext cx="2466232" cy="454819"/>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1. Tạo Project</a:t>
            </a:r>
          </a:p>
        </p:txBody>
      </p:sp>
      <p:sp>
        <p:nvSpPr>
          <p:cNvPr id="13" name="TextBox 13"/>
          <p:cNvSpPr txBox="1"/>
          <p:nvPr/>
        </p:nvSpPr>
        <p:spPr>
          <a:xfrm>
            <a:off x="1218600" y="2796626"/>
            <a:ext cx="2692232" cy="389687"/>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Thiết lập dự án mới</a:t>
            </a:r>
          </a:p>
        </p:txBody>
      </p:sp>
      <p:grpSp>
        <p:nvGrpSpPr>
          <p:cNvPr id="14" name="Group 14"/>
          <p:cNvGrpSpPr/>
          <p:nvPr/>
        </p:nvGrpSpPr>
        <p:grpSpPr>
          <a:xfrm>
            <a:off x="4105570" y="5713362"/>
            <a:ext cx="38100" cy="812454"/>
            <a:chOff x="0" y="0"/>
            <a:chExt cx="50800" cy="1083272"/>
          </a:xfrm>
        </p:grpSpPr>
        <p:sp>
          <p:nvSpPr>
            <p:cNvPr id="15" name="Freeform 15"/>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16" name="Group 16"/>
          <p:cNvGrpSpPr/>
          <p:nvPr/>
        </p:nvGrpSpPr>
        <p:grpSpPr>
          <a:xfrm>
            <a:off x="3815210" y="5403952"/>
            <a:ext cx="618830" cy="618830"/>
            <a:chOff x="0" y="0"/>
            <a:chExt cx="825106" cy="825106"/>
          </a:xfrm>
        </p:grpSpPr>
        <p:sp>
          <p:nvSpPr>
            <p:cNvPr id="17" name="Freeform 17"/>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18" name="Group 18"/>
          <p:cNvGrpSpPr/>
          <p:nvPr/>
        </p:nvGrpSpPr>
        <p:grpSpPr>
          <a:xfrm>
            <a:off x="3910832" y="5446138"/>
            <a:ext cx="427587" cy="534438"/>
            <a:chOff x="0" y="0"/>
            <a:chExt cx="570116" cy="712584"/>
          </a:xfrm>
        </p:grpSpPr>
        <p:sp>
          <p:nvSpPr>
            <p:cNvPr id="19" name="Freeform 19"/>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20" name="TextBox 20"/>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2</a:t>
              </a:r>
            </a:p>
          </p:txBody>
        </p:sp>
      </p:grpSp>
      <p:sp>
        <p:nvSpPr>
          <p:cNvPr id="21" name="TextBox 21"/>
          <p:cNvSpPr txBox="1"/>
          <p:nvPr/>
        </p:nvSpPr>
        <p:spPr>
          <a:xfrm>
            <a:off x="2891580" y="6787010"/>
            <a:ext cx="2466232" cy="900113"/>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2. Thêm thành viên</a:t>
            </a:r>
          </a:p>
        </p:txBody>
      </p:sp>
      <p:sp>
        <p:nvSpPr>
          <p:cNvPr id="22" name="TextBox 22"/>
          <p:cNvSpPr txBox="1"/>
          <p:nvPr/>
        </p:nvSpPr>
        <p:spPr>
          <a:xfrm>
            <a:off x="2739761" y="7763323"/>
            <a:ext cx="2807818" cy="389687"/>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Mời và phân quyền</a:t>
            </a:r>
          </a:p>
        </p:txBody>
      </p:sp>
      <p:grpSp>
        <p:nvGrpSpPr>
          <p:cNvPr id="23" name="Group 23"/>
          <p:cNvGrpSpPr/>
          <p:nvPr/>
        </p:nvGrpSpPr>
        <p:grpSpPr>
          <a:xfrm>
            <a:off x="5778694" y="4900908"/>
            <a:ext cx="38100" cy="812454"/>
            <a:chOff x="0" y="0"/>
            <a:chExt cx="50800" cy="1083272"/>
          </a:xfrm>
        </p:grpSpPr>
        <p:sp>
          <p:nvSpPr>
            <p:cNvPr id="24" name="Freeform 24"/>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25" name="Group 25"/>
          <p:cNvGrpSpPr/>
          <p:nvPr/>
        </p:nvGrpSpPr>
        <p:grpSpPr>
          <a:xfrm>
            <a:off x="5488334" y="5403952"/>
            <a:ext cx="618830" cy="618830"/>
            <a:chOff x="0" y="0"/>
            <a:chExt cx="825106" cy="825106"/>
          </a:xfrm>
        </p:grpSpPr>
        <p:sp>
          <p:nvSpPr>
            <p:cNvPr id="26" name="Freeform 26"/>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27" name="Group 27"/>
          <p:cNvGrpSpPr/>
          <p:nvPr/>
        </p:nvGrpSpPr>
        <p:grpSpPr>
          <a:xfrm>
            <a:off x="5583955" y="5446138"/>
            <a:ext cx="427587" cy="534438"/>
            <a:chOff x="0" y="0"/>
            <a:chExt cx="570116" cy="712584"/>
          </a:xfrm>
        </p:grpSpPr>
        <p:sp>
          <p:nvSpPr>
            <p:cNvPr id="28" name="Freeform 28"/>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29" name="TextBox 29"/>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3</a:t>
              </a:r>
            </a:p>
          </p:txBody>
        </p:sp>
      </p:grpSp>
      <p:sp>
        <p:nvSpPr>
          <p:cNvPr id="30" name="TextBox 30"/>
          <p:cNvSpPr txBox="1"/>
          <p:nvPr/>
        </p:nvSpPr>
        <p:spPr>
          <a:xfrm>
            <a:off x="4564704" y="2255634"/>
            <a:ext cx="2466232" cy="900113"/>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3. Tạo &amp; phân công Task</a:t>
            </a:r>
          </a:p>
        </p:txBody>
      </p:sp>
      <p:sp>
        <p:nvSpPr>
          <p:cNvPr id="31" name="TextBox 31"/>
          <p:cNvSpPr txBox="1"/>
          <p:nvPr/>
        </p:nvSpPr>
        <p:spPr>
          <a:xfrm>
            <a:off x="4564704" y="3241919"/>
            <a:ext cx="2466232" cy="942975"/>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Phân công người thực hiện</a:t>
            </a:r>
          </a:p>
        </p:txBody>
      </p:sp>
      <p:grpSp>
        <p:nvGrpSpPr>
          <p:cNvPr id="32" name="Group 32"/>
          <p:cNvGrpSpPr/>
          <p:nvPr/>
        </p:nvGrpSpPr>
        <p:grpSpPr>
          <a:xfrm>
            <a:off x="7451674" y="5713362"/>
            <a:ext cx="38100" cy="812454"/>
            <a:chOff x="0" y="0"/>
            <a:chExt cx="50800" cy="1083272"/>
          </a:xfrm>
        </p:grpSpPr>
        <p:sp>
          <p:nvSpPr>
            <p:cNvPr id="33" name="Freeform 33"/>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34" name="Group 34"/>
          <p:cNvGrpSpPr/>
          <p:nvPr/>
        </p:nvGrpSpPr>
        <p:grpSpPr>
          <a:xfrm>
            <a:off x="7161314" y="5403952"/>
            <a:ext cx="618830" cy="618830"/>
            <a:chOff x="0" y="0"/>
            <a:chExt cx="825106" cy="825106"/>
          </a:xfrm>
        </p:grpSpPr>
        <p:sp>
          <p:nvSpPr>
            <p:cNvPr id="35" name="Freeform 35"/>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36" name="Group 36"/>
          <p:cNvGrpSpPr/>
          <p:nvPr/>
        </p:nvGrpSpPr>
        <p:grpSpPr>
          <a:xfrm>
            <a:off x="7256936" y="5446138"/>
            <a:ext cx="427587" cy="534438"/>
            <a:chOff x="0" y="0"/>
            <a:chExt cx="570116" cy="712584"/>
          </a:xfrm>
        </p:grpSpPr>
        <p:sp>
          <p:nvSpPr>
            <p:cNvPr id="37" name="Freeform 37"/>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38" name="TextBox 38"/>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4</a:t>
              </a:r>
            </a:p>
          </p:txBody>
        </p:sp>
      </p:grpSp>
      <p:sp>
        <p:nvSpPr>
          <p:cNvPr id="39" name="TextBox 39"/>
          <p:cNvSpPr txBox="1"/>
          <p:nvPr/>
        </p:nvSpPr>
        <p:spPr>
          <a:xfrm>
            <a:off x="6237684" y="6787010"/>
            <a:ext cx="2466232" cy="900113"/>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4. Theo dõi Kanban</a:t>
            </a:r>
          </a:p>
        </p:txBody>
      </p:sp>
      <p:sp>
        <p:nvSpPr>
          <p:cNvPr id="40" name="TextBox 40"/>
          <p:cNvSpPr txBox="1"/>
          <p:nvPr/>
        </p:nvSpPr>
        <p:spPr>
          <a:xfrm>
            <a:off x="6237684" y="7773295"/>
            <a:ext cx="2466232" cy="942975"/>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Giám sát tiến độ trực quan</a:t>
            </a:r>
          </a:p>
        </p:txBody>
      </p:sp>
      <p:grpSp>
        <p:nvGrpSpPr>
          <p:cNvPr id="41" name="Group 41"/>
          <p:cNvGrpSpPr/>
          <p:nvPr/>
        </p:nvGrpSpPr>
        <p:grpSpPr>
          <a:xfrm>
            <a:off x="9124798" y="4900908"/>
            <a:ext cx="38100" cy="812454"/>
            <a:chOff x="0" y="0"/>
            <a:chExt cx="50800" cy="1083272"/>
          </a:xfrm>
        </p:grpSpPr>
        <p:sp>
          <p:nvSpPr>
            <p:cNvPr id="42" name="Freeform 42"/>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43" name="Group 43"/>
          <p:cNvGrpSpPr/>
          <p:nvPr/>
        </p:nvGrpSpPr>
        <p:grpSpPr>
          <a:xfrm>
            <a:off x="8834438" y="5403952"/>
            <a:ext cx="618830" cy="618830"/>
            <a:chOff x="0" y="0"/>
            <a:chExt cx="825106" cy="825106"/>
          </a:xfrm>
        </p:grpSpPr>
        <p:sp>
          <p:nvSpPr>
            <p:cNvPr id="44" name="Freeform 44"/>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45" name="Group 45"/>
          <p:cNvGrpSpPr/>
          <p:nvPr/>
        </p:nvGrpSpPr>
        <p:grpSpPr>
          <a:xfrm>
            <a:off x="8930059" y="5446138"/>
            <a:ext cx="427587" cy="534438"/>
            <a:chOff x="0" y="0"/>
            <a:chExt cx="570116" cy="712584"/>
          </a:xfrm>
        </p:grpSpPr>
        <p:sp>
          <p:nvSpPr>
            <p:cNvPr id="46" name="Freeform 46"/>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47" name="TextBox 47"/>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5</a:t>
              </a:r>
            </a:p>
          </p:txBody>
        </p:sp>
      </p:grpSp>
      <p:sp>
        <p:nvSpPr>
          <p:cNvPr id="48" name="TextBox 48"/>
          <p:cNvSpPr txBox="1"/>
          <p:nvPr/>
        </p:nvSpPr>
        <p:spPr>
          <a:xfrm>
            <a:off x="7910808" y="2255634"/>
            <a:ext cx="2466232" cy="900113"/>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5. Cập nhật tiến độ</a:t>
            </a:r>
          </a:p>
        </p:txBody>
      </p:sp>
      <p:sp>
        <p:nvSpPr>
          <p:cNvPr id="49" name="TextBox 49"/>
          <p:cNvSpPr txBox="1"/>
          <p:nvPr/>
        </p:nvSpPr>
        <p:spPr>
          <a:xfrm>
            <a:off x="7910808" y="3286277"/>
            <a:ext cx="2518784" cy="389687"/>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Ghi nhận cập nhật</a:t>
            </a:r>
          </a:p>
        </p:txBody>
      </p:sp>
      <p:grpSp>
        <p:nvGrpSpPr>
          <p:cNvPr id="50" name="Group 50"/>
          <p:cNvGrpSpPr/>
          <p:nvPr/>
        </p:nvGrpSpPr>
        <p:grpSpPr>
          <a:xfrm>
            <a:off x="10797931" y="5713362"/>
            <a:ext cx="38100" cy="812454"/>
            <a:chOff x="0" y="0"/>
            <a:chExt cx="50800" cy="1083272"/>
          </a:xfrm>
        </p:grpSpPr>
        <p:sp>
          <p:nvSpPr>
            <p:cNvPr id="51" name="Freeform 51"/>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52" name="Group 52"/>
          <p:cNvGrpSpPr/>
          <p:nvPr/>
        </p:nvGrpSpPr>
        <p:grpSpPr>
          <a:xfrm>
            <a:off x="10507561" y="5403952"/>
            <a:ext cx="618830" cy="618830"/>
            <a:chOff x="0" y="0"/>
            <a:chExt cx="825106" cy="825106"/>
          </a:xfrm>
        </p:grpSpPr>
        <p:sp>
          <p:nvSpPr>
            <p:cNvPr id="53" name="Freeform 53"/>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54" name="Group 54"/>
          <p:cNvGrpSpPr/>
          <p:nvPr/>
        </p:nvGrpSpPr>
        <p:grpSpPr>
          <a:xfrm>
            <a:off x="10603182" y="5446138"/>
            <a:ext cx="427587" cy="534438"/>
            <a:chOff x="0" y="0"/>
            <a:chExt cx="570116" cy="712584"/>
          </a:xfrm>
        </p:grpSpPr>
        <p:sp>
          <p:nvSpPr>
            <p:cNvPr id="55" name="Freeform 55"/>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56" name="TextBox 56"/>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6</a:t>
              </a:r>
            </a:p>
          </p:txBody>
        </p:sp>
      </p:grpSp>
      <p:sp>
        <p:nvSpPr>
          <p:cNvPr id="57" name="TextBox 57"/>
          <p:cNvSpPr txBox="1"/>
          <p:nvPr/>
        </p:nvSpPr>
        <p:spPr>
          <a:xfrm>
            <a:off x="9583788" y="6787010"/>
            <a:ext cx="2466384" cy="900113"/>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6. Nộp Evidence</a:t>
            </a:r>
          </a:p>
        </p:txBody>
      </p:sp>
      <p:sp>
        <p:nvSpPr>
          <p:cNvPr id="58" name="TextBox 58"/>
          <p:cNvSpPr txBox="1"/>
          <p:nvPr/>
        </p:nvSpPr>
        <p:spPr>
          <a:xfrm>
            <a:off x="9774288" y="7772848"/>
            <a:ext cx="2085384" cy="808787"/>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Đính kèm bằng chứng</a:t>
            </a:r>
          </a:p>
        </p:txBody>
      </p:sp>
      <p:grpSp>
        <p:nvGrpSpPr>
          <p:cNvPr id="59" name="Group 59"/>
          <p:cNvGrpSpPr/>
          <p:nvPr/>
        </p:nvGrpSpPr>
        <p:grpSpPr>
          <a:xfrm>
            <a:off x="12470902" y="4900908"/>
            <a:ext cx="38100" cy="812454"/>
            <a:chOff x="0" y="0"/>
            <a:chExt cx="50800" cy="1083272"/>
          </a:xfrm>
        </p:grpSpPr>
        <p:sp>
          <p:nvSpPr>
            <p:cNvPr id="60" name="Freeform 60"/>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61" name="Group 61"/>
          <p:cNvGrpSpPr/>
          <p:nvPr/>
        </p:nvGrpSpPr>
        <p:grpSpPr>
          <a:xfrm>
            <a:off x="12180541" y="5403952"/>
            <a:ext cx="618830" cy="618830"/>
            <a:chOff x="0" y="0"/>
            <a:chExt cx="825106" cy="825106"/>
          </a:xfrm>
        </p:grpSpPr>
        <p:sp>
          <p:nvSpPr>
            <p:cNvPr id="62" name="Freeform 62"/>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63" name="Group 63"/>
          <p:cNvGrpSpPr/>
          <p:nvPr/>
        </p:nvGrpSpPr>
        <p:grpSpPr>
          <a:xfrm>
            <a:off x="12276163" y="5446138"/>
            <a:ext cx="427587" cy="534438"/>
            <a:chOff x="0" y="0"/>
            <a:chExt cx="570116" cy="712584"/>
          </a:xfrm>
        </p:grpSpPr>
        <p:sp>
          <p:nvSpPr>
            <p:cNvPr id="64" name="Freeform 64"/>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65" name="TextBox 65"/>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7</a:t>
              </a:r>
            </a:p>
          </p:txBody>
        </p:sp>
      </p:grpSp>
      <p:sp>
        <p:nvSpPr>
          <p:cNvPr id="66" name="TextBox 66"/>
          <p:cNvSpPr txBox="1"/>
          <p:nvPr/>
        </p:nvSpPr>
        <p:spPr>
          <a:xfrm>
            <a:off x="11256912" y="2255634"/>
            <a:ext cx="2466232" cy="454819"/>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7. Review</a:t>
            </a:r>
          </a:p>
        </p:txBody>
      </p:sp>
      <p:sp>
        <p:nvSpPr>
          <p:cNvPr id="67" name="TextBox 67"/>
          <p:cNvSpPr txBox="1"/>
          <p:nvPr/>
        </p:nvSpPr>
        <p:spPr>
          <a:xfrm>
            <a:off x="11256912" y="2796626"/>
            <a:ext cx="2466232" cy="942975"/>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Phê duyệt hoặc yêu cầu sửa</a:t>
            </a:r>
          </a:p>
        </p:txBody>
      </p:sp>
      <p:grpSp>
        <p:nvGrpSpPr>
          <p:cNvPr id="68" name="Group 68"/>
          <p:cNvGrpSpPr/>
          <p:nvPr/>
        </p:nvGrpSpPr>
        <p:grpSpPr>
          <a:xfrm>
            <a:off x="14144034" y="5713362"/>
            <a:ext cx="38100" cy="812454"/>
            <a:chOff x="0" y="0"/>
            <a:chExt cx="50800" cy="1083272"/>
          </a:xfrm>
        </p:grpSpPr>
        <p:sp>
          <p:nvSpPr>
            <p:cNvPr id="69" name="Freeform 69"/>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70" name="Group 70"/>
          <p:cNvGrpSpPr/>
          <p:nvPr/>
        </p:nvGrpSpPr>
        <p:grpSpPr>
          <a:xfrm>
            <a:off x="13853665" y="5403952"/>
            <a:ext cx="618830" cy="618830"/>
            <a:chOff x="0" y="0"/>
            <a:chExt cx="825106" cy="825106"/>
          </a:xfrm>
        </p:grpSpPr>
        <p:sp>
          <p:nvSpPr>
            <p:cNvPr id="71" name="Freeform 71"/>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72" name="Group 72"/>
          <p:cNvGrpSpPr/>
          <p:nvPr/>
        </p:nvGrpSpPr>
        <p:grpSpPr>
          <a:xfrm>
            <a:off x="13949286" y="5446138"/>
            <a:ext cx="427587" cy="534438"/>
            <a:chOff x="0" y="0"/>
            <a:chExt cx="570116" cy="712584"/>
          </a:xfrm>
        </p:grpSpPr>
        <p:sp>
          <p:nvSpPr>
            <p:cNvPr id="73" name="Freeform 73"/>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74" name="TextBox 74"/>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8</a:t>
              </a:r>
            </a:p>
          </p:txBody>
        </p:sp>
      </p:grpSp>
      <p:sp>
        <p:nvSpPr>
          <p:cNvPr id="75" name="TextBox 75"/>
          <p:cNvSpPr txBox="1"/>
          <p:nvPr/>
        </p:nvSpPr>
        <p:spPr>
          <a:xfrm>
            <a:off x="12930035" y="6787010"/>
            <a:ext cx="2466232" cy="900113"/>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8. Hoàn tất Task</a:t>
            </a:r>
          </a:p>
        </p:txBody>
      </p:sp>
      <p:sp>
        <p:nvSpPr>
          <p:cNvPr id="76" name="TextBox 76"/>
          <p:cNvSpPr txBox="1"/>
          <p:nvPr/>
        </p:nvSpPr>
        <p:spPr>
          <a:xfrm>
            <a:off x="12799371" y="7763323"/>
            <a:ext cx="2886970" cy="389687"/>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Xác nhận hoàn thành</a:t>
            </a:r>
          </a:p>
        </p:txBody>
      </p:sp>
      <p:grpSp>
        <p:nvGrpSpPr>
          <p:cNvPr id="77" name="Group 77"/>
          <p:cNvGrpSpPr/>
          <p:nvPr/>
        </p:nvGrpSpPr>
        <p:grpSpPr>
          <a:xfrm>
            <a:off x="15817005" y="4900908"/>
            <a:ext cx="38100" cy="812454"/>
            <a:chOff x="0" y="0"/>
            <a:chExt cx="50800" cy="1083272"/>
          </a:xfrm>
        </p:grpSpPr>
        <p:sp>
          <p:nvSpPr>
            <p:cNvPr id="78" name="Freeform 78"/>
            <p:cNvSpPr/>
            <p:nvPr/>
          </p:nvSpPr>
          <p:spPr>
            <a:xfrm>
              <a:off x="0" y="0"/>
              <a:ext cx="50800" cy="1083310"/>
            </a:xfrm>
            <a:custGeom>
              <a:avLst/>
              <a:gdLst/>
              <a:ahLst/>
              <a:cxnLst/>
              <a:rect l="l" t="t" r="r" b="b"/>
              <a:pathLst>
                <a:path w="50800" h="1083310">
                  <a:moveTo>
                    <a:pt x="0" y="25400"/>
                  </a:moveTo>
                  <a:cubicBezTo>
                    <a:pt x="0" y="11430"/>
                    <a:pt x="11430" y="0"/>
                    <a:pt x="25400" y="0"/>
                  </a:cubicBezTo>
                  <a:cubicBezTo>
                    <a:pt x="39370" y="0"/>
                    <a:pt x="50800" y="11430"/>
                    <a:pt x="50800" y="25400"/>
                  </a:cubicBezTo>
                  <a:lnTo>
                    <a:pt x="50800" y="1057910"/>
                  </a:lnTo>
                  <a:cubicBezTo>
                    <a:pt x="50800" y="1071880"/>
                    <a:pt x="39370" y="1083310"/>
                    <a:pt x="25400" y="1083310"/>
                  </a:cubicBezTo>
                  <a:cubicBezTo>
                    <a:pt x="11430" y="1083310"/>
                    <a:pt x="0" y="1071880"/>
                    <a:pt x="0" y="1057910"/>
                  </a:cubicBezTo>
                  <a:close/>
                </a:path>
              </a:pathLst>
            </a:custGeom>
            <a:solidFill>
              <a:srgbClr val="BACFDD"/>
            </a:solidFill>
          </p:spPr>
        </p:sp>
      </p:grpSp>
      <p:grpSp>
        <p:nvGrpSpPr>
          <p:cNvPr id="79" name="Group 79"/>
          <p:cNvGrpSpPr/>
          <p:nvPr/>
        </p:nvGrpSpPr>
        <p:grpSpPr>
          <a:xfrm>
            <a:off x="15526645" y="5403952"/>
            <a:ext cx="618830" cy="618830"/>
            <a:chOff x="0" y="0"/>
            <a:chExt cx="825106" cy="825106"/>
          </a:xfrm>
        </p:grpSpPr>
        <p:sp>
          <p:nvSpPr>
            <p:cNvPr id="80" name="Freeform 80"/>
            <p:cNvSpPr/>
            <p:nvPr/>
          </p:nvSpPr>
          <p:spPr>
            <a:xfrm>
              <a:off x="0" y="0"/>
              <a:ext cx="825119" cy="825119"/>
            </a:xfrm>
            <a:custGeom>
              <a:avLst/>
              <a:gdLst/>
              <a:ahLst/>
              <a:cxnLst/>
              <a:rect l="l" t="t" r="r" b="b"/>
              <a:pathLst>
                <a:path w="825119" h="825119">
                  <a:moveTo>
                    <a:pt x="0" y="412496"/>
                  </a:moveTo>
                  <a:cubicBezTo>
                    <a:pt x="0" y="184658"/>
                    <a:pt x="184658" y="0"/>
                    <a:pt x="412496" y="0"/>
                  </a:cubicBezTo>
                  <a:cubicBezTo>
                    <a:pt x="640334" y="0"/>
                    <a:pt x="825119" y="184658"/>
                    <a:pt x="825119" y="412496"/>
                  </a:cubicBezTo>
                  <a:cubicBezTo>
                    <a:pt x="825119" y="640334"/>
                    <a:pt x="640461" y="825119"/>
                    <a:pt x="412496" y="825119"/>
                  </a:cubicBezTo>
                  <a:cubicBezTo>
                    <a:pt x="184531" y="825119"/>
                    <a:pt x="0" y="640461"/>
                    <a:pt x="0" y="412496"/>
                  </a:cubicBezTo>
                  <a:close/>
                </a:path>
              </a:pathLst>
            </a:custGeom>
            <a:solidFill>
              <a:srgbClr val="D4E9F7"/>
            </a:solidFill>
            <a:ln w="9526" cap="sq">
              <a:solidFill>
                <a:srgbClr val="BACFDD"/>
              </a:solidFill>
              <a:prstDash val="solid"/>
              <a:miter/>
            </a:ln>
          </p:spPr>
        </p:sp>
      </p:grpSp>
      <p:grpSp>
        <p:nvGrpSpPr>
          <p:cNvPr id="81" name="Group 81"/>
          <p:cNvGrpSpPr/>
          <p:nvPr/>
        </p:nvGrpSpPr>
        <p:grpSpPr>
          <a:xfrm>
            <a:off x="15622267" y="5446138"/>
            <a:ext cx="427587" cy="534438"/>
            <a:chOff x="0" y="0"/>
            <a:chExt cx="570116" cy="712584"/>
          </a:xfrm>
        </p:grpSpPr>
        <p:sp>
          <p:nvSpPr>
            <p:cNvPr id="82" name="Freeform 82"/>
            <p:cNvSpPr/>
            <p:nvPr/>
          </p:nvSpPr>
          <p:spPr>
            <a:xfrm>
              <a:off x="0" y="0"/>
              <a:ext cx="570112" cy="712589"/>
            </a:xfrm>
            <a:custGeom>
              <a:avLst/>
              <a:gdLst/>
              <a:ahLst/>
              <a:cxnLst/>
              <a:rect l="l" t="t" r="r" b="b"/>
              <a:pathLst>
                <a:path w="570112" h="712589">
                  <a:moveTo>
                    <a:pt x="0" y="0"/>
                  </a:moveTo>
                  <a:lnTo>
                    <a:pt x="570112" y="0"/>
                  </a:lnTo>
                  <a:lnTo>
                    <a:pt x="570112" y="712589"/>
                  </a:lnTo>
                  <a:lnTo>
                    <a:pt x="0" y="712589"/>
                  </a:lnTo>
                  <a:close/>
                </a:path>
              </a:pathLst>
            </a:custGeom>
            <a:blipFill>
              <a:blip r:embed="rId3">
                <a:alphaModFix amt="0"/>
              </a:blip>
              <a:stretch>
                <a:fillRect l="-110366" r="-110367"/>
              </a:stretch>
            </a:blipFill>
          </p:spPr>
        </p:sp>
        <p:sp>
          <p:nvSpPr>
            <p:cNvPr id="83" name="TextBox 83"/>
            <p:cNvSpPr txBox="1"/>
            <p:nvPr/>
          </p:nvSpPr>
          <p:spPr>
            <a:xfrm>
              <a:off x="0" y="-9525"/>
              <a:ext cx="570116" cy="722109"/>
            </a:xfrm>
            <a:prstGeom prst="rect">
              <a:avLst/>
            </a:prstGeom>
          </p:spPr>
          <p:txBody>
            <a:bodyPr lIns="0" tIns="0" rIns="0" bIns="0" rtlCol="0" anchor="ctr"/>
            <a:lstStyle/>
            <a:p>
              <a:pPr algn="ctr">
                <a:lnSpc>
                  <a:spcPts val="3960"/>
                </a:lnSpc>
              </a:pPr>
              <a:r>
                <a:rPr lang="en-US" sz="3300" b="1">
                  <a:solidFill>
                    <a:srgbClr val="384653"/>
                  </a:solidFill>
                  <a:latin typeface="Barlow Bold"/>
                  <a:ea typeface="Barlow Bold"/>
                  <a:cs typeface="Barlow Bold"/>
                  <a:sym typeface="Barlow Bold"/>
                </a:rPr>
                <a:t>9</a:t>
              </a:r>
            </a:p>
          </p:txBody>
        </p:sp>
      </p:grpSp>
      <p:sp>
        <p:nvSpPr>
          <p:cNvPr id="84" name="TextBox 84"/>
          <p:cNvSpPr txBox="1"/>
          <p:nvPr/>
        </p:nvSpPr>
        <p:spPr>
          <a:xfrm>
            <a:off x="14603016" y="2255634"/>
            <a:ext cx="2466232" cy="1345406"/>
          </a:xfrm>
          <a:prstGeom prst="rect">
            <a:avLst/>
          </a:prstGeom>
        </p:spPr>
        <p:txBody>
          <a:bodyPr lIns="0" tIns="0" rIns="0" bIns="0" rtlCol="0" anchor="t">
            <a:spAutoFit/>
          </a:bodyPr>
          <a:lstStyle/>
          <a:p>
            <a:pPr algn="ctr">
              <a:lnSpc>
                <a:spcPts val="3494"/>
              </a:lnSpc>
            </a:pPr>
            <a:r>
              <a:rPr lang="en-US" sz="2799" b="1">
                <a:solidFill>
                  <a:srgbClr val="384653"/>
                </a:solidFill>
                <a:latin typeface="Barlow Bold"/>
                <a:ea typeface="Barlow Bold"/>
                <a:cs typeface="Barlow Bold"/>
                <a:sym typeface="Barlow Bold"/>
              </a:rPr>
              <a:t>9. Notification / Audit / Analytics</a:t>
            </a:r>
          </a:p>
        </p:txBody>
      </p:sp>
      <p:sp>
        <p:nvSpPr>
          <p:cNvPr id="85" name="TextBox 85"/>
          <p:cNvSpPr txBox="1"/>
          <p:nvPr/>
        </p:nvSpPr>
        <p:spPr>
          <a:xfrm>
            <a:off x="14765806" y="3675307"/>
            <a:ext cx="2102399" cy="808787"/>
          </a:xfrm>
          <a:prstGeom prst="rect">
            <a:avLst/>
          </a:prstGeom>
        </p:spPr>
        <p:txBody>
          <a:bodyPr lIns="0" tIns="0" rIns="0" bIns="0" rtlCol="0" anchor="t">
            <a:spAutoFit/>
          </a:bodyPr>
          <a:lstStyle/>
          <a:p>
            <a:pPr algn="ctr">
              <a:lnSpc>
                <a:spcPts val="3351"/>
              </a:lnSpc>
            </a:pPr>
            <a:r>
              <a:rPr lang="en-US" sz="2100">
                <a:solidFill>
                  <a:srgbClr val="384653"/>
                </a:solidFill>
                <a:latin typeface="Montserrat"/>
                <a:ea typeface="Montserrat"/>
                <a:cs typeface="Montserrat"/>
                <a:sym typeface="Montserrat"/>
              </a:rPr>
              <a:t>Ghi nhận và phân tích</a:t>
            </a:r>
          </a:p>
        </p:txBody>
      </p:sp>
      <p:sp>
        <p:nvSpPr>
          <p:cNvPr id="86" name="TextBox 86"/>
          <p:cNvSpPr txBox="1"/>
          <p:nvPr/>
        </p:nvSpPr>
        <p:spPr>
          <a:xfrm>
            <a:off x="947890" y="8944718"/>
            <a:ext cx="17306630" cy="509588"/>
          </a:xfrm>
          <a:prstGeom prst="rect">
            <a:avLst/>
          </a:prstGeom>
        </p:spPr>
        <p:txBody>
          <a:bodyPr lIns="0" tIns="0" rIns="0" bIns="0" rtlCol="0" anchor="t">
            <a:spAutoFit/>
          </a:bodyPr>
          <a:lstStyle/>
          <a:p>
            <a:pPr algn="l">
              <a:lnSpc>
                <a:spcPts val="3351"/>
              </a:lnSpc>
            </a:pPr>
            <a:r>
              <a:rPr lang="en-US" sz="2100">
                <a:solidFill>
                  <a:srgbClr val="384653"/>
                </a:solidFill>
                <a:latin typeface="Montserrat"/>
                <a:ea typeface="Montserrat"/>
                <a:cs typeface="Montserrat"/>
                <a:sym typeface="Montserrat"/>
              </a:rPr>
              <a:t>Quy trình end-to-end từ khởi tạo dự án đến khi hoàn tất task, với đầy đủ cơ chế kiểm soát và theo dõi.</a:t>
            </a:r>
          </a:p>
        </p:txBody>
      </p:sp>
      <p:sp>
        <p:nvSpPr>
          <p:cNvPr id="87" name="Freeform 87"/>
          <p:cNvSpPr/>
          <p:nvPr/>
        </p:nvSpPr>
        <p:spPr>
          <a:xfrm>
            <a:off x="15960535" y="584720"/>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4"/>
            <a:stretch>
              <a:fillRect/>
            </a:stretch>
          </a:blipFill>
        </p:spPr>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6992074" y="2685525"/>
            <a:ext cx="10267226" cy="4523997"/>
          </a:xfrm>
          <a:custGeom>
            <a:avLst/>
            <a:gdLst/>
            <a:ahLst/>
            <a:cxnLst/>
            <a:rect l="l" t="t" r="r" b="b"/>
            <a:pathLst>
              <a:path w="10267226" h="4523997">
                <a:moveTo>
                  <a:pt x="0" y="0"/>
                </a:moveTo>
                <a:lnTo>
                  <a:pt x="10267226" y="0"/>
                </a:lnTo>
                <a:lnTo>
                  <a:pt x="10267226" y="4523996"/>
                </a:lnTo>
                <a:lnTo>
                  <a:pt x="0" y="4523996"/>
                </a:lnTo>
                <a:lnTo>
                  <a:pt x="0" y="0"/>
                </a:lnTo>
                <a:close/>
              </a:path>
            </a:pathLst>
          </a:custGeom>
          <a:blipFill>
            <a:blip r:embed="rId3"/>
            <a:stretch>
              <a:fillRect/>
            </a:stretch>
          </a:blipFill>
        </p:spPr>
      </p:sp>
      <p:sp>
        <p:nvSpPr>
          <p:cNvPr id="3" name="TextBox 3"/>
          <p:cNvSpPr txBox="1"/>
          <p:nvPr/>
        </p:nvSpPr>
        <p:spPr>
          <a:xfrm>
            <a:off x="1028700" y="1047750"/>
            <a:ext cx="11419806" cy="1192530"/>
          </a:xfrm>
          <a:prstGeom prst="rect">
            <a:avLst/>
          </a:prstGeom>
        </p:spPr>
        <p:txBody>
          <a:bodyPr lIns="0" tIns="0" rIns="0" bIns="0" rtlCol="0" anchor="t">
            <a:spAutoFit/>
          </a:bodyPr>
          <a:lstStyle/>
          <a:p>
            <a:pPr algn="l">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THIẾT KẾ DATABASE</a:t>
            </a:r>
          </a:p>
        </p:txBody>
      </p:sp>
      <p:grpSp>
        <p:nvGrpSpPr>
          <p:cNvPr id="4" name="Group 4"/>
          <p:cNvGrpSpPr/>
          <p:nvPr/>
        </p:nvGrpSpPr>
        <p:grpSpPr>
          <a:xfrm>
            <a:off x="1028700" y="2685525"/>
            <a:ext cx="5481213" cy="4523997"/>
            <a:chOff x="0" y="0"/>
            <a:chExt cx="1285446" cy="1060961"/>
          </a:xfrm>
        </p:grpSpPr>
        <p:sp>
          <p:nvSpPr>
            <p:cNvPr id="5" name="Freeform 5"/>
            <p:cNvSpPr/>
            <p:nvPr/>
          </p:nvSpPr>
          <p:spPr>
            <a:xfrm>
              <a:off x="0" y="0"/>
              <a:ext cx="1285446" cy="1060961"/>
            </a:xfrm>
            <a:custGeom>
              <a:avLst/>
              <a:gdLst/>
              <a:ahLst/>
              <a:cxnLst/>
              <a:rect l="l" t="t" r="r" b="b"/>
              <a:pathLst>
                <a:path w="1285446" h="1060961">
                  <a:moveTo>
                    <a:pt x="45198" y="0"/>
                  </a:moveTo>
                  <a:lnTo>
                    <a:pt x="1240248" y="0"/>
                  </a:lnTo>
                  <a:cubicBezTo>
                    <a:pt x="1252235" y="0"/>
                    <a:pt x="1263732" y="4762"/>
                    <a:pt x="1272208" y="13238"/>
                  </a:cubicBezTo>
                  <a:cubicBezTo>
                    <a:pt x="1280684" y="21715"/>
                    <a:pt x="1285446" y="33211"/>
                    <a:pt x="1285446" y="45198"/>
                  </a:cubicBezTo>
                  <a:lnTo>
                    <a:pt x="1285446" y="1015763"/>
                  </a:lnTo>
                  <a:cubicBezTo>
                    <a:pt x="1285446" y="1027750"/>
                    <a:pt x="1280684" y="1039247"/>
                    <a:pt x="1272208" y="1047723"/>
                  </a:cubicBezTo>
                  <a:cubicBezTo>
                    <a:pt x="1263732" y="1056199"/>
                    <a:pt x="1252235" y="1060961"/>
                    <a:pt x="1240248" y="1060961"/>
                  </a:cubicBezTo>
                  <a:lnTo>
                    <a:pt x="45198" y="1060961"/>
                  </a:lnTo>
                  <a:cubicBezTo>
                    <a:pt x="33211" y="1060961"/>
                    <a:pt x="21715" y="1056199"/>
                    <a:pt x="13238" y="1047723"/>
                  </a:cubicBezTo>
                  <a:cubicBezTo>
                    <a:pt x="4762" y="1039247"/>
                    <a:pt x="0" y="1027750"/>
                    <a:pt x="0" y="1015763"/>
                  </a:cubicBezTo>
                  <a:lnTo>
                    <a:pt x="0" y="45198"/>
                  </a:lnTo>
                  <a:cubicBezTo>
                    <a:pt x="0" y="33211"/>
                    <a:pt x="4762" y="21715"/>
                    <a:pt x="13238" y="13238"/>
                  </a:cubicBezTo>
                  <a:cubicBezTo>
                    <a:pt x="21715" y="4762"/>
                    <a:pt x="33211" y="0"/>
                    <a:pt x="45198" y="0"/>
                  </a:cubicBezTo>
                  <a:close/>
                </a:path>
              </a:pathLst>
            </a:custGeom>
            <a:gradFill rotWithShape="1">
              <a:gsLst>
                <a:gs pos="0">
                  <a:srgbClr val="0565EF">
                    <a:alpha val="100000"/>
                  </a:srgbClr>
                </a:gs>
                <a:gs pos="100000">
                  <a:srgbClr val="50B2FF">
                    <a:alpha val="100000"/>
                  </a:srgbClr>
                </a:gs>
              </a:gsLst>
              <a:lin ang="0"/>
            </a:gradFill>
            <a:ln w="38100" cap="rnd">
              <a:solidFill>
                <a:srgbClr val="FFFFFF"/>
              </a:solidFill>
              <a:prstDash val="solid"/>
              <a:round/>
            </a:ln>
          </p:spPr>
        </p:sp>
        <p:sp>
          <p:nvSpPr>
            <p:cNvPr id="6" name="TextBox 6"/>
            <p:cNvSpPr txBox="1"/>
            <p:nvPr/>
          </p:nvSpPr>
          <p:spPr>
            <a:xfrm>
              <a:off x="0" y="0"/>
              <a:ext cx="1285446" cy="1060961"/>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7" name="TextBox 7"/>
          <p:cNvSpPr txBox="1"/>
          <p:nvPr/>
        </p:nvSpPr>
        <p:spPr>
          <a:xfrm>
            <a:off x="1130488" y="3373586"/>
            <a:ext cx="5203869" cy="3625401"/>
          </a:xfrm>
          <a:prstGeom prst="rect">
            <a:avLst/>
          </a:prstGeom>
        </p:spPr>
        <p:txBody>
          <a:bodyPr lIns="0" tIns="0" rIns="0" bIns="0" rtlCol="0" anchor="t">
            <a:spAutoFit/>
          </a:bodyPr>
          <a:lstStyle/>
          <a:p>
            <a:pPr marL="530481" lvl="1" indent="-265240" algn="l">
              <a:lnSpc>
                <a:spcPts val="4177"/>
              </a:lnSpc>
              <a:buFont typeface="Arial"/>
              <a:buChar char="•"/>
            </a:pPr>
            <a:r>
              <a:rPr lang="en-US" sz="2457" b="1" i="1">
                <a:solidFill>
                  <a:srgbClr val="FFFFFF"/>
                </a:solidFill>
                <a:latin typeface="Proxima Nova Bold Italics"/>
                <a:ea typeface="Proxima Nova Bold Italics"/>
                <a:cs typeface="Proxima Nova Bold Italics"/>
                <a:sym typeface="Proxima Nova Bold Italics"/>
              </a:rPr>
              <a:t>User ↔ Project (phân quyền)</a:t>
            </a:r>
          </a:p>
          <a:p>
            <a:pPr marL="530481" lvl="1" indent="-265240" algn="l">
              <a:lnSpc>
                <a:spcPts val="4177"/>
              </a:lnSpc>
              <a:buFont typeface="Arial"/>
              <a:buChar char="•"/>
            </a:pPr>
            <a:r>
              <a:rPr lang="en-US" sz="2457" b="1" i="1">
                <a:solidFill>
                  <a:srgbClr val="FFFFFF"/>
                </a:solidFill>
                <a:latin typeface="Proxima Nova Bold Italics"/>
                <a:ea typeface="Proxima Nova Bold Italics"/>
                <a:cs typeface="Proxima Nova Bold Italics"/>
                <a:sym typeface="Proxima Nova Bold Italics"/>
              </a:rPr>
              <a:t>Project → TaskItem (1-n)</a:t>
            </a:r>
          </a:p>
          <a:p>
            <a:pPr marL="530481" lvl="1" indent="-265240" algn="l">
              <a:lnSpc>
                <a:spcPts val="4177"/>
              </a:lnSpc>
              <a:buFont typeface="Arial"/>
              <a:buChar char="•"/>
            </a:pPr>
            <a:r>
              <a:rPr lang="en-US" sz="2457" b="1" i="1">
                <a:solidFill>
                  <a:srgbClr val="FFFFFF"/>
                </a:solidFill>
                <a:latin typeface="Proxima Nova Bold Italics"/>
                <a:ea typeface="Proxima Nova Bold Italics"/>
                <a:cs typeface="Proxima Nova Bold Italics"/>
                <a:sym typeface="Proxima Nova Bold Italics"/>
              </a:rPr>
              <a:t>TaskItem ↔ User (assignee)</a:t>
            </a:r>
          </a:p>
          <a:p>
            <a:pPr marL="530481" lvl="1" indent="-265240" algn="l">
              <a:lnSpc>
                <a:spcPts val="4177"/>
              </a:lnSpc>
              <a:buFont typeface="Arial"/>
              <a:buChar char="•"/>
            </a:pPr>
            <a:r>
              <a:rPr lang="en-US" sz="2457" b="1" i="1">
                <a:solidFill>
                  <a:srgbClr val="FFFFFF"/>
                </a:solidFill>
                <a:latin typeface="Proxima Nova Bold Italics"/>
                <a:ea typeface="Proxima Nova Bold Italics"/>
                <a:cs typeface="Proxima Nova Bold Italics"/>
                <a:sym typeface="Proxima Nova Bold Italics"/>
              </a:rPr>
              <a:t>TaskItem → Comment / Attachment / TimeEntry</a:t>
            </a:r>
          </a:p>
          <a:p>
            <a:pPr marL="530481" lvl="1" indent="-265240" algn="l">
              <a:lnSpc>
                <a:spcPts val="4177"/>
              </a:lnSpc>
              <a:buFont typeface="Arial"/>
              <a:buChar char="•"/>
            </a:pPr>
            <a:r>
              <a:rPr lang="en-US" sz="2457" b="1" i="1">
                <a:solidFill>
                  <a:srgbClr val="FFFFFF"/>
                </a:solidFill>
                <a:latin typeface="Proxima Nova Bold Italics"/>
                <a:ea typeface="Proxima Nova Bold Italics"/>
                <a:cs typeface="Proxima Nova Bold Italics"/>
                <a:sym typeface="Proxima Nova Bold Italics"/>
              </a:rPr>
              <a:t>WorkGroup → Chat / Poll / Meeting</a:t>
            </a:r>
          </a:p>
        </p:txBody>
      </p:sp>
      <p:sp>
        <p:nvSpPr>
          <p:cNvPr id="8" name="TextBox 8"/>
          <p:cNvSpPr txBox="1"/>
          <p:nvPr/>
        </p:nvSpPr>
        <p:spPr>
          <a:xfrm>
            <a:off x="1130488" y="2854792"/>
            <a:ext cx="5203869" cy="528319"/>
          </a:xfrm>
          <a:prstGeom prst="rect">
            <a:avLst/>
          </a:prstGeom>
        </p:spPr>
        <p:txBody>
          <a:bodyPr lIns="0" tIns="0" rIns="0" bIns="0" rtlCol="0" anchor="t">
            <a:spAutoFit/>
          </a:bodyPr>
          <a:lstStyle/>
          <a:p>
            <a:pPr algn="l">
              <a:lnSpc>
                <a:spcPts val="4204"/>
              </a:lnSpc>
            </a:pPr>
            <a:r>
              <a:rPr lang="en-US" sz="3593" b="1">
                <a:solidFill>
                  <a:srgbClr val="FFFFFF"/>
                </a:solidFill>
                <a:latin typeface="Proxima Nova Heavy"/>
                <a:ea typeface="Proxima Nova Heavy"/>
                <a:cs typeface="Proxima Nova Heavy"/>
                <a:sym typeface="Proxima Nova Heavy"/>
              </a:rPr>
              <a:t>QUAN HỆ CHÍNH</a:t>
            </a:r>
          </a:p>
        </p:txBody>
      </p:sp>
      <p:grpSp>
        <p:nvGrpSpPr>
          <p:cNvPr id="9" name="Group 9"/>
          <p:cNvGrpSpPr/>
          <p:nvPr/>
        </p:nvGrpSpPr>
        <p:grpSpPr>
          <a:xfrm>
            <a:off x="938360" y="7676246"/>
            <a:ext cx="7669005" cy="1673026"/>
            <a:chOff x="0" y="0"/>
            <a:chExt cx="10225340" cy="2230701"/>
          </a:xfrm>
        </p:grpSpPr>
        <p:sp>
          <p:nvSpPr>
            <p:cNvPr id="10" name="Freeform 10"/>
            <p:cNvSpPr/>
            <p:nvPr/>
          </p:nvSpPr>
          <p:spPr>
            <a:xfrm>
              <a:off x="0" y="0"/>
              <a:ext cx="10225366" cy="2230777"/>
            </a:xfrm>
            <a:custGeom>
              <a:avLst/>
              <a:gdLst/>
              <a:ahLst/>
              <a:cxnLst/>
              <a:rect l="l" t="t" r="r" b="b"/>
              <a:pathLst>
                <a:path w="10225366" h="2230777">
                  <a:moveTo>
                    <a:pt x="0" y="617085"/>
                  </a:moveTo>
                  <a:cubicBezTo>
                    <a:pt x="0" y="276391"/>
                    <a:pt x="116665" y="0"/>
                    <a:pt x="260473" y="0"/>
                  </a:cubicBezTo>
                  <a:lnTo>
                    <a:pt x="9964891" y="0"/>
                  </a:lnTo>
                  <a:cubicBezTo>
                    <a:pt x="10108698" y="0"/>
                    <a:pt x="10225366" y="276391"/>
                    <a:pt x="10225366" y="617085"/>
                  </a:cubicBezTo>
                  <a:lnTo>
                    <a:pt x="10225366" y="1613785"/>
                  </a:lnTo>
                  <a:cubicBezTo>
                    <a:pt x="10225366" y="1954479"/>
                    <a:pt x="10108698" y="2230777"/>
                    <a:pt x="9964891" y="2230777"/>
                  </a:cubicBezTo>
                  <a:lnTo>
                    <a:pt x="260473" y="2230777"/>
                  </a:lnTo>
                  <a:cubicBezTo>
                    <a:pt x="116665" y="2230588"/>
                    <a:pt x="0" y="1954479"/>
                    <a:pt x="0" y="1613785"/>
                  </a:cubicBezTo>
                  <a:close/>
                </a:path>
              </a:pathLst>
            </a:custGeom>
            <a:solidFill>
              <a:srgbClr val="FFFFFF"/>
            </a:solidFill>
            <a:ln w="19050" cap="sq">
              <a:solidFill>
                <a:srgbClr val="BACFDD"/>
              </a:solidFill>
              <a:prstDash val="solid"/>
              <a:miter/>
            </a:ln>
          </p:spPr>
        </p:sp>
      </p:grpSp>
      <p:sp>
        <p:nvSpPr>
          <p:cNvPr id="11" name="TextBox 11"/>
          <p:cNvSpPr txBox="1"/>
          <p:nvPr/>
        </p:nvSpPr>
        <p:spPr>
          <a:xfrm>
            <a:off x="1102219" y="7753482"/>
            <a:ext cx="1405086" cy="541249"/>
          </a:xfrm>
          <a:prstGeom prst="rect">
            <a:avLst/>
          </a:prstGeom>
        </p:spPr>
        <p:txBody>
          <a:bodyPr lIns="0" tIns="0" rIns="0" bIns="0" rtlCol="0" anchor="t">
            <a:spAutoFit/>
          </a:bodyPr>
          <a:lstStyle/>
          <a:p>
            <a:pPr algn="l">
              <a:lnSpc>
                <a:spcPts val="4243"/>
              </a:lnSpc>
            </a:pPr>
            <a:r>
              <a:rPr lang="en-US" sz="3399" b="1">
                <a:solidFill>
                  <a:srgbClr val="384653"/>
                </a:solidFill>
                <a:latin typeface="Barlow Bold"/>
                <a:ea typeface="Barlow Bold"/>
                <a:cs typeface="Barlow Bold"/>
                <a:sym typeface="Barlow Bold"/>
              </a:rPr>
              <a:t>Project</a:t>
            </a:r>
          </a:p>
        </p:txBody>
      </p:sp>
      <p:sp>
        <p:nvSpPr>
          <p:cNvPr id="12" name="TextBox 12"/>
          <p:cNvSpPr txBox="1"/>
          <p:nvPr/>
        </p:nvSpPr>
        <p:spPr>
          <a:xfrm>
            <a:off x="1102219" y="8320572"/>
            <a:ext cx="7205149" cy="885825"/>
          </a:xfrm>
          <a:prstGeom prst="rect">
            <a:avLst/>
          </a:prstGeom>
        </p:spPr>
        <p:txBody>
          <a:bodyPr lIns="0" tIns="0" rIns="0" bIns="0" rtlCol="0" anchor="t">
            <a:spAutoFit/>
          </a:bodyPr>
          <a:lstStyle/>
          <a:p>
            <a:pPr algn="l">
              <a:lnSpc>
                <a:spcPts val="3599"/>
              </a:lnSpc>
            </a:pPr>
            <a:r>
              <a:rPr lang="en-US" sz="2999">
                <a:solidFill>
                  <a:srgbClr val="384653"/>
                </a:solidFill>
                <a:latin typeface="Montserrat"/>
                <a:ea typeface="Montserrat"/>
                <a:cs typeface="Montserrat"/>
                <a:sym typeface="Montserrat"/>
              </a:rPr>
              <a:t>Quản lý thông tin dự án, thành viên và cấu hình</a:t>
            </a:r>
          </a:p>
        </p:txBody>
      </p:sp>
      <p:grpSp>
        <p:nvGrpSpPr>
          <p:cNvPr id="13" name="Group 13"/>
          <p:cNvGrpSpPr/>
          <p:nvPr/>
        </p:nvGrpSpPr>
        <p:grpSpPr>
          <a:xfrm>
            <a:off x="9168255" y="7676246"/>
            <a:ext cx="8181384" cy="1673026"/>
            <a:chOff x="0" y="0"/>
            <a:chExt cx="10908513" cy="2230701"/>
          </a:xfrm>
        </p:grpSpPr>
        <p:sp>
          <p:nvSpPr>
            <p:cNvPr id="14" name="Freeform 14"/>
            <p:cNvSpPr/>
            <p:nvPr/>
          </p:nvSpPr>
          <p:spPr>
            <a:xfrm>
              <a:off x="0" y="0"/>
              <a:ext cx="10908538" cy="2230777"/>
            </a:xfrm>
            <a:custGeom>
              <a:avLst/>
              <a:gdLst/>
              <a:ahLst/>
              <a:cxnLst/>
              <a:rect l="l" t="t" r="r" b="b"/>
              <a:pathLst>
                <a:path w="10908538" h="2230777">
                  <a:moveTo>
                    <a:pt x="0" y="617085"/>
                  </a:moveTo>
                  <a:cubicBezTo>
                    <a:pt x="0" y="276391"/>
                    <a:pt x="124460" y="0"/>
                    <a:pt x="277876" y="0"/>
                  </a:cubicBezTo>
                  <a:lnTo>
                    <a:pt x="10630662" y="0"/>
                  </a:lnTo>
                  <a:cubicBezTo>
                    <a:pt x="10784078" y="0"/>
                    <a:pt x="10908538" y="276391"/>
                    <a:pt x="10908538" y="617085"/>
                  </a:cubicBezTo>
                  <a:lnTo>
                    <a:pt x="10908538" y="1613785"/>
                  </a:lnTo>
                  <a:cubicBezTo>
                    <a:pt x="10908538" y="1954479"/>
                    <a:pt x="10784078" y="2230777"/>
                    <a:pt x="10630662" y="2230777"/>
                  </a:cubicBezTo>
                  <a:lnTo>
                    <a:pt x="277876" y="2230777"/>
                  </a:lnTo>
                  <a:cubicBezTo>
                    <a:pt x="124460" y="2230588"/>
                    <a:pt x="0" y="1954479"/>
                    <a:pt x="0" y="1613785"/>
                  </a:cubicBezTo>
                  <a:close/>
                </a:path>
              </a:pathLst>
            </a:custGeom>
            <a:solidFill>
              <a:srgbClr val="FFFFFF"/>
            </a:solidFill>
            <a:ln w="19050" cap="sq">
              <a:solidFill>
                <a:srgbClr val="BACFDD"/>
              </a:solidFill>
              <a:prstDash val="solid"/>
              <a:miter/>
            </a:ln>
          </p:spPr>
        </p:sp>
      </p:grpSp>
      <p:sp>
        <p:nvSpPr>
          <p:cNvPr id="15" name="TextBox 15"/>
          <p:cNvSpPr txBox="1"/>
          <p:nvPr/>
        </p:nvSpPr>
        <p:spPr>
          <a:xfrm>
            <a:off x="9332114" y="7753482"/>
            <a:ext cx="1801416" cy="541249"/>
          </a:xfrm>
          <a:prstGeom prst="rect">
            <a:avLst/>
          </a:prstGeom>
        </p:spPr>
        <p:txBody>
          <a:bodyPr lIns="0" tIns="0" rIns="0" bIns="0" rtlCol="0" anchor="t">
            <a:spAutoFit/>
          </a:bodyPr>
          <a:lstStyle/>
          <a:p>
            <a:pPr algn="l">
              <a:lnSpc>
                <a:spcPts val="4243"/>
              </a:lnSpc>
            </a:pPr>
            <a:r>
              <a:rPr lang="en-US" sz="3399" b="1">
                <a:solidFill>
                  <a:srgbClr val="384653"/>
                </a:solidFill>
                <a:latin typeface="Barlow Bold"/>
                <a:ea typeface="Barlow Bold"/>
                <a:cs typeface="Barlow Bold"/>
                <a:sym typeface="Barlow Bold"/>
              </a:rPr>
              <a:t>TaskItem</a:t>
            </a:r>
          </a:p>
        </p:txBody>
      </p:sp>
      <p:sp>
        <p:nvSpPr>
          <p:cNvPr id="16" name="TextBox 16"/>
          <p:cNvSpPr txBox="1"/>
          <p:nvPr/>
        </p:nvSpPr>
        <p:spPr>
          <a:xfrm>
            <a:off x="9332114" y="8320572"/>
            <a:ext cx="7927186" cy="885825"/>
          </a:xfrm>
          <a:prstGeom prst="rect">
            <a:avLst/>
          </a:prstGeom>
        </p:spPr>
        <p:txBody>
          <a:bodyPr lIns="0" tIns="0" rIns="0" bIns="0" rtlCol="0" anchor="t">
            <a:spAutoFit/>
          </a:bodyPr>
          <a:lstStyle/>
          <a:p>
            <a:pPr algn="l">
              <a:lnSpc>
                <a:spcPts val="3599"/>
              </a:lnSpc>
            </a:pPr>
            <a:r>
              <a:rPr lang="en-US" sz="2999">
                <a:solidFill>
                  <a:srgbClr val="384653"/>
                </a:solidFill>
                <a:latin typeface="Montserrat"/>
                <a:ea typeface="Montserrat"/>
                <a:cs typeface="Montserrat"/>
                <a:sym typeface="Montserrat"/>
              </a:rPr>
              <a:t>Đơn vị công việc với evidence, comment, dependency</a:t>
            </a:r>
          </a:p>
        </p:txBody>
      </p:sp>
      <p:sp>
        <p:nvSpPr>
          <p:cNvPr id="17" name="Freeform 17"/>
          <p:cNvSpPr/>
          <p:nvPr/>
        </p:nvSpPr>
        <p:spPr>
          <a:xfrm>
            <a:off x="15960535" y="584720"/>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4"/>
            <a:stretch>
              <a:fillRect/>
            </a:stretch>
          </a:blipFill>
        </p:spPr>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424956" y="2925973"/>
            <a:ext cx="10626755" cy="9613305"/>
            <a:chOff x="0" y="0"/>
            <a:chExt cx="14169006" cy="12817740"/>
          </a:xfrm>
        </p:grpSpPr>
        <p:sp>
          <p:nvSpPr>
            <p:cNvPr id="3" name="Freeform 3"/>
            <p:cNvSpPr/>
            <p:nvPr/>
          </p:nvSpPr>
          <p:spPr>
            <a:xfrm>
              <a:off x="3078247" y="1457512"/>
              <a:ext cx="11090760" cy="11360228"/>
            </a:xfrm>
            <a:custGeom>
              <a:avLst/>
              <a:gdLst/>
              <a:ahLst/>
              <a:cxnLst/>
              <a:rect l="l" t="t" r="r" b="b"/>
              <a:pathLst>
                <a:path w="11090760" h="11360228">
                  <a:moveTo>
                    <a:pt x="0" y="0"/>
                  </a:moveTo>
                  <a:lnTo>
                    <a:pt x="11090759" y="0"/>
                  </a:lnTo>
                  <a:lnTo>
                    <a:pt x="11090759" y="11360228"/>
                  </a:lnTo>
                  <a:lnTo>
                    <a:pt x="0" y="11360228"/>
                  </a:lnTo>
                  <a:lnTo>
                    <a:pt x="0" y="0"/>
                  </a:lnTo>
                  <a:close/>
                </a:path>
              </a:pathLst>
            </a:custGeom>
            <a:blipFill>
              <a:blip r:embed="rId3">
                <a:alphaModFix amt="54000"/>
              </a:blip>
              <a:stretch>
                <a:fillRect/>
              </a:stretch>
            </a:blipFill>
          </p:spPr>
        </p:sp>
        <p:sp>
          <p:nvSpPr>
            <p:cNvPr id="4" name="Freeform 4"/>
            <p:cNvSpPr/>
            <p:nvPr/>
          </p:nvSpPr>
          <p:spPr>
            <a:xfrm>
              <a:off x="0" y="0"/>
              <a:ext cx="11696177" cy="11980355"/>
            </a:xfrm>
            <a:custGeom>
              <a:avLst/>
              <a:gdLst/>
              <a:ahLst/>
              <a:cxnLst/>
              <a:rect l="l" t="t" r="r" b="b"/>
              <a:pathLst>
                <a:path w="11696177" h="11980355">
                  <a:moveTo>
                    <a:pt x="0" y="0"/>
                  </a:moveTo>
                  <a:lnTo>
                    <a:pt x="11696177" y="0"/>
                  </a:lnTo>
                  <a:lnTo>
                    <a:pt x="11696177" y="11980355"/>
                  </a:lnTo>
                  <a:lnTo>
                    <a:pt x="0" y="11980355"/>
                  </a:lnTo>
                  <a:lnTo>
                    <a:pt x="0" y="0"/>
                  </a:lnTo>
                  <a:close/>
                </a:path>
              </a:pathLst>
            </a:custGeom>
            <a:blipFill>
              <a:blip r:embed="rId4"/>
              <a:stretch>
                <a:fillRect/>
              </a:stretch>
            </a:blipFill>
          </p:spPr>
        </p:sp>
      </p:grpSp>
      <p:grpSp>
        <p:nvGrpSpPr>
          <p:cNvPr id="5" name="Group 5"/>
          <p:cNvGrpSpPr/>
          <p:nvPr/>
        </p:nvGrpSpPr>
        <p:grpSpPr>
          <a:xfrm>
            <a:off x="-424956" y="-384625"/>
            <a:ext cx="18829688" cy="10936268"/>
            <a:chOff x="0" y="0"/>
            <a:chExt cx="4959260" cy="2880334"/>
          </a:xfrm>
        </p:grpSpPr>
        <p:sp>
          <p:nvSpPr>
            <p:cNvPr id="6" name="Freeform 6"/>
            <p:cNvSpPr/>
            <p:nvPr/>
          </p:nvSpPr>
          <p:spPr>
            <a:xfrm>
              <a:off x="0" y="0"/>
              <a:ext cx="4959260" cy="2880334"/>
            </a:xfrm>
            <a:custGeom>
              <a:avLst/>
              <a:gdLst/>
              <a:ahLst/>
              <a:cxnLst/>
              <a:rect l="l" t="t" r="r" b="b"/>
              <a:pathLst>
                <a:path w="4959260" h="2880334">
                  <a:moveTo>
                    <a:pt x="0" y="0"/>
                  </a:moveTo>
                  <a:lnTo>
                    <a:pt x="4959260" y="0"/>
                  </a:lnTo>
                  <a:lnTo>
                    <a:pt x="4959260" y="2880334"/>
                  </a:lnTo>
                  <a:lnTo>
                    <a:pt x="0" y="2880334"/>
                  </a:lnTo>
                  <a:close/>
                </a:path>
              </a:pathLst>
            </a:custGeom>
            <a:gradFill rotWithShape="1">
              <a:gsLst>
                <a:gs pos="0">
                  <a:srgbClr val="EFFEFD">
                    <a:alpha val="0"/>
                  </a:srgbClr>
                </a:gs>
                <a:gs pos="100000">
                  <a:srgbClr val="F4FFFE">
                    <a:alpha val="100000"/>
                  </a:srgbClr>
                </a:gs>
              </a:gsLst>
              <a:lin ang="5400000"/>
            </a:gradFill>
          </p:spPr>
        </p:sp>
        <p:sp>
          <p:nvSpPr>
            <p:cNvPr id="7" name="TextBox 7"/>
            <p:cNvSpPr txBox="1"/>
            <p:nvPr/>
          </p:nvSpPr>
          <p:spPr>
            <a:xfrm>
              <a:off x="0" y="0"/>
              <a:ext cx="4959260" cy="2880334"/>
            </a:xfrm>
            <a:prstGeom prst="rect">
              <a:avLst/>
            </a:prstGeom>
          </p:spPr>
          <p:txBody>
            <a:bodyPr lIns="50800" tIns="50800" rIns="50800" bIns="50800" rtlCol="0" anchor="ctr"/>
            <a:lstStyle/>
            <a:p>
              <a:pPr algn="ctr">
                <a:lnSpc>
                  <a:spcPts val="2340"/>
                </a:lnSpc>
              </a:pPr>
              <a:endParaRPr/>
            </a:p>
          </p:txBody>
        </p:sp>
      </p:grpSp>
      <p:sp>
        <p:nvSpPr>
          <p:cNvPr id="8" name="TextBox 8"/>
          <p:cNvSpPr txBox="1"/>
          <p:nvPr/>
        </p:nvSpPr>
        <p:spPr>
          <a:xfrm>
            <a:off x="1023490" y="847791"/>
            <a:ext cx="15062299" cy="1192530"/>
          </a:xfrm>
          <a:prstGeom prst="rect">
            <a:avLst/>
          </a:prstGeom>
        </p:spPr>
        <p:txBody>
          <a:bodyPr lIns="0" tIns="0" rIns="0" bIns="0" rtlCol="0" anchor="t">
            <a:spAutoFit/>
          </a:bodyPr>
          <a:lstStyle/>
          <a:p>
            <a:pPr marL="0" lvl="0" indent="0" algn="l">
              <a:lnSpc>
                <a:spcPts val="9360"/>
              </a:lnSpc>
              <a:spcBef>
                <a:spcPct val="0"/>
              </a:spcBef>
            </a:pPr>
            <a:r>
              <a:rPr lang="en-US" sz="8000" b="1" u="none" strike="noStrike">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KẾT QUẢ, ƯU ĐIỂM &amp; HẠN CHẾ</a:t>
            </a:r>
          </a:p>
        </p:txBody>
      </p:sp>
      <p:grpSp>
        <p:nvGrpSpPr>
          <p:cNvPr id="9" name="Group 9"/>
          <p:cNvGrpSpPr/>
          <p:nvPr/>
        </p:nvGrpSpPr>
        <p:grpSpPr>
          <a:xfrm>
            <a:off x="845563" y="3387012"/>
            <a:ext cx="8255946" cy="3645989"/>
            <a:chOff x="0" y="0"/>
            <a:chExt cx="11007928" cy="4861319"/>
          </a:xfrm>
        </p:grpSpPr>
        <p:sp>
          <p:nvSpPr>
            <p:cNvPr id="10" name="Freeform 10"/>
            <p:cNvSpPr/>
            <p:nvPr/>
          </p:nvSpPr>
          <p:spPr>
            <a:xfrm>
              <a:off x="0" y="0"/>
              <a:ext cx="11007979" cy="4861306"/>
            </a:xfrm>
            <a:custGeom>
              <a:avLst/>
              <a:gdLst/>
              <a:ahLst/>
              <a:cxnLst/>
              <a:rect l="l" t="t" r="r" b="b"/>
              <a:pathLst>
                <a:path w="11007979" h="4861306">
                  <a:moveTo>
                    <a:pt x="0" y="866648"/>
                  </a:moveTo>
                  <a:cubicBezTo>
                    <a:pt x="0" y="387985"/>
                    <a:pt x="387985" y="0"/>
                    <a:pt x="866648" y="0"/>
                  </a:cubicBezTo>
                  <a:lnTo>
                    <a:pt x="10141331" y="0"/>
                  </a:lnTo>
                  <a:cubicBezTo>
                    <a:pt x="10619994" y="0"/>
                    <a:pt x="11007979" y="387985"/>
                    <a:pt x="11007979" y="866648"/>
                  </a:cubicBezTo>
                  <a:lnTo>
                    <a:pt x="11007979" y="3994658"/>
                  </a:lnTo>
                  <a:cubicBezTo>
                    <a:pt x="11007979" y="4473321"/>
                    <a:pt x="10619994" y="4861306"/>
                    <a:pt x="10141331" y="4861306"/>
                  </a:cubicBezTo>
                  <a:lnTo>
                    <a:pt x="866648" y="4861306"/>
                  </a:lnTo>
                  <a:cubicBezTo>
                    <a:pt x="387985" y="4861306"/>
                    <a:pt x="0" y="4473321"/>
                    <a:pt x="0" y="3994658"/>
                  </a:cubicBezTo>
                  <a:close/>
                </a:path>
              </a:pathLst>
            </a:custGeom>
            <a:solidFill>
              <a:srgbClr val="063E5F"/>
            </a:solidFill>
          </p:spPr>
        </p:sp>
      </p:grpSp>
      <p:sp>
        <p:nvSpPr>
          <p:cNvPr id="11" name="TextBox 11"/>
          <p:cNvSpPr txBox="1"/>
          <p:nvPr/>
        </p:nvSpPr>
        <p:spPr>
          <a:xfrm>
            <a:off x="1116282" y="3648206"/>
            <a:ext cx="7714507" cy="473869"/>
          </a:xfrm>
          <a:prstGeom prst="rect">
            <a:avLst/>
          </a:prstGeom>
        </p:spPr>
        <p:txBody>
          <a:bodyPr lIns="0" tIns="0" rIns="0" bIns="0" rtlCol="0" anchor="t">
            <a:spAutoFit/>
          </a:bodyPr>
          <a:lstStyle/>
          <a:p>
            <a:pPr algn="l">
              <a:lnSpc>
                <a:spcPts val="3494"/>
              </a:lnSpc>
            </a:pPr>
            <a:r>
              <a:rPr lang="en-US" sz="2799" b="1">
                <a:solidFill>
                  <a:srgbClr val="000000"/>
                </a:solidFill>
                <a:latin typeface="Barlow Bold"/>
                <a:ea typeface="Barlow Bold"/>
                <a:cs typeface="Barlow Bold"/>
                <a:sym typeface="Barlow Bold"/>
              </a:rPr>
              <a:t>✅</a:t>
            </a:r>
            <a:r>
              <a:rPr lang="en-US" sz="2799" b="1">
                <a:solidFill>
                  <a:srgbClr val="FFFFFF"/>
                </a:solidFill>
                <a:latin typeface="Barlow Bold"/>
                <a:ea typeface="Barlow Bold"/>
                <a:cs typeface="Barlow Bold"/>
                <a:sym typeface="Barlow Bold"/>
              </a:rPr>
              <a:t> Ưu điểm</a:t>
            </a:r>
          </a:p>
        </p:txBody>
      </p:sp>
      <p:sp>
        <p:nvSpPr>
          <p:cNvPr id="12" name="TextBox 12"/>
          <p:cNvSpPr txBox="1"/>
          <p:nvPr/>
        </p:nvSpPr>
        <p:spPr>
          <a:xfrm>
            <a:off x="1116282" y="4316594"/>
            <a:ext cx="7714507" cy="2621756"/>
          </a:xfrm>
          <a:prstGeom prst="rect">
            <a:avLst/>
          </a:prstGeom>
        </p:spPr>
        <p:txBody>
          <a:bodyPr lIns="0" tIns="0" rIns="0" bIns="0" rtlCol="0" anchor="t">
            <a:spAutoFit/>
          </a:bodyPr>
          <a:lstStyle/>
          <a:p>
            <a:pPr marL="506730" lvl="1" indent="-253365" algn="l">
              <a:lnSpc>
                <a:spcPts val="3351"/>
              </a:lnSpc>
              <a:buFont typeface="Arial"/>
              <a:buChar char="•"/>
            </a:pPr>
            <a:r>
              <a:rPr lang="en-US" sz="2100">
                <a:solidFill>
                  <a:srgbClr val="FFFFFF"/>
                </a:solidFill>
                <a:latin typeface="Montserrat"/>
                <a:ea typeface="Montserrat"/>
                <a:cs typeface="Montserrat"/>
                <a:sym typeface="Montserrat"/>
              </a:rPr>
              <a:t>Phạm vi nghiệp vụ rộng, vượt CRUD cơ bản</a:t>
            </a:r>
          </a:p>
          <a:p>
            <a:pPr marL="506730" lvl="1" indent="-253365" algn="l">
              <a:lnSpc>
                <a:spcPts val="3351"/>
              </a:lnSpc>
              <a:buFont typeface="Arial"/>
              <a:buChar char="•"/>
            </a:pPr>
            <a:r>
              <a:rPr lang="en-US" sz="2100">
                <a:solidFill>
                  <a:srgbClr val="FFFFFF"/>
                </a:solidFill>
                <a:latin typeface="Montserrat"/>
                <a:ea typeface="Montserrat"/>
                <a:cs typeface="Montserrat"/>
                <a:sym typeface="Montserrat"/>
              </a:rPr>
              <a:t>Phân quyền đa cấp &amp; Audit Log đầy đủ</a:t>
            </a:r>
          </a:p>
          <a:p>
            <a:pPr marL="506730" lvl="1" indent="-253365" algn="l">
              <a:lnSpc>
                <a:spcPts val="3351"/>
              </a:lnSpc>
              <a:buFont typeface="Arial"/>
              <a:buChar char="•"/>
            </a:pPr>
            <a:r>
              <a:rPr lang="en-US" sz="2100">
                <a:solidFill>
                  <a:srgbClr val="FFFFFF"/>
                </a:solidFill>
                <a:latin typeface="Montserrat"/>
                <a:ea typeface="Montserrat"/>
                <a:cs typeface="Montserrat"/>
                <a:sym typeface="Montserrat"/>
              </a:rPr>
              <a:t>Unit / Integration / E2E Testing</a:t>
            </a:r>
          </a:p>
          <a:p>
            <a:pPr marL="506730" lvl="1" indent="-253365" algn="l">
              <a:lnSpc>
                <a:spcPts val="3351"/>
              </a:lnSpc>
              <a:buFont typeface="Arial"/>
              <a:buChar char="•"/>
            </a:pPr>
            <a:r>
              <a:rPr lang="en-US" sz="2100">
                <a:solidFill>
                  <a:srgbClr val="FFFFFF"/>
                </a:solidFill>
                <a:latin typeface="Montserrat"/>
                <a:ea typeface="Montserrat"/>
                <a:cs typeface="Montserrat"/>
                <a:sym typeface="Montserrat"/>
              </a:rPr>
              <a:t>Docker + CI/CD hoàn chỉnh</a:t>
            </a:r>
          </a:p>
          <a:p>
            <a:pPr marL="506730" lvl="1" indent="-253365" algn="l">
              <a:lnSpc>
                <a:spcPts val="3351"/>
              </a:lnSpc>
              <a:buFont typeface="Arial"/>
              <a:buChar char="•"/>
            </a:pPr>
            <a:r>
              <a:rPr lang="en-US" sz="2100">
                <a:solidFill>
                  <a:srgbClr val="FFFFFF"/>
                </a:solidFill>
                <a:latin typeface="Montserrat"/>
                <a:ea typeface="Montserrat"/>
                <a:cs typeface="Montserrat"/>
                <a:sym typeface="Montserrat"/>
              </a:rPr>
              <a:t>Realtime + AI + Integration hiện đại</a:t>
            </a:r>
          </a:p>
        </p:txBody>
      </p:sp>
      <p:sp>
        <p:nvSpPr>
          <p:cNvPr id="13" name="TextBox 13"/>
          <p:cNvSpPr txBox="1"/>
          <p:nvPr/>
        </p:nvSpPr>
        <p:spPr>
          <a:xfrm>
            <a:off x="9576721" y="3648206"/>
            <a:ext cx="7865716" cy="473869"/>
          </a:xfrm>
          <a:prstGeom prst="rect">
            <a:avLst/>
          </a:prstGeom>
        </p:spPr>
        <p:txBody>
          <a:bodyPr lIns="0" tIns="0" rIns="0" bIns="0" rtlCol="0" anchor="t">
            <a:spAutoFit/>
          </a:bodyPr>
          <a:lstStyle/>
          <a:p>
            <a:pPr algn="l">
              <a:lnSpc>
                <a:spcPts val="3494"/>
              </a:lnSpc>
            </a:pPr>
            <a:r>
              <a:rPr lang="en-US" sz="2799" b="1">
                <a:solidFill>
                  <a:srgbClr val="000000"/>
                </a:solidFill>
                <a:latin typeface="Barlow Bold"/>
                <a:ea typeface="Barlow Bold"/>
                <a:cs typeface="Barlow Bold"/>
                <a:sym typeface="Barlow Bold"/>
              </a:rPr>
              <a:t>⚠️</a:t>
            </a:r>
            <a:r>
              <a:rPr lang="en-US" sz="2799" b="1">
                <a:solidFill>
                  <a:srgbClr val="2E3C4E"/>
                </a:solidFill>
                <a:latin typeface="Barlow Bold"/>
                <a:ea typeface="Barlow Bold"/>
                <a:cs typeface="Barlow Bold"/>
                <a:sym typeface="Barlow Bold"/>
              </a:rPr>
              <a:t> Hạn chế cần cải thiện</a:t>
            </a:r>
          </a:p>
        </p:txBody>
      </p:sp>
      <p:sp>
        <p:nvSpPr>
          <p:cNvPr id="14" name="TextBox 14"/>
          <p:cNvSpPr txBox="1"/>
          <p:nvPr/>
        </p:nvSpPr>
        <p:spPr>
          <a:xfrm>
            <a:off x="9576721" y="4316594"/>
            <a:ext cx="7865716" cy="1227887"/>
          </a:xfrm>
          <a:prstGeom prst="rect">
            <a:avLst/>
          </a:prstGeom>
        </p:spPr>
        <p:txBody>
          <a:bodyPr lIns="0" tIns="0" rIns="0" bIns="0" rtlCol="0" anchor="t">
            <a:spAutoFit/>
          </a:bodyPr>
          <a:lstStyle/>
          <a:p>
            <a:pPr marL="506730" lvl="1" indent="-253365" algn="l">
              <a:lnSpc>
                <a:spcPts val="3351"/>
              </a:lnSpc>
              <a:buFont typeface="Arial"/>
              <a:buChar char="•"/>
            </a:pPr>
            <a:r>
              <a:rPr lang="en-US" sz="2100" b="1">
                <a:solidFill>
                  <a:srgbClr val="384653"/>
                </a:solidFill>
                <a:latin typeface="Montserrat Bold"/>
                <a:ea typeface="Montserrat Bold"/>
                <a:cs typeface="Montserrat Bold"/>
                <a:sym typeface="Montserrat Bold"/>
              </a:rPr>
              <a:t>CSRF / Rate Limiting chưa đầy đủ</a:t>
            </a:r>
          </a:p>
          <a:p>
            <a:pPr marL="506730" lvl="1" indent="-253365" algn="l">
              <a:lnSpc>
                <a:spcPts val="3351"/>
              </a:lnSpc>
              <a:buFont typeface="Arial"/>
              <a:buChar char="•"/>
            </a:pPr>
            <a:r>
              <a:rPr lang="en-US" sz="2100" b="1">
                <a:solidFill>
                  <a:srgbClr val="384653"/>
                </a:solidFill>
                <a:latin typeface="Montserrat Bold"/>
                <a:ea typeface="Montserrat Bold"/>
                <a:cs typeface="Montserrat Bold"/>
                <a:sym typeface="Montserrat Bold"/>
              </a:rPr>
              <a:t>Local Storage khó scale multi-server</a:t>
            </a:r>
          </a:p>
          <a:p>
            <a:pPr marL="506730" lvl="1" indent="-253365" algn="l">
              <a:lnSpc>
                <a:spcPts val="3351"/>
              </a:lnSpc>
              <a:buFont typeface="Arial"/>
              <a:buChar char="•"/>
            </a:pPr>
            <a:r>
              <a:rPr lang="en-US" sz="2100" b="1">
                <a:solidFill>
                  <a:srgbClr val="384653"/>
                </a:solidFill>
                <a:latin typeface="Montserrat Bold"/>
                <a:ea typeface="Montserrat Bold"/>
                <a:cs typeface="Montserrat Bold"/>
                <a:sym typeface="Montserrat Bold"/>
              </a:rPr>
              <a:t>Chưa có benchmark / SLA / production target</a:t>
            </a:r>
          </a:p>
        </p:txBody>
      </p:sp>
      <p:grpSp>
        <p:nvGrpSpPr>
          <p:cNvPr id="15" name="Group 15"/>
          <p:cNvGrpSpPr/>
          <p:nvPr/>
        </p:nvGrpSpPr>
        <p:grpSpPr>
          <a:xfrm>
            <a:off x="1040682" y="7337658"/>
            <a:ext cx="16392230" cy="990739"/>
            <a:chOff x="0" y="0"/>
            <a:chExt cx="21856306" cy="1320985"/>
          </a:xfrm>
        </p:grpSpPr>
        <p:sp>
          <p:nvSpPr>
            <p:cNvPr id="16" name="Freeform 16"/>
            <p:cNvSpPr/>
            <p:nvPr/>
          </p:nvSpPr>
          <p:spPr>
            <a:xfrm>
              <a:off x="0" y="0"/>
              <a:ext cx="21856319" cy="1321023"/>
            </a:xfrm>
            <a:custGeom>
              <a:avLst/>
              <a:gdLst/>
              <a:ahLst/>
              <a:cxnLst/>
              <a:rect l="l" t="t" r="r" b="b"/>
              <a:pathLst>
                <a:path w="21856319" h="1321023">
                  <a:moveTo>
                    <a:pt x="0" y="353924"/>
                  </a:moveTo>
                  <a:cubicBezTo>
                    <a:pt x="0" y="158415"/>
                    <a:pt x="242443" y="0"/>
                    <a:pt x="541655" y="0"/>
                  </a:cubicBezTo>
                  <a:lnTo>
                    <a:pt x="21314663" y="0"/>
                  </a:lnTo>
                  <a:cubicBezTo>
                    <a:pt x="21613749" y="0"/>
                    <a:pt x="21856319" y="158415"/>
                    <a:pt x="21856319" y="353924"/>
                  </a:cubicBezTo>
                  <a:lnTo>
                    <a:pt x="21856319" y="967087"/>
                  </a:lnTo>
                  <a:cubicBezTo>
                    <a:pt x="21856319" y="1162512"/>
                    <a:pt x="21613876" y="1321023"/>
                    <a:pt x="21314663" y="1321023"/>
                  </a:cubicBezTo>
                  <a:lnTo>
                    <a:pt x="541655" y="1321023"/>
                  </a:lnTo>
                  <a:cubicBezTo>
                    <a:pt x="242443" y="1321023"/>
                    <a:pt x="0" y="1162512"/>
                    <a:pt x="0" y="967087"/>
                  </a:cubicBezTo>
                  <a:close/>
                </a:path>
              </a:pathLst>
            </a:custGeom>
            <a:solidFill>
              <a:srgbClr val="D4E9F7"/>
            </a:solidFill>
          </p:spPr>
        </p:sp>
      </p:grpSp>
      <p:grpSp>
        <p:nvGrpSpPr>
          <p:cNvPr id="17" name="Group 17"/>
          <p:cNvGrpSpPr/>
          <p:nvPr/>
        </p:nvGrpSpPr>
        <p:grpSpPr>
          <a:xfrm>
            <a:off x="1228125" y="7697667"/>
            <a:ext cx="338433" cy="270720"/>
            <a:chOff x="0" y="0"/>
            <a:chExt cx="451244" cy="360959"/>
          </a:xfrm>
        </p:grpSpPr>
        <p:sp>
          <p:nvSpPr>
            <p:cNvPr id="18" name="Freeform 18" descr="preencoded.png"/>
            <p:cNvSpPr/>
            <p:nvPr/>
          </p:nvSpPr>
          <p:spPr>
            <a:xfrm>
              <a:off x="0" y="0"/>
              <a:ext cx="451231" cy="360934"/>
            </a:xfrm>
            <a:custGeom>
              <a:avLst/>
              <a:gdLst/>
              <a:ahLst/>
              <a:cxnLst/>
              <a:rect l="l" t="t" r="r" b="b"/>
              <a:pathLst>
                <a:path w="451231" h="360934">
                  <a:moveTo>
                    <a:pt x="0" y="0"/>
                  </a:moveTo>
                  <a:lnTo>
                    <a:pt x="451231" y="0"/>
                  </a:lnTo>
                  <a:lnTo>
                    <a:pt x="451231" y="360934"/>
                  </a:lnTo>
                  <a:lnTo>
                    <a:pt x="0" y="360934"/>
                  </a:lnTo>
                  <a:lnTo>
                    <a:pt x="0" y="0"/>
                  </a:lnTo>
                  <a:close/>
                </a:path>
              </a:pathLst>
            </a:custGeom>
            <a:blipFill>
              <a:blip r:embed="rId5"/>
              <a:stretch>
                <a:fillRect t="-351" r="-2" b="-358"/>
              </a:stretch>
            </a:blipFill>
          </p:spPr>
        </p:sp>
      </p:grpSp>
      <p:sp>
        <p:nvSpPr>
          <p:cNvPr id="19" name="TextBox 19"/>
          <p:cNvSpPr txBox="1"/>
          <p:nvPr/>
        </p:nvSpPr>
        <p:spPr>
          <a:xfrm>
            <a:off x="1920554" y="7599748"/>
            <a:ext cx="15241638" cy="389687"/>
          </a:xfrm>
          <a:prstGeom prst="rect">
            <a:avLst/>
          </a:prstGeom>
        </p:spPr>
        <p:txBody>
          <a:bodyPr lIns="0" tIns="0" rIns="0" bIns="0" rtlCol="0" anchor="t">
            <a:spAutoFit/>
          </a:bodyPr>
          <a:lstStyle/>
          <a:p>
            <a:pPr algn="l">
              <a:lnSpc>
                <a:spcPts val="3351"/>
              </a:lnSpc>
            </a:pPr>
            <a:r>
              <a:rPr lang="en-US" sz="2100" b="1">
                <a:solidFill>
                  <a:srgbClr val="000000"/>
                </a:solidFill>
                <a:latin typeface="Montserrat Bold"/>
                <a:ea typeface="Montserrat Bold"/>
                <a:cs typeface="Montserrat Bold"/>
                <a:sym typeface="Montserrat Bold"/>
              </a:rPr>
              <a:t>Hướng phát triển:</a:t>
            </a:r>
            <a:r>
              <a:rPr lang="en-US" sz="2100">
                <a:solidFill>
                  <a:srgbClr val="000000"/>
                </a:solidFill>
                <a:latin typeface="Montserrat"/>
                <a:ea typeface="Montserrat"/>
                <a:cs typeface="Montserrat"/>
                <a:sym typeface="Montserrat"/>
              </a:rPr>
              <a:t> Hoàn thiện bảo mật, tối ưu hiệu năng và xây dựng bộ benchmark cho môi trường production.</a:t>
            </a:r>
          </a:p>
        </p:txBody>
      </p:sp>
      <p:sp>
        <p:nvSpPr>
          <p:cNvPr id="20" name="Freeform 20"/>
          <p:cNvSpPr/>
          <p:nvPr/>
        </p:nvSpPr>
        <p:spPr>
          <a:xfrm>
            <a:off x="16085789" y="9280897"/>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6"/>
            <a:stretch>
              <a:fillRect/>
            </a:stretch>
          </a:blipFill>
        </p:spPr>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028700" y="2404015"/>
            <a:ext cx="7608833" cy="6390333"/>
            <a:chOff x="0" y="0"/>
            <a:chExt cx="2136640" cy="1794472"/>
          </a:xfrm>
        </p:grpSpPr>
        <p:sp>
          <p:nvSpPr>
            <p:cNvPr id="3" name="Freeform 3"/>
            <p:cNvSpPr/>
            <p:nvPr/>
          </p:nvSpPr>
          <p:spPr>
            <a:xfrm>
              <a:off x="0" y="0"/>
              <a:ext cx="2136640" cy="1794472"/>
            </a:xfrm>
            <a:custGeom>
              <a:avLst/>
              <a:gdLst/>
              <a:ahLst/>
              <a:cxnLst/>
              <a:rect l="l" t="t" r="r" b="b"/>
              <a:pathLst>
                <a:path w="2136640" h="1794472">
                  <a:moveTo>
                    <a:pt x="32560" y="0"/>
                  </a:moveTo>
                  <a:lnTo>
                    <a:pt x="2104080" y="0"/>
                  </a:lnTo>
                  <a:cubicBezTo>
                    <a:pt x="2112715" y="0"/>
                    <a:pt x="2120997" y="3430"/>
                    <a:pt x="2127103" y="9537"/>
                  </a:cubicBezTo>
                  <a:cubicBezTo>
                    <a:pt x="2133209" y="15643"/>
                    <a:pt x="2136640" y="23924"/>
                    <a:pt x="2136640" y="32560"/>
                  </a:cubicBezTo>
                  <a:lnTo>
                    <a:pt x="2136640" y="1761913"/>
                  </a:lnTo>
                  <a:cubicBezTo>
                    <a:pt x="2136640" y="1770548"/>
                    <a:pt x="2133209" y="1778830"/>
                    <a:pt x="2127103" y="1784936"/>
                  </a:cubicBezTo>
                  <a:cubicBezTo>
                    <a:pt x="2120997" y="1791042"/>
                    <a:pt x="2112715" y="1794472"/>
                    <a:pt x="2104080" y="1794472"/>
                  </a:cubicBezTo>
                  <a:lnTo>
                    <a:pt x="32560" y="1794472"/>
                  </a:lnTo>
                  <a:cubicBezTo>
                    <a:pt x="23924" y="1794472"/>
                    <a:pt x="15643" y="1791042"/>
                    <a:pt x="9537" y="1784936"/>
                  </a:cubicBezTo>
                  <a:cubicBezTo>
                    <a:pt x="3430" y="1778830"/>
                    <a:pt x="0" y="1770548"/>
                    <a:pt x="0" y="1761913"/>
                  </a:cubicBezTo>
                  <a:lnTo>
                    <a:pt x="0" y="32560"/>
                  </a:lnTo>
                  <a:cubicBezTo>
                    <a:pt x="0" y="23924"/>
                    <a:pt x="3430" y="15643"/>
                    <a:pt x="9537" y="9537"/>
                  </a:cubicBezTo>
                  <a:cubicBezTo>
                    <a:pt x="15643" y="3430"/>
                    <a:pt x="23924" y="0"/>
                    <a:pt x="32560" y="0"/>
                  </a:cubicBezTo>
                  <a:close/>
                </a:path>
              </a:pathLst>
            </a:custGeom>
            <a:solidFill>
              <a:srgbClr val="FFFFFF"/>
            </a:solidFill>
          </p:spPr>
        </p:sp>
        <p:sp>
          <p:nvSpPr>
            <p:cNvPr id="4" name="TextBox 4"/>
            <p:cNvSpPr txBox="1"/>
            <p:nvPr/>
          </p:nvSpPr>
          <p:spPr>
            <a:xfrm>
              <a:off x="0" y="0"/>
              <a:ext cx="2136640" cy="1794472"/>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5" name="AutoShape 5"/>
          <p:cNvSpPr/>
          <p:nvPr/>
        </p:nvSpPr>
        <p:spPr>
          <a:xfrm>
            <a:off x="1399402" y="5790193"/>
            <a:ext cx="6867429" cy="0"/>
          </a:xfrm>
          <a:prstGeom prst="line">
            <a:avLst/>
          </a:prstGeom>
          <a:ln w="28575" cap="rnd">
            <a:solidFill>
              <a:srgbClr val="BFE2FF"/>
            </a:solidFill>
            <a:prstDash val="sysDash"/>
            <a:headEnd type="none" w="sm" len="sm"/>
            <a:tailEnd type="none" w="sm" len="sm"/>
          </a:ln>
        </p:spPr>
      </p:sp>
      <p:sp>
        <p:nvSpPr>
          <p:cNvPr id="6" name="Freeform 6"/>
          <p:cNvSpPr/>
          <p:nvPr/>
        </p:nvSpPr>
        <p:spPr>
          <a:xfrm>
            <a:off x="8872940" y="4540973"/>
            <a:ext cx="8386360" cy="4717327"/>
          </a:xfrm>
          <a:custGeom>
            <a:avLst/>
            <a:gdLst/>
            <a:ahLst/>
            <a:cxnLst/>
            <a:rect l="l" t="t" r="r" b="b"/>
            <a:pathLst>
              <a:path w="8386360" h="4717327">
                <a:moveTo>
                  <a:pt x="0" y="0"/>
                </a:moveTo>
                <a:lnTo>
                  <a:pt x="8386360" y="0"/>
                </a:lnTo>
                <a:lnTo>
                  <a:pt x="8386360" y="4717327"/>
                </a:lnTo>
                <a:lnTo>
                  <a:pt x="0" y="4717327"/>
                </a:lnTo>
                <a:lnTo>
                  <a:pt x="0" y="0"/>
                </a:lnTo>
                <a:close/>
              </a:path>
            </a:pathLst>
          </a:custGeom>
          <a:blipFill>
            <a:blip r:embed="rId3"/>
            <a:stretch>
              <a:fillRect/>
            </a:stretch>
          </a:blipFill>
        </p:spPr>
      </p:sp>
      <p:sp>
        <p:nvSpPr>
          <p:cNvPr id="7" name="TextBox 7"/>
          <p:cNvSpPr txBox="1"/>
          <p:nvPr/>
        </p:nvSpPr>
        <p:spPr>
          <a:xfrm>
            <a:off x="1028700" y="1047750"/>
            <a:ext cx="9607599" cy="1192530"/>
          </a:xfrm>
          <a:prstGeom prst="rect">
            <a:avLst/>
          </a:prstGeom>
        </p:spPr>
        <p:txBody>
          <a:bodyPr lIns="0" tIns="0" rIns="0" bIns="0" rtlCol="0" anchor="t">
            <a:spAutoFit/>
          </a:bodyPr>
          <a:lstStyle/>
          <a:p>
            <a:pPr algn="l">
              <a:lnSpc>
                <a:spcPts val="9360"/>
              </a:lnSpc>
            </a:pPr>
            <a:r>
              <a:rPr lang="en-US" sz="8000" b="1">
                <a:gradFill>
                  <a:gsLst>
                    <a:gs pos="0">
                      <a:srgbClr val="0565EF">
                        <a:alpha val="100000"/>
                      </a:srgbClr>
                    </a:gs>
                    <a:gs pos="100000">
                      <a:srgbClr val="50B2FF">
                        <a:alpha val="100000"/>
                      </a:srgbClr>
                    </a:gs>
                  </a:gsLst>
                  <a:path path="circle">
                    <a:fillToRect r="100000" b="100000"/>
                  </a:path>
                  <a:tileRect l="-100000" t="-100000"/>
                </a:gradFill>
                <a:latin typeface="Proxima Nova Heavy"/>
                <a:ea typeface="Proxima Nova Heavy"/>
                <a:cs typeface="Proxima Nova Heavy"/>
                <a:sym typeface="Proxima Nova Heavy"/>
              </a:rPr>
              <a:t> KẾT LUẬN</a:t>
            </a:r>
          </a:p>
        </p:txBody>
      </p:sp>
      <p:grpSp>
        <p:nvGrpSpPr>
          <p:cNvPr id="8" name="Group 8"/>
          <p:cNvGrpSpPr/>
          <p:nvPr/>
        </p:nvGrpSpPr>
        <p:grpSpPr>
          <a:xfrm>
            <a:off x="8872940" y="1028700"/>
            <a:ext cx="8386360" cy="3289781"/>
            <a:chOff x="0" y="0"/>
            <a:chExt cx="2354978" cy="923805"/>
          </a:xfrm>
        </p:grpSpPr>
        <p:sp>
          <p:nvSpPr>
            <p:cNvPr id="9" name="Freeform 9"/>
            <p:cNvSpPr/>
            <p:nvPr/>
          </p:nvSpPr>
          <p:spPr>
            <a:xfrm>
              <a:off x="0" y="0"/>
              <a:ext cx="2354978" cy="923805"/>
            </a:xfrm>
            <a:custGeom>
              <a:avLst/>
              <a:gdLst/>
              <a:ahLst/>
              <a:cxnLst/>
              <a:rect l="l" t="t" r="r" b="b"/>
              <a:pathLst>
                <a:path w="2354978" h="923805">
                  <a:moveTo>
                    <a:pt x="29541" y="0"/>
                  </a:moveTo>
                  <a:lnTo>
                    <a:pt x="2325437" y="0"/>
                  </a:lnTo>
                  <a:cubicBezTo>
                    <a:pt x="2341752" y="0"/>
                    <a:pt x="2354978" y="13226"/>
                    <a:pt x="2354978" y="29541"/>
                  </a:cubicBezTo>
                  <a:lnTo>
                    <a:pt x="2354978" y="894264"/>
                  </a:lnTo>
                  <a:cubicBezTo>
                    <a:pt x="2354978" y="910579"/>
                    <a:pt x="2341752" y="923805"/>
                    <a:pt x="2325437" y="923805"/>
                  </a:cubicBezTo>
                  <a:lnTo>
                    <a:pt x="29541" y="923805"/>
                  </a:lnTo>
                  <a:cubicBezTo>
                    <a:pt x="13226" y="923805"/>
                    <a:pt x="0" y="910579"/>
                    <a:pt x="0" y="894264"/>
                  </a:cubicBezTo>
                  <a:lnTo>
                    <a:pt x="0" y="29541"/>
                  </a:lnTo>
                  <a:cubicBezTo>
                    <a:pt x="0" y="13226"/>
                    <a:pt x="13226" y="0"/>
                    <a:pt x="29541" y="0"/>
                  </a:cubicBezTo>
                  <a:close/>
                </a:path>
              </a:pathLst>
            </a:custGeom>
            <a:solidFill>
              <a:srgbClr val="FFFFFF"/>
            </a:solidFill>
          </p:spPr>
        </p:sp>
        <p:sp>
          <p:nvSpPr>
            <p:cNvPr id="10" name="TextBox 10"/>
            <p:cNvSpPr txBox="1"/>
            <p:nvPr/>
          </p:nvSpPr>
          <p:spPr>
            <a:xfrm>
              <a:off x="0" y="0"/>
              <a:ext cx="2354978" cy="923805"/>
            </a:xfrm>
            <a:prstGeom prst="rect">
              <a:avLst/>
            </a:prstGeom>
          </p:spPr>
          <p:txBody>
            <a:bodyPr lIns="50800" tIns="50800" rIns="50800" bIns="50800" rtlCol="0" anchor="ctr"/>
            <a:lstStyle/>
            <a:p>
              <a:pPr marL="0" lvl="0" indent="0" algn="ctr">
                <a:lnSpc>
                  <a:spcPts val="2340"/>
                </a:lnSpc>
                <a:spcBef>
                  <a:spcPct val="0"/>
                </a:spcBef>
              </a:pPr>
              <a:endParaRPr/>
            </a:p>
          </p:txBody>
        </p:sp>
      </p:grpSp>
      <p:sp>
        <p:nvSpPr>
          <p:cNvPr id="11" name="TextBox 11"/>
          <p:cNvSpPr txBox="1"/>
          <p:nvPr/>
        </p:nvSpPr>
        <p:spPr>
          <a:xfrm>
            <a:off x="2517156" y="6223581"/>
            <a:ext cx="5749675" cy="2103140"/>
          </a:xfrm>
          <a:prstGeom prst="rect">
            <a:avLst/>
          </a:prstGeom>
        </p:spPr>
        <p:txBody>
          <a:bodyPr wrap="square" lIns="0" tIns="0" rIns="0" bIns="0" rtlCol="0" anchor="t">
            <a:spAutoFit/>
          </a:bodyPr>
          <a:lstStyle/>
          <a:p>
            <a:pPr algn="ctr">
              <a:lnSpc>
                <a:spcPts val="16425"/>
              </a:lnSpc>
            </a:pPr>
            <a:r>
              <a:rPr lang="en-US" sz="14038" b="1" dirty="0">
                <a:solidFill>
                  <a:srgbClr val="0565EF"/>
                </a:solidFill>
                <a:latin typeface="Proxima Nova Heavy"/>
                <a:ea typeface="Proxima Nova Heavy"/>
                <a:cs typeface="Proxima Nova Heavy"/>
                <a:sym typeface="Proxima Nova Heavy"/>
              </a:rPr>
              <a:t>QALY</a:t>
            </a:r>
          </a:p>
        </p:txBody>
      </p:sp>
      <p:sp>
        <p:nvSpPr>
          <p:cNvPr id="12" name="TextBox 12"/>
          <p:cNvSpPr txBox="1"/>
          <p:nvPr/>
        </p:nvSpPr>
        <p:spPr>
          <a:xfrm>
            <a:off x="2597463" y="2794361"/>
            <a:ext cx="4551614" cy="2600544"/>
          </a:xfrm>
          <a:prstGeom prst="rect">
            <a:avLst/>
          </a:prstGeom>
        </p:spPr>
        <p:txBody>
          <a:bodyPr lIns="0" tIns="0" rIns="0" bIns="0" rtlCol="0" anchor="t">
            <a:spAutoFit/>
          </a:bodyPr>
          <a:lstStyle/>
          <a:p>
            <a:pPr algn="l">
              <a:lnSpc>
                <a:spcPts val="2992"/>
              </a:lnSpc>
            </a:pPr>
            <a:r>
              <a:rPr lang="en-US" sz="2557" b="1" i="1">
                <a:solidFill>
                  <a:srgbClr val="4E5454"/>
                </a:solidFill>
                <a:latin typeface="Proxima Nova Bold Italics"/>
                <a:ea typeface="Proxima Nova Bold Italics"/>
                <a:cs typeface="Proxima Nova Bold Italics"/>
                <a:sym typeface="Proxima Nova Bold Italics"/>
              </a:rPr>
              <a:t>Quản lý dự án</a:t>
            </a:r>
          </a:p>
          <a:p>
            <a:pPr algn="l">
              <a:lnSpc>
                <a:spcPts val="2992"/>
              </a:lnSpc>
            </a:pPr>
            <a:r>
              <a:rPr lang="en-US" sz="2557" b="1" i="1">
                <a:solidFill>
                  <a:srgbClr val="4E5454"/>
                </a:solidFill>
                <a:latin typeface="Proxima Nova Bold Italics"/>
                <a:ea typeface="Proxima Nova Bold Italics"/>
                <a:cs typeface="Proxima Nova Bold Italics"/>
                <a:sym typeface="Proxima Nova Bold Italics"/>
              </a:rPr>
              <a:t>+</a:t>
            </a:r>
          </a:p>
          <a:p>
            <a:pPr algn="l">
              <a:lnSpc>
                <a:spcPts val="2992"/>
              </a:lnSpc>
            </a:pPr>
            <a:r>
              <a:rPr lang="en-US" sz="2557" b="1" i="1">
                <a:solidFill>
                  <a:srgbClr val="4E5454"/>
                </a:solidFill>
                <a:latin typeface="Proxima Nova Bold Italics"/>
                <a:ea typeface="Proxima Nova Bold Italics"/>
                <a:cs typeface="Proxima Nova Bold Italics"/>
                <a:sym typeface="Proxima Nova Bold Italics"/>
              </a:rPr>
              <a:t>Cộng tác nhóm</a:t>
            </a:r>
          </a:p>
          <a:p>
            <a:pPr algn="l">
              <a:lnSpc>
                <a:spcPts val="2992"/>
              </a:lnSpc>
            </a:pPr>
            <a:r>
              <a:rPr lang="en-US" sz="2557" b="1" i="1">
                <a:solidFill>
                  <a:srgbClr val="4E5454"/>
                </a:solidFill>
                <a:latin typeface="Proxima Nova Bold Italics"/>
                <a:ea typeface="Proxima Nova Bold Italics"/>
                <a:cs typeface="Proxima Nova Bold Italics"/>
                <a:sym typeface="Proxima Nova Bold Italics"/>
              </a:rPr>
              <a:t>+</a:t>
            </a:r>
          </a:p>
          <a:p>
            <a:pPr algn="l">
              <a:lnSpc>
                <a:spcPts val="2992"/>
              </a:lnSpc>
            </a:pPr>
            <a:r>
              <a:rPr lang="en-US" sz="2557" b="1" i="1">
                <a:solidFill>
                  <a:srgbClr val="4E5454"/>
                </a:solidFill>
                <a:latin typeface="Proxima Nova Bold Italics"/>
                <a:ea typeface="Proxima Nova Bold Italics"/>
                <a:cs typeface="Proxima Nova Bold Italics"/>
                <a:sym typeface="Proxima Nova Bold Italics"/>
              </a:rPr>
              <a:t>Kiểm soát trách nhiệm</a:t>
            </a:r>
          </a:p>
          <a:p>
            <a:pPr algn="l">
              <a:lnSpc>
                <a:spcPts val="2992"/>
              </a:lnSpc>
            </a:pPr>
            <a:r>
              <a:rPr lang="en-US" sz="2557" b="1" i="1">
                <a:solidFill>
                  <a:srgbClr val="4E5454"/>
                </a:solidFill>
                <a:latin typeface="Proxima Nova Bold Italics"/>
                <a:ea typeface="Proxima Nova Bold Italics"/>
                <a:cs typeface="Proxima Nova Bold Italics"/>
                <a:sym typeface="Proxima Nova Bold Italics"/>
              </a:rPr>
              <a:t>+</a:t>
            </a:r>
          </a:p>
          <a:p>
            <a:pPr algn="l">
              <a:lnSpc>
                <a:spcPts val="2992"/>
              </a:lnSpc>
            </a:pPr>
            <a:r>
              <a:rPr lang="en-US" sz="2557" b="1" i="1">
                <a:solidFill>
                  <a:srgbClr val="4E5454"/>
                </a:solidFill>
                <a:latin typeface="Proxima Nova Bold Italics"/>
                <a:ea typeface="Proxima Nova Bold Italics"/>
                <a:cs typeface="Proxima Nova Bold Italics"/>
                <a:sym typeface="Proxima Nova Bold Italics"/>
              </a:rPr>
              <a:t>Nền tảng mở rộng AI</a:t>
            </a:r>
          </a:p>
        </p:txBody>
      </p:sp>
      <p:grpSp>
        <p:nvGrpSpPr>
          <p:cNvPr id="13" name="Group 13"/>
          <p:cNvGrpSpPr/>
          <p:nvPr/>
        </p:nvGrpSpPr>
        <p:grpSpPr>
          <a:xfrm>
            <a:off x="9982323" y="1791044"/>
            <a:ext cx="6167594" cy="1765092"/>
            <a:chOff x="0" y="0"/>
            <a:chExt cx="8223458" cy="2353456"/>
          </a:xfrm>
        </p:grpSpPr>
        <p:sp>
          <p:nvSpPr>
            <p:cNvPr id="14" name="TextBox 14"/>
            <p:cNvSpPr txBox="1"/>
            <p:nvPr/>
          </p:nvSpPr>
          <p:spPr>
            <a:xfrm>
              <a:off x="0" y="-152400"/>
              <a:ext cx="8223458" cy="2505856"/>
            </a:xfrm>
            <a:prstGeom prst="rect">
              <a:avLst/>
            </a:prstGeom>
          </p:spPr>
          <p:txBody>
            <a:bodyPr lIns="0" tIns="0" rIns="0" bIns="0" rtlCol="0" anchor="t">
              <a:spAutoFit/>
            </a:bodyPr>
            <a:lstStyle/>
            <a:p>
              <a:pPr marL="638529" lvl="1" indent="-319264" algn="l">
                <a:lnSpc>
                  <a:spcPts val="5175"/>
                </a:lnSpc>
                <a:buFont typeface="Arial"/>
                <a:buChar char="•"/>
              </a:pPr>
              <a:r>
                <a:rPr lang="en-US" sz="2957" b="1" i="1">
                  <a:solidFill>
                    <a:srgbClr val="4E5454"/>
                  </a:solidFill>
                  <a:latin typeface="Proxima Nova Bold Italics"/>
                  <a:ea typeface="Proxima Nova Bold Italics"/>
                  <a:cs typeface="Proxima Nova Bold Italics"/>
                  <a:sym typeface="Proxima Nova Bold Italics"/>
                </a:rPr>
                <a:t>Vượt mô hình CRUD cơ bản</a:t>
              </a:r>
            </a:p>
            <a:p>
              <a:pPr marL="638529" lvl="1" indent="-319264" algn="l">
                <a:lnSpc>
                  <a:spcPts val="5175"/>
                </a:lnSpc>
                <a:buFont typeface="Arial"/>
                <a:buChar char="•"/>
              </a:pPr>
              <a:r>
                <a:rPr lang="en-US" sz="2957" b="1" i="1">
                  <a:solidFill>
                    <a:srgbClr val="4E5454"/>
                  </a:solidFill>
                  <a:latin typeface="Proxima Nova Bold Italics"/>
                  <a:ea typeface="Proxima Nova Bold Italics"/>
                  <a:cs typeface="Proxima Nova Bold Italics"/>
                  <a:sym typeface="Proxima Nova Bold Italics"/>
                </a:rPr>
                <a:t>Có nghiệp vụ kiểm soát thực tế</a:t>
              </a:r>
            </a:p>
            <a:p>
              <a:pPr marL="638529" lvl="1" indent="-319264" algn="l">
                <a:lnSpc>
                  <a:spcPts val="5175"/>
                </a:lnSpc>
                <a:buFont typeface="Arial"/>
                <a:buChar char="•"/>
              </a:pPr>
              <a:r>
                <a:rPr lang="en-US" sz="2957" b="1" i="1">
                  <a:solidFill>
                    <a:srgbClr val="4E5454"/>
                  </a:solidFill>
                  <a:latin typeface="Proxima Nova Bold Italics"/>
                  <a:ea typeface="Proxima Nova Bold Italics"/>
                  <a:cs typeface="Proxima Nova Bold Italics"/>
                  <a:sym typeface="Proxima Nova Bold Italics"/>
                </a:rPr>
                <a:t>Có nền tảng để tiếp tục mở rộng</a:t>
              </a:r>
            </a:p>
          </p:txBody>
        </p:sp>
        <p:sp>
          <p:nvSpPr>
            <p:cNvPr id="15" name="Freeform 15"/>
            <p:cNvSpPr/>
            <p:nvPr/>
          </p:nvSpPr>
          <p:spPr>
            <a:xfrm>
              <a:off x="240691" y="80868"/>
              <a:ext cx="452191" cy="441828"/>
            </a:xfrm>
            <a:custGeom>
              <a:avLst/>
              <a:gdLst/>
              <a:ahLst/>
              <a:cxnLst/>
              <a:rect l="l" t="t" r="r" b="b"/>
              <a:pathLst>
                <a:path w="452191" h="441828">
                  <a:moveTo>
                    <a:pt x="0" y="0"/>
                  </a:moveTo>
                  <a:lnTo>
                    <a:pt x="452191" y="0"/>
                  </a:lnTo>
                  <a:lnTo>
                    <a:pt x="452191" y="441828"/>
                  </a:lnTo>
                  <a:lnTo>
                    <a:pt x="0" y="4418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240691" y="955814"/>
              <a:ext cx="452191" cy="441828"/>
            </a:xfrm>
            <a:custGeom>
              <a:avLst/>
              <a:gdLst/>
              <a:ahLst/>
              <a:cxnLst/>
              <a:rect l="l" t="t" r="r" b="b"/>
              <a:pathLst>
                <a:path w="452191" h="441828">
                  <a:moveTo>
                    <a:pt x="0" y="0"/>
                  </a:moveTo>
                  <a:lnTo>
                    <a:pt x="452191" y="0"/>
                  </a:lnTo>
                  <a:lnTo>
                    <a:pt x="452191" y="441828"/>
                  </a:lnTo>
                  <a:lnTo>
                    <a:pt x="0" y="4418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240691" y="1842142"/>
              <a:ext cx="452191" cy="441828"/>
            </a:xfrm>
            <a:custGeom>
              <a:avLst/>
              <a:gdLst/>
              <a:ahLst/>
              <a:cxnLst/>
              <a:rect l="l" t="t" r="r" b="b"/>
              <a:pathLst>
                <a:path w="452191" h="441828">
                  <a:moveTo>
                    <a:pt x="0" y="0"/>
                  </a:moveTo>
                  <a:lnTo>
                    <a:pt x="452191" y="0"/>
                  </a:lnTo>
                  <a:lnTo>
                    <a:pt x="452191" y="441829"/>
                  </a:lnTo>
                  <a:lnTo>
                    <a:pt x="0" y="4418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8" name="Freeform 18"/>
          <p:cNvSpPr/>
          <p:nvPr/>
        </p:nvSpPr>
        <p:spPr>
          <a:xfrm>
            <a:off x="15999949" y="295685"/>
            <a:ext cx="1781735" cy="605790"/>
          </a:xfrm>
          <a:custGeom>
            <a:avLst/>
            <a:gdLst/>
            <a:ahLst/>
            <a:cxnLst/>
            <a:rect l="l" t="t" r="r" b="b"/>
            <a:pathLst>
              <a:path w="1781735" h="605790">
                <a:moveTo>
                  <a:pt x="0" y="0"/>
                </a:moveTo>
                <a:lnTo>
                  <a:pt x="1781735" y="0"/>
                </a:lnTo>
                <a:lnTo>
                  <a:pt x="1781735" y="605790"/>
                </a:lnTo>
                <a:lnTo>
                  <a:pt x="0" y="605790"/>
                </a:lnTo>
                <a:lnTo>
                  <a:pt x="0" y="0"/>
                </a:lnTo>
                <a:close/>
              </a:path>
            </a:pathLst>
          </a:custGeom>
          <a:blipFill>
            <a:blip r:embed="rId6"/>
            <a:stretch>
              <a:fillRect/>
            </a:stretch>
          </a:blipFill>
        </p:spPr>
      </p:sp>
      <p:grpSp>
        <p:nvGrpSpPr>
          <p:cNvPr id="19" name="Group 19"/>
          <p:cNvGrpSpPr/>
          <p:nvPr/>
        </p:nvGrpSpPr>
        <p:grpSpPr>
          <a:xfrm>
            <a:off x="16403200" y="10121921"/>
            <a:ext cx="11899502" cy="11899502"/>
            <a:chOff x="0" y="0"/>
            <a:chExt cx="15866002" cy="15866002"/>
          </a:xfrm>
        </p:grpSpPr>
        <p:sp>
          <p:nvSpPr>
            <p:cNvPr id="20" name="Freeform 20"/>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7">
                <a:alphaModFix amt="18620"/>
              </a:blip>
              <a:stretch>
                <a:fillRect/>
              </a:stretch>
            </a:blipFill>
          </p:spPr>
        </p:sp>
        <p:sp>
          <p:nvSpPr>
            <p:cNvPr id="21" name="Freeform 21"/>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7">
                <a:alphaModFix amt="26980"/>
              </a:blip>
              <a:stretch>
                <a:fillRect/>
              </a:stretch>
            </a:blipFill>
          </p:spPr>
        </p:sp>
        <p:sp>
          <p:nvSpPr>
            <p:cNvPr id="22" name="Freeform 22"/>
            <p:cNvSpPr/>
            <p:nvPr/>
          </p:nvSpPr>
          <p:spPr>
            <a:xfrm>
              <a:off x="3210178" y="3210178"/>
              <a:ext cx="9445647" cy="9445647"/>
            </a:xfrm>
            <a:custGeom>
              <a:avLst/>
              <a:gdLst/>
              <a:ahLst/>
              <a:cxnLst/>
              <a:rect l="l" t="t" r="r" b="b"/>
              <a:pathLst>
                <a:path w="9445647" h="9445647">
                  <a:moveTo>
                    <a:pt x="0" y="0"/>
                  </a:moveTo>
                  <a:lnTo>
                    <a:pt x="9445647" y="0"/>
                  </a:lnTo>
                  <a:lnTo>
                    <a:pt x="9445647" y="9445647"/>
                  </a:lnTo>
                  <a:lnTo>
                    <a:pt x="0" y="9445647"/>
                  </a:lnTo>
                  <a:lnTo>
                    <a:pt x="0" y="0"/>
                  </a:lnTo>
                  <a:close/>
                </a:path>
              </a:pathLst>
            </a:custGeom>
            <a:blipFill>
              <a:blip r:embed="rId7">
                <a:alphaModFix amt="38000"/>
              </a:blip>
              <a:stretch>
                <a:fillRect/>
              </a:stretch>
            </a:blipFill>
          </p:spPr>
        </p:sp>
      </p:grpSp>
      <p:sp>
        <p:nvSpPr>
          <p:cNvPr id="23" name="Freeform 23"/>
          <p:cNvSpPr/>
          <p:nvPr/>
        </p:nvSpPr>
        <p:spPr>
          <a:xfrm flipH="1">
            <a:off x="18114076" y="8928009"/>
            <a:ext cx="10407998" cy="10660877"/>
          </a:xfrm>
          <a:custGeom>
            <a:avLst/>
            <a:gdLst/>
            <a:ahLst/>
            <a:cxnLst/>
            <a:rect l="l" t="t" r="r" b="b"/>
            <a:pathLst>
              <a:path w="10407998" h="10660877">
                <a:moveTo>
                  <a:pt x="10407998" y="0"/>
                </a:moveTo>
                <a:lnTo>
                  <a:pt x="0" y="0"/>
                </a:lnTo>
                <a:lnTo>
                  <a:pt x="0" y="10660877"/>
                </a:lnTo>
                <a:lnTo>
                  <a:pt x="10407998" y="10660877"/>
                </a:lnTo>
                <a:lnTo>
                  <a:pt x="10407998" y="0"/>
                </a:lnTo>
                <a:close/>
              </a:path>
            </a:pathLst>
          </a:custGeom>
          <a:blipFill>
            <a:blip r:embed="rId8"/>
            <a:stretch>
              <a:fillRect/>
            </a:stretch>
          </a:blipFill>
        </p:spPr>
      </p:sp>
      <p:sp>
        <p:nvSpPr>
          <p:cNvPr id="24" name="TextBox 24"/>
          <p:cNvSpPr txBox="1"/>
          <p:nvPr/>
        </p:nvSpPr>
        <p:spPr>
          <a:xfrm>
            <a:off x="-9966474" y="3594237"/>
            <a:ext cx="10137924" cy="3591969"/>
          </a:xfrm>
          <a:prstGeom prst="rect">
            <a:avLst/>
          </a:prstGeom>
        </p:spPr>
        <p:txBody>
          <a:bodyPr lIns="0" tIns="0" rIns="0" bIns="0" rtlCol="0" anchor="t">
            <a:spAutoFit/>
          </a:bodyPr>
          <a:lstStyle/>
          <a:p>
            <a:pPr algn="l">
              <a:lnSpc>
                <a:spcPts val="14136"/>
              </a:lnSpc>
            </a:pPr>
            <a:r>
              <a:rPr lang="en-US" sz="12082"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TRÂN TRỌNG</a:t>
            </a:r>
          </a:p>
          <a:p>
            <a:pPr algn="l">
              <a:lnSpc>
                <a:spcPts val="14136"/>
              </a:lnSpc>
            </a:pPr>
            <a:r>
              <a:rPr lang="en-US" sz="12082"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CẢM ƠN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F3FAFF">
                <a:alpha val="100000"/>
              </a:srgbClr>
            </a:gs>
            <a:gs pos="100000">
              <a:srgbClr val="EAF5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7122490" y="1028700"/>
            <a:ext cx="11899502" cy="11899502"/>
            <a:chOff x="0" y="0"/>
            <a:chExt cx="15866002" cy="15866002"/>
          </a:xfrm>
        </p:grpSpPr>
        <p:sp>
          <p:nvSpPr>
            <p:cNvPr id="3" name="Freeform 3"/>
            <p:cNvSpPr/>
            <p:nvPr/>
          </p:nvSpPr>
          <p:spPr>
            <a:xfrm>
              <a:off x="0" y="0"/>
              <a:ext cx="15866002" cy="15866002"/>
            </a:xfrm>
            <a:custGeom>
              <a:avLst/>
              <a:gdLst/>
              <a:ahLst/>
              <a:cxnLst/>
              <a:rect l="l" t="t" r="r" b="b"/>
              <a:pathLst>
                <a:path w="15866002" h="15866002">
                  <a:moveTo>
                    <a:pt x="0" y="0"/>
                  </a:moveTo>
                  <a:lnTo>
                    <a:pt x="15866002" y="0"/>
                  </a:lnTo>
                  <a:lnTo>
                    <a:pt x="15866002" y="15866002"/>
                  </a:lnTo>
                  <a:lnTo>
                    <a:pt x="0" y="15866002"/>
                  </a:lnTo>
                  <a:lnTo>
                    <a:pt x="0" y="0"/>
                  </a:lnTo>
                  <a:close/>
                </a:path>
              </a:pathLst>
            </a:custGeom>
            <a:blipFill>
              <a:blip r:embed="rId2">
                <a:alphaModFix amt="18620"/>
              </a:blip>
              <a:stretch>
                <a:fillRect/>
              </a:stretch>
            </a:blipFill>
          </p:spPr>
        </p:sp>
        <p:sp>
          <p:nvSpPr>
            <p:cNvPr id="4" name="Freeform 4"/>
            <p:cNvSpPr/>
            <p:nvPr/>
          </p:nvSpPr>
          <p:spPr>
            <a:xfrm>
              <a:off x="1826316" y="1826316"/>
              <a:ext cx="12213371" cy="12213371"/>
            </a:xfrm>
            <a:custGeom>
              <a:avLst/>
              <a:gdLst/>
              <a:ahLst/>
              <a:cxnLst/>
              <a:rect l="l" t="t" r="r" b="b"/>
              <a:pathLst>
                <a:path w="12213371" h="12213371">
                  <a:moveTo>
                    <a:pt x="0" y="0"/>
                  </a:moveTo>
                  <a:lnTo>
                    <a:pt x="12213371" y="0"/>
                  </a:lnTo>
                  <a:lnTo>
                    <a:pt x="12213371" y="12213371"/>
                  </a:lnTo>
                  <a:lnTo>
                    <a:pt x="0" y="12213371"/>
                  </a:lnTo>
                  <a:lnTo>
                    <a:pt x="0" y="0"/>
                  </a:lnTo>
                  <a:close/>
                </a:path>
              </a:pathLst>
            </a:custGeom>
            <a:blipFill>
              <a:blip r:embed="rId2">
                <a:alphaModFix amt="26980"/>
              </a:blip>
              <a:stretch>
                <a:fillRect/>
              </a:stretch>
            </a:blipFill>
          </p:spPr>
        </p:sp>
        <p:sp>
          <p:nvSpPr>
            <p:cNvPr id="5" name="Freeform 5"/>
            <p:cNvSpPr/>
            <p:nvPr/>
          </p:nvSpPr>
          <p:spPr>
            <a:xfrm>
              <a:off x="3210178" y="3210178"/>
              <a:ext cx="9445647" cy="9445647"/>
            </a:xfrm>
            <a:custGeom>
              <a:avLst/>
              <a:gdLst/>
              <a:ahLst/>
              <a:cxnLst/>
              <a:rect l="l" t="t" r="r" b="b"/>
              <a:pathLst>
                <a:path w="9445647" h="9445647">
                  <a:moveTo>
                    <a:pt x="0" y="0"/>
                  </a:moveTo>
                  <a:lnTo>
                    <a:pt x="9445647" y="0"/>
                  </a:lnTo>
                  <a:lnTo>
                    <a:pt x="9445647" y="9445647"/>
                  </a:lnTo>
                  <a:lnTo>
                    <a:pt x="0" y="9445647"/>
                  </a:lnTo>
                  <a:lnTo>
                    <a:pt x="0" y="0"/>
                  </a:lnTo>
                  <a:close/>
                </a:path>
              </a:pathLst>
            </a:custGeom>
            <a:blipFill>
              <a:blip r:embed="rId2">
                <a:alphaModFix amt="38000"/>
              </a:blip>
              <a:stretch>
                <a:fillRect/>
              </a:stretch>
            </a:blipFill>
          </p:spPr>
        </p:sp>
      </p:grpSp>
      <p:grpSp>
        <p:nvGrpSpPr>
          <p:cNvPr id="6" name="Group 6"/>
          <p:cNvGrpSpPr/>
          <p:nvPr/>
        </p:nvGrpSpPr>
        <p:grpSpPr>
          <a:xfrm>
            <a:off x="-255765" y="9020416"/>
            <a:ext cx="9089132" cy="1475249"/>
            <a:chOff x="0" y="0"/>
            <a:chExt cx="2393845" cy="388543"/>
          </a:xfrm>
        </p:grpSpPr>
        <p:sp>
          <p:nvSpPr>
            <p:cNvPr id="7" name="Freeform 7"/>
            <p:cNvSpPr/>
            <p:nvPr/>
          </p:nvSpPr>
          <p:spPr>
            <a:xfrm>
              <a:off x="0" y="0"/>
              <a:ext cx="2393846" cy="388543"/>
            </a:xfrm>
            <a:custGeom>
              <a:avLst/>
              <a:gdLst/>
              <a:ahLst/>
              <a:cxnLst/>
              <a:rect l="l" t="t" r="r" b="b"/>
              <a:pathLst>
                <a:path w="2393846" h="388543">
                  <a:moveTo>
                    <a:pt x="0" y="0"/>
                  </a:moveTo>
                  <a:lnTo>
                    <a:pt x="2393846" y="0"/>
                  </a:lnTo>
                  <a:lnTo>
                    <a:pt x="2393846" y="388543"/>
                  </a:lnTo>
                  <a:lnTo>
                    <a:pt x="0" y="388543"/>
                  </a:lnTo>
                  <a:close/>
                </a:path>
              </a:pathLst>
            </a:custGeom>
            <a:gradFill rotWithShape="1">
              <a:gsLst>
                <a:gs pos="0">
                  <a:srgbClr val="0565EF">
                    <a:alpha val="100000"/>
                  </a:srgbClr>
                </a:gs>
                <a:gs pos="100000">
                  <a:srgbClr val="50B2FF">
                    <a:alpha val="100000"/>
                  </a:srgbClr>
                </a:gs>
              </a:gsLst>
              <a:lin ang="0"/>
            </a:gradFill>
          </p:spPr>
        </p:sp>
        <p:sp>
          <p:nvSpPr>
            <p:cNvPr id="8" name="TextBox 8"/>
            <p:cNvSpPr txBox="1"/>
            <p:nvPr/>
          </p:nvSpPr>
          <p:spPr>
            <a:xfrm>
              <a:off x="0" y="-38100"/>
              <a:ext cx="2393845" cy="42664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2381415">
            <a:off x="5521578" y="3974734"/>
            <a:ext cx="19880583" cy="8578442"/>
            <a:chOff x="0" y="0"/>
            <a:chExt cx="5236038" cy="2259343"/>
          </a:xfrm>
        </p:grpSpPr>
        <p:sp>
          <p:nvSpPr>
            <p:cNvPr id="10" name="Freeform 10"/>
            <p:cNvSpPr/>
            <p:nvPr/>
          </p:nvSpPr>
          <p:spPr>
            <a:xfrm>
              <a:off x="0" y="0"/>
              <a:ext cx="5236039" cy="2259343"/>
            </a:xfrm>
            <a:custGeom>
              <a:avLst/>
              <a:gdLst/>
              <a:ahLst/>
              <a:cxnLst/>
              <a:rect l="l" t="t" r="r" b="b"/>
              <a:pathLst>
                <a:path w="5236039" h="2259343">
                  <a:moveTo>
                    <a:pt x="0" y="0"/>
                  </a:moveTo>
                  <a:lnTo>
                    <a:pt x="5236039" y="0"/>
                  </a:lnTo>
                  <a:lnTo>
                    <a:pt x="5236039" y="2259343"/>
                  </a:lnTo>
                  <a:lnTo>
                    <a:pt x="0" y="2259343"/>
                  </a:lnTo>
                  <a:close/>
                </a:path>
              </a:pathLst>
            </a:custGeom>
            <a:gradFill rotWithShape="1">
              <a:gsLst>
                <a:gs pos="0">
                  <a:srgbClr val="F5FBFC">
                    <a:alpha val="100000"/>
                  </a:srgbClr>
                </a:gs>
                <a:gs pos="100000">
                  <a:srgbClr val="E6F4FF">
                    <a:alpha val="100000"/>
                  </a:srgbClr>
                </a:gs>
              </a:gsLst>
              <a:lin ang="0"/>
            </a:gradFill>
          </p:spPr>
        </p:sp>
        <p:sp>
          <p:nvSpPr>
            <p:cNvPr id="11" name="TextBox 11"/>
            <p:cNvSpPr txBox="1"/>
            <p:nvPr/>
          </p:nvSpPr>
          <p:spPr>
            <a:xfrm>
              <a:off x="0" y="0"/>
              <a:ext cx="5236038" cy="2259343"/>
            </a:xfrm>
            <a:prstGeom prst="rect">
              <a:avLst/>
            </a:prstGeom>
          </p:spPr>
          <p:txBody>
            <a:bodyPr lIns="50800" tIns="50800" rIns="50800" bIns="50800" rtlCol="0" anchor="ctr"/>
            <a:lstStyle/>
            <a:p>
              <a:pPr algn="ctr">
                <a:lnSpc>
                  <a:spcPts val="2340"/>
                </a:lnSpc>
              </a:pPr>
              <a:endParaRPr/>
            </a:p>
          </p:txBody>
        </p:sp>
      </p:grpSp>
      <p:sp>
        <p:nvSpPr>
          <p:cNvPr id="12" name="Freeform 12"/>
          <p:cNvSpPr/>
          <p:nvPr/>
        </p:nvSpPr>
        <p:spPr>
          <a:xfrm flipH="1">
            <a:off x="8833367" y="-165212"/>
            <a:ext cx="10407998" cy="10660877"/>
          </a:xfrm>
          <a:custGeom>
            <a:avLst/>
            <a:gdLst/>
            <a:ahLst/>
            <a:cxnLst/>
            <a:rect l="l" t="t" r="r" b="b"/>
            <a:pathLst>
              <a:path w="10407998" h="10660877">
                <a:moveTo>
                  <a:pt x="10407997" y="0"/>
                </a:moveTo>
                <a:lnTo>
                  <a:pt x="0" y="0"/>
                </a:lnTo>
                <a:lnTo>
                  <a:pt x="0" y="10660877"/>
                </a:lnTo>
                <a:lnTo>
                  <a:pt x="10407997" y="10660877"/>
                </a:lnTo>
                <a:lnTo>
                  <a:pt x="10407997" y="0"/>
                </a:lnTo>
                <a:close/>
              </a:path>
            </a:pathLst>
          </a:custGeom>
          <a:blipFill>
            <a:blip r:embed="rId3"/>
            <a:stretch>
              <a:fillRect/>
            </a:stretch>
          </a:blipFill>
        </p:spPr>
      </p:sp>
      <p:sp>
        <p:nvSpPr>
          <p:cNvPr id="13" name="TextBox 13"/>
          <p:cNvSpPr txBox="1"/>
          <p:nvPr/>
        </p:nvSpPr>
        <p:spPr>
          <a:xfrm>
            <a:off x="1010828" y="3366566"/>
            <a:ext cx="10137924" cy="3591969"/>
          </a:xfrm>
          <a:prstGeom prst="rect">
            <a:avLst/>
          </a:prstGeom>
        </p:spPr>
        <p:txBody>
          <a:bodyPr lIns="0" tIns="0" rIns="0" bIns="0" rtlCol="0" anchor="t">
            <a:spAutoFit/>
          </a:bodyPr>
          <a:lstStyle/>
          <a:p>
            <a:pPr algn="l">
              <a:lnSpc>
                <a:spcPts val="14136"/>
              </a:lnSpc>
            </a:pPr>
            <a:r>
              <a:rPr lang="en-US" sz="12082"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TRÂN TRỌNG</a:t>
            </a:r>
          </a:p>
          <a:p>
            <a:pPr algn="l">
              <a:lnSpc>
                <a:spcPts val="14136"/>
              </a:lnSpc>
            </a:pPr>
            <a:r>
              <a:rPr lang="en-US" sz="12082" b="1">
                <a:gradFill>
                  <a:gsLst>
                    <a:gs pos="0">
                      <a:srgbClr val="0565EF">
                        <a:alpha val="100000"/>
                      </a:srgbClr>
                    </a:gs>
                    <a:gs pos="100000">
                      <a:srgbClr val="50B2FF">
                        <a:alpha val="100000"/>
                      </a:srgbClr>
                    </a:gs>
                  </a:gsLst>
                  <a:lin ang="5400000"/>
                </a:gradFill>
                <a:latin typeface="Proxima Nova Heavy"/>
                <a:ea typeface="Proxima Nova Heavy"/>
                <a:cs typeface="Proxima Nova Heavy"/>
                <a:sym typeface="Proxima Nova Heavy"/>
              </a:rPr>
              <a:t>CẢM ƠN</a:t>
            </a:r>
          </a:p>
        </p:txBody>
      </p:sp>
      <p:sp>
        <p:nvSpPr>
          <p:cNvPr id="14" name="TextBox 14"/>
          <p:cNvSpPr txBox="1"/>
          <p:nvPr/>
        </p:nvSpPr>
        <p:spPr>
          <a:xfrm>
            <a:off x="906403" y="9315450"/>
            <a:ext cx="3506620" cy="742950"/>
          </a:xfrm>
          <a:prstGeom prst="rect">
            <a:avLst/>
          </a:prstGeom>
        </p:spPr>
        <p:txBody>
          <a:bodyPr lIns="0" tIns="0" rIns="0" bIns="0" rtlCol="0" anchor="t">
            <a:spAutoFit/>
          </a:bodyPr>
          <a:lstStyle/>
          <a:p>
            <a:pPr algn="ctr">
              <a:lnSpc>
                <a:spcPts val="5849"/>
              </a:lnSpc>
            </a:pPr>
            <a:r>
              <a:rPr lang="en-US" sz="4999" b="1">
                <a:solidFill>
                  <a:srgbClr val="FFFFFF"/>
                </a:solidFill>
                <a:latin typeface="Proxima Nova Heavy"/>
                <a:ea typeface="Proxima Nova Heavy"/>
                <a:cs typeface="Proxima Nova Heavy"/>
                <a:sym typeface="Proxima Nova Heavy"/>
              </a:rPr>
              <a:t>JETSITE</a:t>
            </a:r>
          </a:p>
        </p:txBody>
      </p:sp>
      <p:grpSp>
        <p:nvGrpSpPr>
          <p:cNvPr id="15" name="Group 15"/>
          <p:cNvGrpSpPr/>
          <p:nvPr/>
        </p:nvGrpSpPr>
        <p:grpSpPr>
          <a:xfrm>
            <a:off x="1010828" y="8292530"/>
            <a:ext cx="5163241" cy="490713"/>
            <a:chOff x="0" y="0"/>
            <a:chExt cx="6884322" cy="654284"/>
          </a:xfrm>
        </p:grpSpPr>
        <p:sp>
          <p:nvSpPr>
            <p:cNvPr id="16" name="TextBox 16"/>
            <p:cNvSpPr txBox="1"/>
            <p:nvPr/>
          </p:nvSpPr>
          <p:spPr>
            <a:xfrm>
              <a:off x="0" y="174282"/>
              <a:ext cx="6884322" cy="403860"/>
            </a:xfrm>
            <a:prstGeom prst="rect">
              <a:avLst/>
            </a:prstGeom>
          </p:spPr>
          <p:txBody>
            <a:bodyPr lIns="0" tIns="0" rIns="0" bIns="0" rtlCol="0" anchor="t">
              <a:spAutoFit/>
            </a:bodyPr>
            <a:lstStyle/>
            <a:p>
              <a:pPr algn="l">
                <a:lnSpc>
                  <a:spcPts val="2340"/>
                </a:lnSpc>
              </a:pPr>
              <a:r>
                <a:rPr lang="en-US" sz="2000" b="1">
                  <a:solidFill>
                    <a:srgbClr val="4E5454"/>
                  </a:solidFill>
                  <a:latin typeface="Proxima Nova Bold"/>
                  <a:ea typeface="Proxima Nova Bold"/>
                  <a:cs typeface="Proxima Nova Bold"/>
                  <a:sym typeface="Proxima Nova Bold"/>
                </a:rPr>
                <a:t>GVHD:</a:t>
              </a:r>
            </a:p>
          </p:txBody>
        </p:sp>
        <p:sp>
          <p:nvSpPr>
            <p:cNvPr id="17" name="TextBox 17"/>
            <p:cNvSpPr txBox="1"/>
            <p:nvPr/>
          </p:nvSpPr>
          <p:spPr>
            <a:xfrm>
              <a:off x="1130344" y="9525"/>
              <a:ext cx="5262313" cy="644759"/>
            </a:xfrm>
            <a:prstGeom prst="rect">
              <a:avLst/>
            </a:prstGeom>
          </p:spPr>
          <p:txBody>
            <a:bodyPr lIns="0" tIns="0" rIns="0" bIns="0" rtlCol="0" anchor="t">
              <a:spAutoFit/>
            </a:bodyPr>
            <a:lstStyle/>
            <a:p>
              <a:pPr algn="l">
                <a:lnSpc>
                  <a:spcPts val="3790"/>
                </a:lnSpc>
              </a:pPr>
              <a:r>
                <a:rPr lang="en-US" sz="3240" b="1">
                  <a:solidFill>
                    <a:srgbClr val="4E5454"/>
                  </a:solidFill>
                  <a:latin typeface="Proxima Nova Bold"/>
                  <a:ea typeface="Proxima Nova Bold"/>
                  <a:cs typeface="Proxima Nova Bold"/>
                  <a:sym typeface="Proxima Nova Bold"/>
                </a:rPr>
                <a:t> Phan Hoàng Khải</a:t>
              </a:r>
            </a:p>
          </p:txBody>
        </p:sp>
      </p:grpSp>
      <p:sp>
        <p:nvSpPr>
          <p:cNvPr id="18" name="Freeform 18"/>
          <p:cNvSpPr/>
          <p:nvPr/>
        </p:nvSpPr>
        <p:spPr>
          <a:xfrm>
            <a:off x="1028700" y="1028700"/>
            <a:ext cx="2563748" cy="871674"/>
          </a:xfrm>
          <a:custGeom>
            <a:avLst/>
            <a:gdLst/>
            <a:ahLst/>
            <a:cxnLst/>
            <a:rect l="l" t="t" r="r" b="b"/>
            <a:pathLst>
              <a:path w="2563748" h="871674">
                <a:moveTo>
                  <a:pt x="0" y="0"/>
                </a:moveTo>
                <a:lnTo>
                  <a:pt x="2563748" y="0"/>
                </a:lnTo>
                <a:lnTo>
                  <a:pt x="2563748" y="871674"/>
                </a:lnTo>
                <a:lnTo>
                  <a:pt x="0" y="871674"/>
                </a:lnTo>
                <a:lnTo>
                  <a:pt x="0" y="0"/>
                </a:lnTo>
                <a:close/>
              </a:path>
            </a:pathLst>
          </a:custGeom>
          <a:blipFill>
            <a:blip r:embed="rId4"/>
            <a:stretch>
              <a:fillRect/>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1906</Words>
  <Application>Microsoft Office PowerPoint</Application>
  <PresentationFormat>Custom</PresentationFormat>
  <Paragraphs>281</Paragraphs>
  <Slides>20</Slides>
  <Notes>10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20</vt:i4>
      </vt:variant>
    </vt:vector>
  </HeadingPairs>
  <TitlesOfParts>
    <vt:vector size="33" baseType="lpstr">
      <vt:lpstr>Proxima Nova Bold Italics</vt:lpstr>
      <vt:lpstr>Proxima Nova Heavy Italics</vt:lpstr>
      <vt:lpstr>Proxima Nova Bold</vt:lpstr>
      <vt:lpstr>Heading Now 31-38 Bold Italics</vt:lpstr>
      <vt:lpstr>Arial</vt:lpstr>
      <vt:lpstr>Proxima Nova Heavy</vt:lpstr>
      <vt:lpstr>Bryndan Write</vt:lpstr>
      <vt:lpstr>Montserrat Bold</vt:lpstr>
      <vt:lpstr>Montserrat</vt:lpstr>
      <vt:lpstr>Barlow Bold</vt:lpstr>
      <vt:lpstr>Calibri</vt:lpstr>
      <vt:lpstr>Sriracha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Qaly</dc:title>
  <cp:lastModifiedBy>Trần Quang Tuấn</cp:lastModifiedBy>
  <cp:revision>2</cp:revision>
  <dcterms:created xsi:type="dcterms:W3CDTF">2006-08-16T00:00:00Z</dcterms:created>
  <dcterms:modified xsi:type="dcterms:W3CDTF">2026-08-17T16:43:52Z</dcterms:modified>
  <dc:identifier>DAHRtHFrR_g</dc:identifier>
</cp:coreProperties>
</file>